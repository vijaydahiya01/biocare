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BIOCORE  |  IDENTITY FOR ESPORTS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Esports &amp; gaming 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104241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5400" b="0">
                <a:solidFill>
                  <a:srgbClr val="221C36"/>
                </a:solidFill>
                <a:latin typeface="Segoe UI Light"/>
              </a:rPr>
              <a:t>A pass proves a purchase.</a:t>
            </a:r>
          </a:p>
          <a:p>
            <a:pPr algn="l">
              <a:lnSpc>
                <a:spcPct val="106000"/>
              </a:lnSpc>
            </a:pPr>
            <a:r>
              <a:rPr sz="5400" b="0">
                <a:solidFill>
                  <a:srgbClr val="221C36"/>
                </a:solidFill>
                <a:latin typeface="Segoe UI Light"/>
              </a:rPr>
              <a:t>It does not prove</a:t>
            </a:r>
          </a:p>
          <a:p>
            <a:pPr algn="l">
              <a:lnSpc>
                <a:spcPct val="106000"/>
              </a:lnSpc>
            </a:pPr>
            <a:r>
              <a:rPr sz="5400" b="0">
                <a:solidFill>
                  <a:srgbClr val="221C36"/>
                </a:solidFill>
                <a:latin typeface="Segoe UI Light"/>
              </a:rPr>
              <a:t>a person.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92240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94944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800" b="0">
                <a:solidFill>
                  <a:srgbClr val="4A4265"/>
                </a:solidFill>
                <a:latin typeface="Segoe UI"/>
              </a:rPr>
              <a:t>Face-based entry for tournaments, arenas and bootcamps.</a:t>
            </a:r>
          </a:p>
          <a:p>
            <a:pPr algn="l">
              <a:lnSpc>
                <a:spcPct val="136000"/>
              </a:lnSpc>
            </a:pPr>
            <a:r>
              <a:rPr sz="1800" b="0">
                <a:solidFill>
                  <a:srgbClr val="4A4265"/>
                </a:solidFill>
                <a:latin typeface="Segoe UI"/>
              </a:rPr>
              <a:t>Nothing on a lanyard. No photograph kept afterwards.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0" y="2377440"/>
            <a:ext cx="5852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6148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0">
                <a:solidFill>
                  <a:srgbClr val="6D28D9"/>
                </a:solidFill>
                <a:latin typeface="Segoe UI Light"/>
              </a:rPr>
              <a:t>~0.35 sec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0" y="35661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Per person at the gate, on a tablet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0" y="4572000"/>
            <a:ext cx="5852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0" y="495604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0">
                <a:solidFill>
                  <a:srgbClr val="6D28D9"/>
                </a:solidFill>
                <a:latin typeface="Segoe UI Light"/>
              </a:rPr>
              <a:t>0 photos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0" y="57607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Kept. On the device, or anywhere else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0" y="6766560"/>
            <a:ext cx="5852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0" y="715060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0">
                <a:solidFill>
                  <a:srgbClr val="6D28D9"/>
                </a:solidFill>
                <a:latin typeface="Segoe UI Light"/>
              </a:rPr>
              <a:t>1 hour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0" y="79552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To stand up on site. No rack, no cabling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WHAT THIS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Esports &amp; gaming 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A person walks in. The gate knows who arrived.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1481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>
                <a:solidFill>
                  <a:srgbClr val="4A4265"/>
                </a:solidFill>
                <a:latin typeface="Segoe UI"/>
              </a:rPr>
              <a:t>BioCore is an identity layer for physical entry. It recognises a face at a door and produces a verified entry event — for a ticket holder, a competing player, a member of crew or a journalist.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120640"/>
            <a:ext cx="17190720" cy="1783080"/>
          </a:xfrm>
          <a:prstGeom prst="roundRect">
            <a:avLst>
              <a:gd name="adj" fmla="val 4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41324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4C1D95"/>
                </a:solidFill>
                <a:latin typeface="Segoe UI Light"/>
              </a:rPr>
              <a:t>Nobody stops, and nobody hands anything over.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630936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6236208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C1D95"/>
                </a:solidFill>
                <a:latin typeface="Segoe UI"/>
              </a:rPr>
              <a:t>No card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630936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6236208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C1D95"/>
                </a:solidFill>
                <a:latin typeface="Segoe UI"/>
              </a:rPr>
              <a:t>No wristband to lose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630936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6236208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C1D95"/>
                </a:solidFill>
                <a:latin typeface="Segoe UI"/>
              </a:rPr>
              <a:t>No QR to screenshot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624560" y="630936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898880" y="6236208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C1D95"/>
                </a:solidFill>
                <a:latin typeface="Segoe UI"/>
              </a:rPr>
              <a:t>No queue to stand 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7406640"/>
            <a:ext cx="1481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4A4265"/>
                </a:solidFill>
                <a:latin typeface="Segoe UI"/>
              </a:rPr>
              <a:t>The entry event carries who, which gate, what time, and allowed or denied — with the reason attached.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7955279"/>
            <a:ext cx="1280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221C36"/>
                </a:solidFill>
                <a:latin typeface="Segoe UI Light"/>
              </a:rPr>
              <a:t>The gate is only the first door.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8961120"/>
            <a:ext cx="1719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D28D9"/>
                </a:solidFill>
                <a:latin typeface="Segoe UI"/>
              </a:rPr>
              <a:t>One layer for the main gate, the player area, the bootcamp and back-of-house.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Esports &amp; gaming 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Five steps, and four of them happen only once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1481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>
                <a:solidFill>
                  <a:srgbClr val="4A4265"/>
                </a:solidFill>
                <a:latin typeface="Segoe UI"/>
              </a:rPr>
              <a:t>Enrolment is a single opt-in step, taken at booking or at the door. Everything after it happens while the person keeps walking.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937760"/>
            <a:ext cx="31089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5303520"/>
            <a:ext cx="2523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B6480"/>
                </a:solidFill>
                <a:latin typeface="Consolas"/>
              </a:rPr>
              <a:t>AT BOOKING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5760720"/>
            <a:ext cx="25237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The person opts 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6492240"/>
            <a:ext cx="252374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They agree once, and are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told what it is used for,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and for how long.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3753611" y="6473952"/>
            <a:ext cx="219456" cy="219456"/>
          </a:xfrm>
          <a:prstGeom prst="triangl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069080" y="4937760"/>
            <a:ext cx="3108960" cy="3291840"/>
          </a:xfrm>
          <a:prstGeom prst="roundRect">
            <a:avLst>
              <a:gd name="adj" fmla="val 5000"/>
            </a:avLst>
          </a:prstGeom>
          <a:solidFill>
            <a:srgbClr val="EDE7FB"/>
          </a:solidFill>
          <a:ln w="1778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1688" y="5303520"/>
            <a:ext cx="2523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ONCE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5760720"/>
            <a:ext cx="25237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A key is made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6492240"/>
            <a:ext cx="252374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The face becomes an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encrypted key. The image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is destroyed at once.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7274051" y="6473952"/>
            <a:ext cx="219456" cy="219456"/>
          </a:xfrm>
          <a:prstGeom prst="triangl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89520" y="4937760"/>
            <a:ext cx="31089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82128" y="5303520"/>
            <a:ext cx="2523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B6480"/>
                </a:solidFill>
                <a:latin typeface="Consolas"/>
              </a:rPr>
              <a:t>AT THE 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2128" y="5760720"/>
            <a:ext cx="25237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They walk 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2128" y="6492240"/>
            <a:ext cx="252374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The tablet sees a face and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matches it on the device.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Nothing is uploaded.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10794492" y="6473952"/>
            <a:ext cx="219456" cy="219456"/>
          </a:xfrm>
          <a:prstGeom prst="triangl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1109960" y="4937760"/>
            <a:ext cx="31089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02568" y="5303520"/>
            <a:ext cx="2523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B6480"/>
                </a:solidFill>
                <a:latin typeface="Consolas"/>
              </a:rPr>
              <a:t>~0.35 SEC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02568" y="5760720"/>
            <a:ext cx="25237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The door decides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02568" y="6492240"/>
            <a:ext cx="252374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Allow or deny, with the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reason recorded either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way, against a person.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14314932" y="6473952"/>
            <a:ext cx="219456" cy="219456"/>
          </a:xfrm>
          <a:prstGeom prst="triangl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4630400" y="4937760"/>
            <a:ext cx="31089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923008" y="5303520"/>
            <a:ext cx="2523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B6480"/>
                </a:solidFill>
                <a:latin typeface="Consolas"/>
              </a:rPr>
              <a:t>AFTER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923008" y="5760720"/>
            <a:ext cx="25237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The key expires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923008" y="6492240"/>
            <a:ext cx="252374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Erased when the event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ends, with a certificate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that says it was.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8961120"/>
            <a:ext cx="1719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D28D9"/>
                </a:solidFill>
                <a:latin typeface="Segoe UI"/>
              </a:rPr>
              <a:t>Steps two to four are the only ones that touch a face, and none of them keeps 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WHERE A PROCEDURE RUNS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Esports &amp; gaming 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A pass can be checked.</a:t>
            </a:r>
          </a:p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A person cannot — not today.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77639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389120"/>
            <a:ext cx="1481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>
                <a:solidFill>
                  <a:srgbClr val="4A4265"/>
                </a:solidFill>
                <a:latin typeface="Segoe UI"/>
              </a:rPr>
              <a:t>Every entry rule ends in the same two seconds: a staff member holding a pass, deciding by eye, with no way to establish that the holder is the buyer. Everything downstream inherits that gap.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669280"/>
            <a:ext cx="5513832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2688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7040880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The pass is the identity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7589520"/>
            <a:ext cx="474573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A band, a QR, a name on a list. Whoever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holds it is admitted. The object cannot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tell anyone who is carrying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82512" y="5669280"/>
            <a:ext cx="5513832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0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7040880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A lent pass is invisible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7589520"/>
            <a:ext cx="474573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It scans clean the second time. Nothing in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the log separates a genuine re-entry from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a second person on one pass.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225528" y="5669280"/>
            <a:ext cx="5513832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609576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609576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09576" y="7040880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The record says “scanned”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09576" y="7589520"/>
            <a:ext cx="474573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When a dispute surfaces on the Monday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there is a record of a pass being read,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and none of a person walking in.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8961120"/>
            <a:ext cx="1719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D28D9"/>
                </a:solidFill>
                <a:latin typeface="Segoe UI"/>
              </a:rPr>
              <a:t>None of this is a staffing failure. It is what happens when the credential is an object instead of a person.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ONE EVENT, FOUR DOORS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Esports &amp; gaming 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One identity layer.</a:t>
            </a:r>
          </a:p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Every door it already has to pass.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77639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389120"/>
            <a:ext cx="1481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>
                <a:solidFill>
                  <a:srgbClr val="4A4265"/>
                </a:solidFill>
                <a:latin typeface="Segoe UI"/>
              </a:rPr>
              <a:t>These are not four products or four contracts. It is the same tablet, the same enrolment and the same rules, pointed at a different door with a different list behind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669280"/>
            <a:ext cx="4059936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2688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70408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The main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758952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Ticket holders and day passes,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at the volume and the speed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the queue actually demands.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28616" y="5669280"/>
            <a:ext cx="4059936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12664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12664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2664" y="70408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The player area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2664" y="758952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Competitors and coaches only,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checked at the door of the room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where results are decided.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99448" y="5669280"/>
            <a:ext cx="4059936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83496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83496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3496" y="70408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Bootcamp &amp; team house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83496" y="758952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Who is in the building, and who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let them in — answered without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a register on a clipboard.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679424" y="5669280"/>
            <a:ext cx="4059936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4063472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63472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063472" y="70408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Back of house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063472" y="758952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Crew, production, press and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talent, each on their own zone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and their own hours.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8961120"/>
            <a:ext cx="1719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D28D9"/>
                </a:solidFill>
                <a:latin typeface="Segoe UI"/>
              </a:rPr>
              <a:t>Each door is a different list and a different rule. It is the same question at all four of them.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WHAT AN UNCHECKED PASS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Esports &amp; gaming 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Every lent pass is a seat you did not sell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1481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>
                <a:solidFill>
                  <a:srgbClr val="4A4265"/>
                </a:solidFill>
                <a:latin typeface="Segoe UI"/>
              </a:rPr>
              <a:t>We have not invented anybody's numbers. The lending rate is the one thing only an operator can know, so it stays a variable — and the unit below is deliberately small, because it scales to whatever a real weekend looks like.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760720"/>
            <a:ext cx="1060704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6126480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IF THIS SHARE IS LENT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6126480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PER 1,000 ADMISSIONS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6126480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AT ₹500 A PASS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51560" y="6601968"/>
            <a:ext cx="960120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51560" y="6812280"/>
            <a:ext cx="3108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221C36"/>
                </a:solidFill>
                <a:latin typeface="Segoe UI Light"/>
              </a:rPr>
              <a:t>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8580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221C36"/>
                </a:solidFill>
                <a:latin typeface="Segoe UI"/>
              </a:rP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68580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221C36"/>
                </a:solidFill>
                <a:latin typeface="Segoe UI"/>
              </a:rPr>
              <a:t>₹10,000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7434072"/>
            <a:ext cx="3108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6D28D9"/>
                </a:solidFill>
                <a:latin typeface="Segoe UI Light"/>
              </a:rPr>
              <a:t>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747979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6D28D9"/>
                </a:solidFill>
                <a:latin typeface="Segoe UI"/>
              </a:rPr>
              <a:t>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747979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6D28D9"/>
                </a:solidFill>
                <a:latin typeface="Segoe UI"/>
              </a:rPr>
              <a:t>₹25,000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8055864"/>
            <a:ext cx="3108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221C36"/>
                </a:solidFill>
                <a:latin typeface="Segoe UI Light"/>
              </a:rPr>
              <a:t>10%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810158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221C36"/>
                </a:solidFill>
                <a:latin typeface="Segoe UI"/>
              </a:rPr>
              <a:t>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810158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221C36"/>
                </a:solidFill>
                <a:latin typeface="Segoe UI"/>
              </a:rPr>
              <a:t>₹50,000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795760" y="5760720"/>
            <a:ext cx="5943600" cy="3017520"/>
          </a:xfrm>
          <a:prstGeom prst="roundRect">
            <a:avLst>
              <a:gd name="adj" fmla="val 5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252960" y="614476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4C1D95"/>
                </a:solidFill>
                <a:latin typeface="Consolas"/>
              </a:rPr>
              <a:t>AND THE SECOND EFFECT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52960" y="6583680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50" b="0">
                <a:solidFill>
                  <a:srgbClr val="4C1D95"/>
                </a:solidFill>
                <a:latin typeface="Segoe UI"/>
              </a:rPr>
              <a:t>Minutes spent queueing outside</a:t>
            </a:r>
          </a:p>
          <a:p>
            <a:pPr algn="l">
              <a:lnSpc>
                <a:spcPct val="136000"/>
              </a:lnSpc>
            </a:pPr>
            <a:r>
              <a:rPr sz="1350" b="0">
                <a:solidFill>
                  <a:srgbClr val="4C1D95"/>
                </a:solidFill>
                <a:latin typeface="Segoe UI"/>
              </a:rPr>
              <a:t>are minutes not spent at merch,</a:t>
            </a:r>
          </a:p>
          <a:p>
            <a:pPr algn="l">
              <a:lnSpc>
                <a:spcPct val="136000"/>
              </a:lnSpc>
            </a:pPr>
            <a:r>
              <a:rPr sz="1350" b="0">
                <a:solidFill>
                  <a:srgbClr val="4C1D95"/>
                </a:solidFill>
                <a:latin typeface="Segoe UI"/>
              </a:rPr>
              <a:t>F&amp;B or a sponsor booth inside.</a:t>
            </a:r>
          </a:p>
          <a:p>
            <a:pPr algn="l">
              <a:lnSpc>
                <a:spcPct val="136000"/>
              </a:lnSpc>
            </a:pPr>
            <a:r>
              <a:rPr sz="1350" b="0">
                <a:solidFill>
                  <a:srgbClr val="4C1D95"/>
                </a:solidFill>
                <a:latin typeface="Segoe UI"/>
              </a:rPr>
              <a:t/>
            </a:r>
          </a:p>
          <a:p>
            <a:pPr algn="l">
              <a:lnSpc>
                <a:spcPct val="136000"/>
              </a:lnSpc>
            </a:pPr>
            <a:r>
              <a:rPr sz="1350" b="0">
                <a:solidFill>
                  <a:srgbClr val="4C1D95"/>
                </a:solidFill>
                <a:latin typeface="Segoe UI"/>
              </a:rPr>
              <a:t>A faster door moves the crowd</a:t>
            </a:r>
          </a:p>
          <a:p>
            <a:pPr algn="l">
              <a:lnSpc>
                <a:spcPct val="136000"/>
              </a:lnSpc>
            </a:pPr>
            <a:r>
              <a:rPr sz="1350" b="0">
                <a:solidFill>
                  <a:srgbClr val="4C1D95"/>
                </a:solidFill>
                <a:latin typeface="Segoe UI"/>
              </a:rPr>
              <a:t>to the floor where it spends.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8961120"/>
            <a:ext cx="1719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D28D9"/>
                </a:solidFill>
                <a:latin typeface="Segoe UI"/>
              </a:rPr>
              <a:t>₹500 and 1,000 are placeholders, not a claim. Put a real gate price and real admissions in, and the third column follows.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THE PROCEDURE, BEFORE AND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Esports &amp; gaming 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The SOP gains one line. It does not gain a department.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1481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>
                <a:solidFill>
                  <a:srgbClr val="4A4265"/>
                </a:solidFill>
                <a:latin typeface="Segoe UI"/>
              </a:rPr>
              <a:t>This is the whole operational delta on event day. Same posts, same shifts, same escalation path — what changes is what the door is able to prove.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46320"/>
            <a:ext cx="832104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230368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TODAY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51560" y="5650992"/>
            <a:ext cx="731520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51560" y="600760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5925312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A4265"/>
                </a:solidFill>
                <a:latin typeface="Segoe UI"/>
              </a:rPr>
              <a:t>Staff match a pass to a face, by eye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65562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6473952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A4265"/>
                </a:solidFill>
                <a:latin typeface="Segoe UI"/>
              </a:rPr>
              <a:t>A lent pass scans clean and walks 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710488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7022592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A4265"/>
                </a:solidFill>
                <a:latin typeface="Segoe UI"/>
              </a:rPr>
              <a:t>Re-entry is a second manual judgement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765352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7571232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A4265"/>
                </a:solidFill>
                <a:latin typeface="Segoe UI"/>
              </a:rPr>
              <a:t>Disputes are settled from memory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" y="820216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25880" y="8119872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A4265"/>
                </a:solidFill>
                <a:latin typeface="Segoe UI"/>
              </a:rPr>
              <a:t>The headcount is an estimate at close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8320" y="4846320"/>
            <a:ext cx="8321040" cy="3931920"/>
          </a:xfrm>
          <a:prstGeom prst="roundRect">
            <a:avLst>
              <a:gd name="adj" fmla="val 5000"/>
            </a:avLst>
          </a:prstGeom>
          <a:solidFill>
            <a:srgbClr val="EDE7FB"/>
          </a:solidFill>
          <a:ln w="12700">
            <a:solidFill>
              <a:srgbClr val="EDE7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21240" y="5230368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4C1D95"/>
                </a:solidFill>
                <a:latin typeface="Consolas"/>
              </a:rPr>
              <a:t>WITH BIOCORE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921240" y="5650992"/>
            <a:ext cx="7315200" cy="0"/>
          </a:xfrm>
          <a:prstGeom prst="line">
            <a:avLst/>
          </a:prstGeom>
          <a:ln w="12700">
            <a:solidFill>
              <a:srgbClr val="C6B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921240" y="600760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95560" y="5925312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221C36"/>
                </a:solidFill>
                <a:latin typeface="Segoe UI"/>
              </a:rPr>
              <a:t>The gate confirms the person, in ~0.35 sec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21240" y="65562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95560" y="6473952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221C36"/>
                </a:solidFill>
                <a:latin typeface="Segoe UI"/>
              </a:rPr>
              <a:t>A pass that is not the buyer does not open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21240" y="710488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95560" y="7022592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221C36"/>
                </a:solidFill>
                <a:latin typeface="Segoe UI"/>
              </a:rPr>
              <a:t>Re-entry is the same walk-through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21240" y="765352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95560" y="7571232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221C36"/>
                </a:solidFill>
                <a:latin typeface="Segoe UI"/>
              </a:rPr>
              <a:t>Disputes carry a timestamped record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21240" y="820216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95560" y="8119872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221C36"/>
                </a:solidFill>
                <a:latin typeface="Segoe UI"/>
              </a:rPr>
              <a:t>The headcount is live, gate by gate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8961120"/>
            <a:ext cx="1719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D28D9"/>
                </a:solidFill>
                <a:latin typeface="Segoe UI"/>
              </a:rPr>
              <a:t>No new counter, no new role, and no second system for staff to learn on the morning of the event.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EXCEPTIONS,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Esports &amp; gaming 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The real test of an entry system</a:t>
            </a:r>
          </a:p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is the person it cannot read.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77639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389120"/>
            <a:ext cx="1481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>
                <a:solidFill>
                  <a:srgbClr val="4A4265"/>
                </a:solidFill>
                <a:latin typeface="Segoe UI"/>
              </a:rPr>
              <a:t>Cosplay masks, full-face helmets, an injury, a phone on 2% — or somebody who simply declines. Pretending those are rare is how a face system turns into a queue problem at ten in the morning.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669280"/>
            <a:ext cx="5513832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2688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7040880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A manual lane always runs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7589520"/>
            <a:ext cx="474573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Staffed and signposted beside the face lane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at all times — never a fallback, never an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apology, never a special case.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82512" y="5669280"/>
            <a:ext cx="5513832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0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7040880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A supervisor override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7589520"/>
            <a:ext cx="474573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One tap admits anybody, with a reason code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attached. The exception becomes a record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instead of an argument at the door.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225528" y="5669280"/>
            <a:ext cx="5513832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609576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609576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09576" y="7040880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Declining costs nothing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09576" y="7589520"/>
            <a:ext cx="474573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Opt-in is real precisely because the other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lane is running anyway. Nobody waits longer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for having said no.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8961120"/>
            <a:ext cx="1719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D28D9"/>
                </a:solidFill>
                <a:latin typeface="Segoe UI"/>
              </a:rPr>
              <a:t>Stated plainly: helmets and full-face prosthetics defeat every face system on the market, ours included. We built the lane instead of pretending otherwise.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BUILT FOR THE VENUE YOU ACTUALLY 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09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Esports &amp; gaming 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Arena WiFi collapses at doors-open.</a:t>
            </a:r>
          </a:p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This runs without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77639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389120"/>
            <a:ext cx="1481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>
                <a:solidFill>
                  <a:srgbClr val="4A4265"/>
                </a:solidFill>
                <a:latin typeface="Segoe UI"/>
              </a:rPr>
              <a:t>Recognition happens on the tablet at the gate. There is no round trip to a cloud, and no dependency on venue connectivity at the one moment it is guaranteed to be saturated.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669280"/>
            <a:ext cx="5513832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2688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7040880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Offline by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7589520"/>
            <a:ext cx="474573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The tablet holds an encrypted roster bound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to that device, keeps admitting people when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the network drops, and syncs when it is back.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82512" y="5669280"/>
            <a:ext cx="5513832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0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7040880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~0.35 seconds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7589520"/>
            <a:ext cx="474573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Measured on ordinary tablet hardware. Not a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lab number, and not contingent on a signal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reaching the door.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225528" y="5669280"/>
            <a:ext cx="5513832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609576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609576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09576" y="7040880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Nothing installed on site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09576" y="7589520"/>
            <a:ext cx="474573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No server rack, no cabling, no integration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with the venue. Keys live on the device and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are wiped when the event ends.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8961120"/>
            <a:ext cx="1719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D28D9"/>
                </a:solidFill>
                <a:latin typeface="Segoe UI"/>
              </a:rPr>
              <a:t>Up in an hour on a trestle table. Down on the final night, back into the same flight case.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THE ONE RULE THAT GOVERNS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Esports &amp; gaming events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17190720" cy="3246120"/>
          </a:xfrm>
          <a:prstGeom prst="roundRect">
            <a:avLst>
              <a:gd name="adj" fmla="val 4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48840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4C1D95"/>
                </a:solidFill>
                <a:latin typeface="Consolas"/>
              </a:rPr>
              <a:t>THE PROMISE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06040"/>
            <a:ext cx="15544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600" b="0">
                <a:solidFill>
                  <a:srgbClr val="4C1D95"/>
                </a:solidFill>
                <a:latin typeface="Segoe UI Light"/>
              </a:rPr>
              <a:t>We never keep the photograph.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40480"/>
            <a:ext cx="14630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700" b="0">
                <a:solidFill>
                  <a:srgbClr val="4C1D95"/>
                </a:solidFill>
                <a:latin typeface="Segoe UI"/>
              </a:rPr>
              <a:t>The image becomes an encrypted key on the tablet and is destroyed in the same second.</a:t>
            </a:r>
          </a:p>
          <a:p>
            <a:pPr algn="l">
              <a:lnSpc>
                <a:spcPct val="136000"/>
              </a:lnSpc>
            </a:pPr>
            <a:r>
              <a:rPr sz="1700" b="0">
                <a:solidFill>
                  <a:srgbClr val="4C1D95"/>
                </a:solidFill>
                <a:latin typeface="Segoe UI"/>
              </a:rPr>
              <a:t>It is never written to disk, never uploaded, and never leaves the venue.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669280"/>
            <a:ext cx="5513832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32688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7040880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Consent is a record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7589520"/>
            <a:ext cx="474573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Who agreed, to what purpose, and when —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with a withdrawal that erases the credential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and issues a certificate saying so.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2512" y="5669280"/>
            <a:ext cx="5513832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66560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7040880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It expires with the event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7589520"/>
            <a:ext cx="474573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No dormant database of faces sitting on a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server after the weekend, waiting for the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breach that makes it a news story.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225528" y="5669280"/>
            <a:ext cx="5513832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2609576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609576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09576" y="7040880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A breach yields nothing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09576" y="7589520"/>
            <a:ext cx="474573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There are no photographs to steal. Only keys,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and a key cannot be turned back into a face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by anybody, ourselves included.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8961120"/>
            <a:ext cx="1719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D28D9"/>
                </a:solidFill>
                <a:latin typeface="Segoe UI"/>
              </a:rPr>
              <a:t>Built against India's DPDP Act: a stated purpose, recorded consent, a retention limit, and erasure on request.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WHAT THE DOOR HANDS 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Esports &amp; gaming 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Counting, not surveillance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1481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>
                <a:solidFill>
                  <a:srgbClr val="4A4265"/>
                </a:solidFill>
                <a:latin typeface="Segoe UI"/>
              </a:rPr>
              <a:t>Because the face is destroyed at the gate, what is left is arithmetic — the numbers an operations plan and a sponsor report both need, and that a privacy-literate audience has no reason to object 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669280"/>
            <a:ext cx="4059936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2688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70408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True unique footfall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758952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How many individual people came,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held apart from total entries,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which re-entry inflates today.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28616" y="5669280"/>
            <a:ext cx="4059936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12664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12664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2664" y="70408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Hour by hour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2664" y="758952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Where the peak actually sat, so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day two is staffed for the real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curve and not last year's guess.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99448" y="5669280"/>
            <a:ext cx="4059936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83496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83496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3496" y="70408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Gate by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83496" y="758952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Which entrance carried the load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and which stood idle, while there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is still time to move people.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679424" y="5669280"/>
            <a:ext cx="4059936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4063472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63472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063472" y="70408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Live capacity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063472" y="758952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A running count of who is inside,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for the venue, the fire officer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and the local authority.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8961120"/>
            <a:ext cx="1719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D28D9"/>
                </a:solidFill>
                <a:latin typeface="Segoe UI"/>
              </a:rPr>
              <a:t>Counts and timings only. No movement trails, no dwell tracking, no profiles — the things that would make this audience turn on you.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HOW A PILOT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Esports &amp; gaming 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One event. One lane. Beside the existing entry.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1481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>
                <a:solidFill>
                  <a:srgbClr val="4A4265"/>
                </a:solidFill>
                <a:latin typeface="Segoe UI"/>
              </a:rPr>
              <a:t>The smallest version of this that still proves something: a single lane at one event, running in parallel with normal entry. The counters stay open throughout, and the run-sheet does not change.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669280"/>
            <a:ext cx="5513832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2688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7040880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What we bring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7589520"/>
            <a:ext cx="474573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Tablets on stands, in a flight case, and the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people to run them. Set up in an hour,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packed down the same night.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82512" y="5669280"/>
            <a:ext cx="5513832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0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7040880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What you 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7589520"/>
            <a:ext cx="474573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Nothing. Entrants opt in when they book, and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everybody else walks up to the counter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exactly as they do today.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225528" y="5669280"/>
            <a:ext cx="5513832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609576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609576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09576" y="7040880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What gets measured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09576" y="7589520"/>
            <a:ext cx="474573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People per lane per hour from doors-open,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side by side with your own counter, across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the full weekend.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8961120"/>
            <a:ext cx="1719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D28D9"/>
                </a:solidFill>
                <a:latin typeface="Segoe UI"/>
              </a:rPr>
              <a:t>If the face lane does not beat the counter standing next to it, there is nothing to discuss afterwards.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IN ONE BREATH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Esports &amp; gaming 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Zero risk to the run-sheet.</a:t>
            </a:r>
          </a:p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A number you can check on the night.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77639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389120"/>
            <a:ext cx="1481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>
                <a:solidFill>
                  <a:srgbClr val="4A4265"/>
                </a:solidFill>
                <a:latin typeface="Segoe UI"/>
              </a:rPr>
              <a:t>One lane, at one event, and a throughput figure anyone can read for themselves before the weekend is over.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669280"/>
            <a:ext cx="4059936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2688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70408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758952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One lane. The counters and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the staffing stay exactly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as they are today.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28616" y="5669280"/>
            <a:ext cx="4059936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12664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12664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2664" y="70408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2664" y="758952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Passes that cannot be lent,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a shorter queue, and a crowd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inside the hall spending.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99448" y="5669280"/>
            <a:ext cx="4059936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83496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83496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3496" y="70408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Accountability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83496" y="758952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Every entry attached to a person,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so a dispute has a record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instead of an argument.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679424" y="5669280"/>
            <a:ext cx="4059936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4063472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63472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063472" y="70408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Privacy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063472" y="758952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No photograph kept, no database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left behind, and an erasure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certificate on request.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8961120"/>
            <a:ext cx="1719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D28D9"/>
                </a:solidFill>
                <a:latin typeface="Segoe UI"/>
              </a:rPr>
              <a:t>To take this further —  [ your name  ·  email  ·  phone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