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spc="180">
                <a:solidFill>
                  <a:srgbClr val="6B6480"/>
                </a:solidFill>
                <a:latin typeface="Consolas"/>
              </a:rPr>
              <a:t>BIOCORE  |  IDENTITY FOR ESPORTS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60" y="603504"/>
            <a:ext cx="5486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spc="180">
                <a:solidFill>
                  <a:srgbClr val="C4BCDD"/>
                </a:solidFill>
                <a:latin typeface="Consolas"/>
              </a:rPr>
              <a:t>01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9546336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spc="140">
                <a:solidFill>
                  <a:srgbClr val="C4BCDD"/>
                </a:solidFill>
                <a:latin typeface="Consolas"/>
              </a:rPr>
              <a:t>For Marwah Sports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77440"/>
            <a:ext cx="1042416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5400" b="0">
                <a:solidFill>
                  <a:srgbClr val="221C36"/>
                </a:solidFill>
                <a:latin typeface="Segoe UI Light"/>
              </a:rPr>
              <a:t>Your rules are good.</a:t>
            </a:r>
          </a:p>
          <a:p>
            <a:pPr algn="l">
              <a:lnSpc>
                <a:spcPct val="106000"/>
              </a:lnSpc>
            </a:pPr>
            <a:r>
              <a:rPr sz="5400" b="0">
                <a:solidFill>
                  <a:srgbClr val="221C36"/>
                </a:solidFill>
                <a:latin typeface="Segoe UI Light"/>
              </a:rPr>
              <a:t>The door is where they</a:t>
            </a:r>
          </a:p>
          <a:p>
            <a:pPr algn="l">
              <a:lnSpc>
                <a:spcPct val="106000"/>
              </a:lnSpc>
            </a:pPr>
            <a:r>
              <a:rPr sz="5400" b="0">
                <a:solidFill>
                  <a:srgbClr val="221C36"/>
                </a:solidFill>
                <a:latin typeface="Segoe UI Light"/>
              </a:rPr>
              <a:t>stop being enforced.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492240"/>
            <a:ext cx="2194560" cy="5486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949440"/>
            <a:ext cx="100584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800" b="0">
                <a:solidFill>
                  <a:srgbClr val="4A4265"/>
                </a:solidFill>
                <a:latin typeface="Segoe UI"/>
              </a:rPr>
              <a:t>Walk-through entry. Passes that cannot be lent.</a:t>
            </a:r>
          </a:p>
          <a:p>
            <a:pPr algn="l">
              <a:lnSpc>
                <a:spcPct val="136000"/>
              </a:lnSpc>
            </a:pPr>
            <a:r>
              <a:rPr sz="1800" b="0">
                <a:solidFill>
                  <a:srgbClr val="4A4265"/>
                </a:solidFill>
                <a:latin typeface="Segoe UI"/>
              </a:rPr>
              <a:t>Players who are who they say they are. Nothing kept afterwards.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887200" y="2377440"/>
            <a:ext cx="58521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0" y="2761488"/>
            <a:ext cx="49377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0">
                <a:solidFill>
                  <a:srgbClr val="6D28D9"/>
                </a:solidFill>
                <a:latin typeface="Segoe UI Light"/>
              </a:rPr>
              <a:t>~0.35 sec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0" y="35661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Per person at the gate, on a tablet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887200" y="4572000"/>
            <a:ext cx="58521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44400" y="4956048"/>
            <a:ext cx="49377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0">
                <a:solidFill>
                  <a:srgbClr val="6D28D9"/>
                </a:solidFill>
                <a:latin typeface="Segoe UI Light"/>
              </a:rPr>
              <a:t>0 photos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0" y="576072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Kept. On the device, or anywhere else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887200" y="6766560"/>
            <a:ext cx="58521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44400" y="7150608"/>
            <a:ext cx="49377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0">
                <a:solidFill>
                  <a:srgbClr val="6D28D9"/>
                </a:solidFill>
                <a:latin typeface="Segoe UI Light"/>
              </a:rPr>
              <a:t>1 hour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0" y="795528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To stand up on site. No rack, no cabling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spc="180">
                <a:solidFill>
                  <a:srgbClr val="6B6480"/>
                </a:solidFill>
                <a:latin typeface="Consolas"/>
              </a:rPr>
              <a:t>WHERE A PROCEDURE RUNS 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60" y="603504"/>
            <a:ext cx="5486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spc="180">
                <a:solidFill>
                  <a:srgbClr val="C4BCDD"/>
                </a:solidFill>
                <a:latin typeface="Consolas"/>
              </a:rPr>
              <a:t>02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9546336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spc="140">
                <a:solidFill>
                  <a:srgbClr val="C4BCDD"/>
                </a:solidFill>
                <a:latin typeface="Consolas"/>
              </a:rPr>
              <a:t>For Marwah Sports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141732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200" b="0">
                <a:solidFill>
                  <a:srgbClr val="221C36"/>
                </a:solidFill>
                <a:latin typeface="Segoe UI Light"/>
              </a:rPr>
              <a:t>A pass can be checked.</a:t>
            </a:r>
          </a:p>
          <a:p>
            <a:pPr algn="l">
              <a:lnSpc>
                <a:spcPct val="106000"/>
              </a:lnSpc>
            </a:pPr>
            <a:r>
              <a:rPr sz="4200" b="0">
                <a:solidFill>
                  <a:srgbClr val="221C36"/>
                </a:solidFill>
                <a:latin typeface="Segoe UI Light"/>
              </a:rPr>
              <a:t>A person cannot — not today.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977639"/>
            <a:ext cx="2194560" cy="5486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389120"/>
            <a:ext cx="148132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650" b="0">
                <a:solidFill>
                  <a:srgbClr val="4A4265"/>
                </a:solidFill>
                <a:latin typeface="Segoe UI"/>
              </a:rPr>
              <a:t>Every entry rule you write ends in the same two seconds: a staff member holding a pass, deciding by eye, with no way to establish that the holder is the buyer. Everything downstream inherits that gap.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669280"/>
            <a:ext cx="5513832" cy="3063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32688" y="6035040"/>
            <a:ext cx="749808" cy="749808"/>
          </a:xfrm>
          <a:prstGeom prst="roundRect">
            <a:avLst>
              <a:gd name="adj" fmla="val 18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6254496"/>
            <a:ext cx="74980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6D28D9"/>
                </a:solidFill>
                <a:latin typeface="Consolas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7040880"/>
            <a:ext cx="47457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>
                <a:solidFill>
                  <a:srgbClr val="221C36"/>
                </a:solidFill>
                <a:latin typeface="Segoe UI"/>
              </a:rPr>
              <a:t>The pass is the identity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7589520"/>
            <a:ext cx="4745736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A band, a QR, a name on a list. Whoever</a:t>
            </a:r>
          </a:p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holds it is admitted. The object cannot</a:t>
            </a:r>
          </a:p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tell you who is carrying it.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82512" y="5669280"/>
            <a:ext cx="5513832" cy="3063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66560" y="6035040"/>
            <a:ext cx="749808" cy="749808"/>
          </a:xfrm>
          <a:prstGeom prst="roundRect">
            <a:avLst>
              <a:gd name="adj" fmla="val 18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6254496"/>
            <a:ext cx="74980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6D28D9"/>
                </a:solidFill>
                <a:latin typeface="Consolas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7040880"/>
            <a:ext cx="47457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>
                <a:solidFill>
                  <a:srgbClr val="221C36"/>
                </a:solidFill>
                <a:latin typeface="Segoe UI"/>
              </a:rPr>
              <a:t>A lent pass is invisible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7589520"/>
            <a:ext cx="4745736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It scans clean the second time. Nothing in</a:t>
            </a:r>
          </a:p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the log separates a genuine re-entry from</a:t>
            </a:r>
          </a:p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a second person on one pass.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225528" y="5669280"/>
            <a:ext cx="5513832" cy="3063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2609576" y="6035040"/>
            <a:ext cx="749808" cy="749808"/>
          </a:xfrm>
          <a:prstGeom prst="roundRect">
            <a:avLst>
              <a:gd name="adj" fmla="val 18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609576" y="6254496"/>
            <a:ext cx="74980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6D28D9"/>
                </a:solidFill>
                <a:latin typeface="Consolas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609576" y="7040880"/>
            <a:ext cx="47457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>
                <a:solidFill>
                  <a:srgbClr val="221C36"/>
                </a:solidFill>
                <a:latin typeface="Segoe UI"/>
              </a:rPr>
              <a:t>The record says “scanned”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609576" y="7589520"/>
            <a:ext cx="4745736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When a dispute reaches your desk on Monday</a:t>
            </a:r>
          </a:p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there is a record of a pass being read,</a:t>
            </a:r>
          </a:p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and none of a person walking in.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8961120"/>
            <a:ext cx="17190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6D28D9"/>
                </a:solidFill>
                <a:latin typeface="Segoe UI"/>
              </a:rPr>
              <a:t>None of this is a staffing failure. It is what happens when the credential is an object instead of a person.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spc="180">
                <a:solidFill>
                  <a:srgbClr val="6B6480"/>
                </a:solidFill>
                <a:latin typeface="Consolas"/>
              </a:rPr>
              <a:t>WHAT AN UNCHECKED PASS COSTS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60" y="603504"/>
            <a:ext cx="5486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spc="180">
                <a:solidFill>
                  <a:srgbClr val="C4BCDD"/>
                </a:solidFill>
                <a:latin typeface="Consolas"/>
              </a:rPr>
              <a:t>03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9546336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spc="140">
                <a:solidFill>
                  <a:srgbClr val="C4BCDD"/>
                </a:solidFill>
                <a:latin typeface="Consolas"/>
              </a:rPr>
              <a:t>For Marwah Sports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141732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200" b="0">
                <a:solidFill>
                  <a:srgbClr val="221C36"/>
                </a:solidFill>
                <a:latin typeface="Segoe UI Light"/>
              </a:rPr>
              <a:t>Every lent pass is a seat you did not sell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246120"/>
            <a:ext cx="2194560" cy="5486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657600"/>
            <a:ext cx="148132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650" b="0">
                <a:solidFill>
                  <a:srgbClr val="4A4265"/>
                </a:solidFill>
                <a:latin typeface="Segoe UI"/>
              </a:rPr>
              <a:t>We have not invented your numbers. The lending rate is the one thing only you can know, so it stays a variable — and the unit below is deliberately small, because it scales to whatever a real weekend looks like.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760720"/>
            <a:ext cx="10607040" cy="3017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6126480"/>
            <a:ext cx="3108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spc="180">
                <a:solidFill>
                  <a:srgbClr val="6B6480"/>
                </a:solidFill>
                <a:latin typeface="Consolas"/>
              </a:rPr>
              <a:t>IF THIS SHARE IS LENT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6126480"/>
            <a:ext cx="3108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spc="180">
                <a:solidFill>
                  <a:srgbClr val="6B6480"/>
                </a:solidFill>
                <a:latin typeface="Consolas"/>
              </a:rPr>
              <a:t>PER 1,000 ADMISSIONS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6126480"/>
            <a:ext cx="3108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spc="180">
                <a:solidFill>
                  <a:srgbClr val="6B6480"/>
                </a:solidFill>
                <a:latin typeface="Consolas"/>
              </a:rPr>
              <a:t>AT ₹500 A PASS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51560" y="6601968"/>
            <a:ext cx="960120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051560" y="6812280"/>
            <a:ext cx="310896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>
                <a:solidFill>
                  <a:srgbClr val="221C36"/>
                </a:solidFill>
                <a:latin typeface="Segoe UI Light"/>
              </a:rPr>
              <a:t>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68580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>
                <a:solidFill>
                  <a:srgbClr val="221C36"/>
                </a:solidFill>
                <a:latin typeface="Segoe UI"/>
              </a:rPr>
              <a:t>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40" y="68580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>
                <a:solidFill>
                  <a:srgbClr val="221C36"/>
                </a:solidFill>
                <a:latin typeface="Segoe UI"/>
              </a:rPr>
              <a:t>₹10,000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7434072"/>
            <a:ext cx="310896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>
                <a:solidFill>
                  <a:srgbClr val="6D28D9"/>
                </a:solidFill>
                <a:latin typeface="Segoe UI Light"/>
              </a:rPr>
              <a:t>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747979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>
                <a:solidFill>
                  <a:srgbClr val="6D28D9"/>
                </a:solidFill>
                <a:latin typeface="Segoe UI"/>
              </a:rPr>
              <a:t>50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35240" y="747979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6D28D9"/>
                </a:solidFill>
                <a:latin typeface="Segoe UI"/>
              </a:rPr>
              <a:t>₹25,000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8055864"/>
            <a:ext cx="310896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>
                <a:solidFill>
                  <a:srgbClr val="221C36"/>
                </a:solidFill>
                <a:latin typeface="Segoe UI Light"/>
              </a:rPr>
              <a:t>10%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400" y="8101584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>
                <a:solidFill>
                  <a:srgbClr val="221C36"/>
                </a:solidFill>
                <a:latin typeface="Segoe UI"/>
              </a:rPr>
              <a:t>100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35240" y="8101584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>
                <a:solidFill>
                  <a:srgbClr val="221C36"/>
                </a:solidFill>
                <a:latin typeface="Segoe UI"/>
              </a:rPr>
              <a:t>₹50,000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795760" y="5760720"/>
            <a:ext cx="5943600" cy="3017520"/>
          </a:xfrm>
          <a:prstGeom prst="roundRect">
            <a:avLst>
              <a:gd name="adj" fmla="val 5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252960" y="614476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spc="180">
                <a:solidFill>
                  <a:srgbClr val="4C1D95"/>
                </a:solidFill>
                <a:latin typeface="Consolas"/>
              </a:rPr>
              <a:t>AND THE SECOND EFFECT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252960" y="6583680"/>
            <a:ext cx="50292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50" b="0">
                <a:solidFill>
                  <a:srgbClr val="4C1D95"/>
                </a:solidFill>
                <a:latin typeface="Segoe UI"/>
              </a:rPr>
              <a:t>Minutes spent queueing outside</a:t>
            </a:r>
          </a:p>
          <a:p>
            <a:pPr algn="l">
              <a:lnSpc>
                <a:spcPct val="136000"/>
              </a:lnSpc>
            </a:pPr>
            <a:r>
              <a:rPr sz="1350" b="0">
                <a:solidFill>
                  <a:srgbClr val="4C1D95"/>
                </a:solidFill>
                <a:latin typeface="Segoe UI"/>
              </a:rPr>
              <a:t>are minutes not spent at merch,</a:t>
            </a:r>
          </a:p>
          <a:p>
            <a:pPr algn="l">
              <a:lnSpc>
                <a:spcPct val="136000"/>
              </a:lnSpc>
            </a:pPr>
            <a:r>
              <a:rPr sz="1350" b="0">
                <a:solidFill>
                  <a:srgbClr val="4C1D95"/>
                </a:solidFill>
                <a:latin typeface="Segoe UI"/>
              </a:rPr>
              <a:t>F&amp;B or a sponsor booth inside.</a:t>
            </a:r>
          </a:p>
          <a:p>
            <a:pPr algn="l">
              <a:lnSpc>
                <a:spcPct val="136000"/>
              </a:lnSpc>
            </a:pPr>
            <a:r>
              <a:rPr sz="1350" b="0">
                <a:solidFill>
                  <a:srgbClr val="4C1D95"/>
                </a:solidFill>
                <a:latin typeface="Segoe UI"/>
              </a:rPr>
              <a:t/>
            </a:r>
          </a:p>
          <a:p>
            <a:pPr algn="l">
              <a:lnSpc>
                <a:spcPct val="136000"/>
              </a:lnSpc>
            </a:pPr>
            <a:r>
              <a:rPr sz="1350" b="0">
                <a:solidFill>
                  <a:srgbClr val="4C1D95"/>
                </a:solidFill>
                <a:latin typeface="Segoe UI"/>
              </a:rPr>
              <a:t>A faster door moves the crowd</a:t>
            </a:r>
          </a:p>
          <a:p>
            <a:pPr algn="l">
              <a:lnSpc>
                <a:spcPct val="136000"/>
              </a:lnSpc>
            </a:pPr>
            <a:r>
              <a:rPr sz="1350" b="0">
                <a:solidFill>
                  <a:srgbClr val="4C1D95"/>
                </a:solidFill>
                <a:latin typeface="Segoe UI"/>
              </a:rPr>
              <a:t>to the floor where it spends.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8961120"/>
            <a:ext cx="17190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6D28D9"/>
                </a:solidFill>
                <a:latin typeface="Segoe UI"/>
              </a:rPr>
              <a:t>₹500 and 1,000 are placeholders, not a claim. Put your own gate price and your own admissions in, and the third column is yours.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spc="180">
                <a:solidFill>
                  <a:srgbClr val="6B6480"/>
                </a:solidFill>
                <a:latin typeface="Consolas"/>
              </a:rPr>
              <a:t>THE PROCEDURE, BEFORE AND AFTER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60" y="603504"/>
            <a:ext cx="5486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spc="180">
                <a:solidFill>
                  <a:srgbClr val="C4BCDD"/>
                </a:solidFill>
                <a:latin typeface="Consolas"/>
              </a:rPr>
              <a:t>04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9546336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spc="140">
                <a:solidFill>
                  <a:srgbClr val="C4BCDD"/>
                </a:solidFill>
                <a:latin typeface="Consolas"/>
              </a:rPr>
              <a:t>For Marwah Sports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141732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200" b="0">
                <a:solidFill>
                  <a:srgbClr val="221C36"/>
                </a:solidFill>
                <a:latin typeface="Segoe UI Light"/>
              </a:rPr>
              <a:t>Your SOP gains one line. It does not gain a department.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246120"/>
            <a:ext cx="2194560" cy="5486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657600"/>
            <a:ext cx="148132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650" b="0">
                <a:solidFill>
                  <a:srgbClr val="4A4265"/>
                </a:solidFill>
                <a:latin typeface="Segoe UI"/>
              </a:rPr>
              <a:t>This is the whole operational delta on event day. Same posts, same shifts, same escalation path — what changes is what the door is able to prove.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46320"/>
            <a:ext cx="8321040" cy="3931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5230368"/>
            <a:ext cx="5486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spc="180">
                <a:solidFill>
                  <a:srgbClr val="6B6480"/>
                </a:solidFill>
                <a:latin typeface="Consolas"/>
              </a:rPr>
              <a:t>TODAY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51560" y="5650992"/>
            <a:ext cx="731520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051560" y="6007608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C4B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25880" y="5925312"/>
            <a:ext cx="70408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A4265"/>
                </a:solidFill>
                <a:latin typeface="Segoe UI"/>
              </a:rPr>
              <a:t>Staff match a pass to a face, by eye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1560" y="6556248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C4B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25880" y="6473952"/>
            <a:ext cx="70408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A4265"/>
                </a:solidFill>
                <a:latin typeface="Segoe UI"/>
              </a:rPr>
              <a:t>A lent pass scans clean and walks in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51560" y="7104888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C4B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25880" y="7022592"/>
            <a:ext cx="70408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A4265"/>
                </a:solidFill>
                <a:latin typeface="Segoe UI"/>
              </a:rPr>
              <a:t>Re-entry is a second manual judgement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51560" y="7653528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C4B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25880" y="7571232"/>
            <a:ext cx="70408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A4265"/>
                </a:solidFill>
                <a:latin typeface="Segoe UI"/>
              </a:rPr>
              <a:t>Disputes are settled from memory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51560" y="8202168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C4B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25880" y="8119872"/>
            <a:ext cx="70408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A4265"/>
                </a:solidFill>
                <a:latin typeface="Segoe UI"/>
              </a:rPr>
              <a:t>The headcount is an estimate at close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18320" y="4846320"/>
            <a:ext cx="8321040" cy="3931920"/>
          </a:xfrm>
          <a:prstGeom prst="roundRect">
            <a:avLst>
              <a:gd name="adj" fmla="val 5000"/>
            </a:avLst>
          </a:prstGeom>
          <a:solidFill>
            <a:srgbClr val="EDE7FB"/>
          </a:solidFill>
          <a:ln w="12700">
            <a:solidFill>
              <a:srgbClr val="EDE7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21240" y="5230368"/>
            <a:ext cx="5486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spc="180">
                <a:solidFill>
                  <a:srgbClr val="4C1D95"/>
                </a:solidFill>
                <a:latin typeface="Consolas"/>
              </a:rPr>
              <a:t>WITH BIOCORE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921240" y="5650992"/>
            <a:ext cx="7315200" cy="0"/>
          </a:xfrm>
          <a:prstGeom prst="line">
            <a:avLst/>
          </a:prstGeom>
          <a:ln w="12700">
            <a:solidFill>
              <a:srgbClr val="C6BE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921240" y="6007608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95560" y="5925312"/>
            <a:ext cx="70408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221C36"/>
                </a:solidFill>
                <a:latin typeface="Segoe UI"/>
              </a:rPr>
              <a:t>The gate confirms the person, in ~0.35 sec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921240" y="6556248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95560" y="6473952"/>
            <a:ext cx="70408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221C36"/>
                </a:solidFill>
                <a:latin typeface="Segoe UI"/>
              </a:rPr>
              <a:t>A pass that is not the buyer does not open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921240" y="7104888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195560" y="7022592"/>
            <a:ext cx="70408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221C36"/>
                </a:solidFill>
                <a:latin typeface="Segoe UI"/>
              </a:rPr>
              <a:t>Re-entry is the same walk-through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921240" y="7653528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95560" y="7571232"/>
            <a:ext cx="70408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221C36"/>
                </a:solidFill>
                <a:latin typeface="Segoe UI"/>
              </a:rPr>
              <a:t>Disputes carry a timestamped record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921240" y="8202168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95560" y="8119872"/>
            <a:ext cx="70408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221C36"/>
                </a:solidFill>
                <a:latin typeface="Segoe UI"/>
              </a:rPr>
              <a:t>The headcount is live, gate by gate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8961120"/>
            <a:ext cx="17190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6D28D9"/>
                </a:solidFill>
                <a:latin typeface="Segoe UI"/>
              </a:rPr>
              <a:t>No new counter, no new role, and no second system for your staff to learn on the morning of the event.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spc="180">
                <a:solidFill>
                  <a:srgbClr val="6B6480"/>
                </a:solidFill>
                <a:latin typeface="Consolas"/>
              </a:rPr>
              <a:t>EXCEPTIONS, BY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60" y="603504"/>
            <a:ext cx="5486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spc="180">
                <a:solidFill>
                  <a:srgbClr val="C4BCDD"/>
                </a:solidFill>
                <a:latin typeface="Consolas"/>
              </a:rPr>
              <a:t>05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9546336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spc="140">
                <a:solidFill>
                  <a:srgbClr val="C4BCDD"/>
                </a:solidFill>
                <a:latin typeface="Consolas"/>
              </a:rPr>
              <a:t>For Marwah Sports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141732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200" b="0">
                <a:solidFill>
                  <a:srgbClr val="221C36"/>
                </a:solidFill>
                <a:latin typeface="Segoe UI Light"/>
              </a:rPr>
              <a:t>The real test of an entry system</a:t>
            </a:r>
          </a:p>
          <a:p>
            <a:pPr algn="l">
              <a:lnSpc>
                <a:spcPct val="106000"/>
              </a:lnSpc>
            </a:pPr>
            <a:r>
              <a:rPr sz="4200" b="0">
                <a:solidFill>
                  <a:srgbClr val="221C36"/>
                </a:solidFill>
                <a:latin typeface="Segoe UI Light"/>
              </a:rPr>
              <a:t>is the person it cannot read.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977639"/>
            <a:ext cx="2194560" cy="5486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389120"/>
            <a:ext cx="148132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650" b="0">
                <a:solidFill>
                  <a:srgbClr val="4A4265"/>
                </a:solidFill>
                <a:latin typeface="Segoe UI"/>
              </a:rPr>
              <a:t>Cosplay masks, full-face helmets, an injury, a phone on 2% — or somebody who simply declines. Pretending those are rare is how a face system turns into your queue problem at ten in the morning.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669280"/>
            <a:ext cx="5513832" cy="3063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32688" y="6035040"/>
            <a:ext cx="749808" cy="749808"/>
          </a:xfrm>
          <a:prstGeom prst="roundRect">
            <a:avLst>
              <a:gd name="adj" fmla="val 18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6254496"/>
            <a:ext cx="74980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6D28D9"/>
                </a:solidFill>
                <a:latin typeface="Consolas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7040880"/>
            <a:ext cx="47457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>
                <a:solidFill>
                  <a:srgbClr val="221C36"/>
                </a:solidFill>
                <a:latin typeface="Segoe UI"/>
              </a:rPr>
              <a:t>A manual lane always runs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7589520"/>
            <a:ext cx="4745736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Staffed and signposted beside the face lane</a:t>
            </a:r>
          </a:p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at all times — never a fallback, never an</a:t>
            </a:r>
          </a:p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apology, never a special case.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82512" y="5669280"/>
            <a:ext cx="5513832" cy="3063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66560" y="6035040"/>
            <a:ext cx="749808" cy="749808"/>
          </a:xfrm>
          <a:prstGeom prst="roundRect">
            <a:avLst>
              <a:gd name="adj" fmla="val 18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6254496"/>
            <a:ext cx="74980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6D28D9"/>
                </a:solidFill>
                <a:latin typeface="Consolas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7040880"/>
            <a:ext cx="47457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>
                <a:solidFill>
                  <a:srgbClr val="221C36"/>
                </a:solidFill>
                <a:latin typeface="Segoe UI"/>
              </a:rPr>
              <a:t>A supervisor override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7589520"/>
            <a:ext cx="4745736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One tap admits anybody, with a reason code</a:t>
            </a:r>
          </a:p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attached. The exception becomes a record</a:t>
            </a:r>
          </a:p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instead of an argument at the door.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225528" y="5669280"/>
            <a:ext cx="5513832" cy="3063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2609576" y="6035040"/>
            <a:ext cx="749808" cy="749808"/>
          </a:xfrm>
          <a:prstGeom prst="roundRect">
            <a:avLst>
              <a:gd name="adj" fmla="val 18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609576" y="6254496"/>
            <a:ext cx="74980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6D28D9"/>
                </a:solidFill>
                <a:latin typeface="Consolas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609576" y="7040880"/>
            <a:ext cx="47457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>
                <a:solidFill>
                  <a:srgbClr val="221C36"/>
                </a:solidFill>
                <a:latin typeface="Segoe UI"/>
              </a:rPr>
              <a:t>Declining costs nothing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609576" y="7589520"/>
            <a:ext cx="4745736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Opt-in is real precisely because the other</a:t>
            </a:r>
          </a:p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lane is running anyway. Nobody waits longer</a:t>
            </a:r>
          </a:p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for having said no.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8961120"/>
            <a:ext cx="17190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6D28D9"/>
                </a:solidFill>
                <a:latin typeface="Segoe UI"/>
              </a:rPr>
              <a:t>Stated plainly: helmets and full-face prosthetics defeat every face system on the market, ours included. We built the lane instead of pretending otherwise.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spc="180">
                <a:solidFill>
                  <a:srgbClr val="6B6480"/>
                </a:solidFill>
                <a:latin typeface="Consolas"/>
              </a:rPr>
              <a:t>BUILT FOR THE VENUE YOU ACTUALLY 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60" y="603504"/>
            <a:ext cx="5486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spc="180">
                <a:solidFill>
                  <a:srgbClr val="C4BCDD"/>
                </a:solidFill>
                <a:latin typeface="Consolas"/>
              </a:rPr>
              <a:t>06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9546336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spc="140">
                <a:solidFill>
                  <a:srgbClr val="C4BCDD"/>
                </a:solidFill>
                <a:latin typeface="Consolas"/>
              </a:rPr>
              <a:t>For Marwah Sports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141732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200" b="0">
                <a:solidFill>
                  <a:srgbClr val="221C36"/>
                </a:solidFill>
                <a:latin typeface="Segoe UI Light"/>
              </a:rPr>
              <a:t>Arena WiFi collapses at doors-open.</a:t>
            </a:r>
          </a:p>
          <a:p>
            <a:pPr algn="l">
              <a:lnSpc>
                <a:spcPct val="106000"/>
              </a:lnSpc>
            </a:pPr>
            <a:r>
              <a:rPr sz="4200" b="0">
                <a:solidFill>
                  <a:srgbClr val="221C36"/>
                </a:solidFill>
                <a:latin typeface="Segoe UI Light"/>
              </a:rPr>
              <a:t>This runs without 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977639"/>
            <a:ext cx="2194560" cy="5486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389120"/>
            <a:ext cx="148132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650" b="0">
                <a:solidFill>
                  <a:srgbClr val="4A4265"/>
                </a:solidFill>
                <a:latin typeface="Segoe UI"/>
              </a:rPr>
              <a:t>Recognition happens on the tablet at the gate. There is no round trip to a cloud, and no dependency on venue connectivity at the one moment it is guaranteed to be saturated.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669280"/>
            <a:ext cx="5513832" cy="3063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32688" y="6035040"/>
            <a:ext cx="749808" cy="749808"/>
          </a:xfrm>
          <a:prstGeom prst="roundRect">
            <a:avLst>
              <a:gd name="adj" fmla="val 18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6254496"/>
            <a:ext cx="74980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6D28D9"/>
                </a:solidFill>
                <a:latin typeface="Consolas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7040880"/>
            <a:ext cx="47457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>
                <a:solidFill>
                  <a:srgbClr val="221C36"/>
                </a:solidFill>
                <a:latin typeface="Segoe UI"/>
              </a:rPr>
              <a:t>Offline by 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7589520"/>
            <a:ext cx="4745736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The tablet holds an encrypted roster bound</a:t>
            </a:r>
          </a:p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to that device, keeps admitting people when</a:t>
            </a:r>
          </a:p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the network drops, and syncs when it is back.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82512" y="5669280"/>
            <a:ext cx="5513832" cy="3063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66560" y="6035040"/>
            <a:ext cx="749808" cy="749808"/>
          </a:xfrm>
          <a:prstGeom prst="roundRect">
            <a:avLst>
              <a:gd name="adj" fmla="val 18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6254496"/>
            <a:ext cx="74980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6D28D9"/>
                </a:solidFill>
                <a:latin typeface="Consolas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7040880"/>
            <a:ext cx="47457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>
                <a:solidFill>
                  <a:srgbClr val="221C36"/>
                </a:solidFill>
                <a:latin typeface="Segoe UI"/>
              </a:rPr>
              <a:t>~0.35 seconds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7589520"/>
            <a:ext cx="4745736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Measured on ordinary tablet hardware. Not a</a:t>
            </a:r>
          </a:p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lab number, and not contingent on a signal</a:t>
            </a:r>
          </a:p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reaching the door.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225528" y="5669280"/>
            <a:ext cx="5513832" cy="3063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2609576" y="6035040"/>
            <a:ext cx="749808" cy="749808"/>
          </a:xfrm>
          <a:prstGeom prst="roundRect">
            <a:avLst>
              <a:gd name="adj" fmla="val 18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609576" y="6254496"/>
            <a:ext cx="74980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6D28D9"/>
                </a:solidFill>
                <a:latin typeface="Consolas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609576" y="7040880"/>
            <a:ext cx="47457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>
                <a:solidFill>
                  <a:srgbClr val="221C36"/>
                </a:solidFill>
                <a:latin typeface="Segoe UI"/>
              </a:rPr>
              <a:t>Nothing installed on site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609576" y="7589520"/>
            <a:ext cx="4745736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No server rack, no cabling, no integration</a:t>
            </a:r>
          </a:p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with the venue. Keys live on the device and</a:t>
            </a:r>
          </a:p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are wiped when the event ends.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8961120"/>
            <a:ext cx="17190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6D28D9"/>
                </a:solidFill>
                <a:latin typeface="Segoe UI"/>
              </a:rPr>
              <a:t>Up in an hour on a trestle table. Down on the final night, back into the same flight case.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spc="180">
                <a:solidFill>
                  <a:srgbClr val="6B6480"/>
                </a:solidFill>
                <a:latin typeface="Consolas"/>
              </a:rPr>
              <a:t>THE ONE RULE THAT GOVERNS EVERYTHING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60" y="603504"/>
            <a:ext cx="5486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spc="180">
                <a:solidFill>
                  <a:srgbClr val="C4BCDD"/>
                </a:solidFill>
                <a:latin typeface="Consolas"/>
              </a:rPr>
              <a:t>07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9546336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spc="140">
                <a:solidFill>
                  <a:srgbClr val="C4BCDD"/>
                </a:solidFill>
                <a:latin typeface="Consolas"/>
              </a:rPr>
              <a:t>For Marwah Sports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783080"/>
            <a:ext cx="17190720" cy="3246120"/>
          </a:xfrm>
          <a:prstGeom prst="roundRect">
            <a:avLst>
              <a:gd name="adj" fmla="val 4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148840"/>
            <a:ext cx="5486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spc="180">
                <a:solidFill>
                  <a:srgbClr val="4C1D95"/>
                </a:solidFill>
                <a:latin typeface="Consolas"/>
              </a:rPr>
              <a:t>THE PROMISE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606040"/>
            <a:ext cx="15544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600" b="0">
                <a:solidFill>
                  <a:srgbClr val="4C1D95"/>
                </a:solidFill>
                <a:latin typeface="Segoe UI Light"/>
              </a:rPr>
              <a:t>We never keep the photograph.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840480"/>
            <a:ext cx="14630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700" b="0">
                <a:solidFill>
                  <a:srgbClr val="4C1D95"/>
                </a:solidFill>
                <a:latin typeface="Segoe UI"/>
              </a:rPr>
              <a:t>The image becomes an encrypted key on the tablet and is destroyed in the same second.</a:t>
            </a:r>
          </a:p>
          <a:p>
            <a:pPr algn="l">
              <a:lnSpc>
                <a:spcPct val="136000"/>
              </a:lnSpc>
            </a:pPr>
            <a:r>
              <a:rPr sz="1700" b="0">
                <a:solidFill>
                  <a:srgbClr val="4C1D95"/>
                </a:solidFill>
                <a:latin typeface="Segoe UI"/>
              </a:rPr>
              <a:t>It is never written to disk, never uploaded, and never leaves the venue.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669280"/>
            <a:ext cx="5513832" cy="3063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32688" y="6035040"/>
            <a:ext cx="749808" cy="749808"/>
          </a:xfrm>
          <a:prstGeom prst="roundRect">
            <a:avLst>
              <a:gd name="adj" fmla="val 18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6254496"/>
            <a:ext cx="74980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6D28D9"/>
                </a:solidFill>
                <a:latin typeface="Consolas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7040880"/>
            <a:ext cx="47457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>
                <a:solidFill>
                  <a:srgbClr val="221C36"/>
                </a:solidFill>
                <a:latin typeface="Segoe UI"/>
              </a:rPr>
              <a:t>Consent is a record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7589520"/>
            <a:ext cx="4745736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Who agreed, to what purpose, and when —</a:t>
            </a:r>
          </a:p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with a withdrawal that erases the credential</a:t>
            </a:r>
          </a:p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and issues a certificate saying so.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82512" y="5669280"/>
            <a:ext cx="5513832" cy="3063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766560" y="6035040"/>
            <a:ext cx="749808" cy="749808"/>
          </a:xfrm>
          <a:prstGeom prst="roundRect">
            <a:avLst>
              <a:gd name="adj" fmla="val 18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0" y="6254496"/>
            <a:ext cx="74980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6D28D9"/>
                </a:solidFill>
                <a:latin typeface="Consolas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7040880"/>
            <a:ext cx="47457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>
                <a:solidFill>
                  <a:srgbClr val="221C36"/>
                </a:solidFill>
                <a:latin typeface="Segoe UI"/>
              </a:rPr>
              <a:t>It expires with the event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7589520"/>
            <a:ext cx="4745736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No dormant database of faces sitting on a</a:t>
            </a:r>
          </a:p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server after the weekend, waiting for the</a:t>
            </a:r>
          </a:p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breach that makes it a news story.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2225528" y="5669280"/>
            <a:ext cx="5513832" cy="3063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2609576" y="6035040"/>
            <a:ext cx="749808" cy="749808"/>
          </a:xfrm>
          <a:prstGeom prst="roundRect">
            <a:avLst>
              <a:gd name="adj" fmla="val 18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609576" y="6254496"/>
            <a:ext cx="74980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6D28D9"/>
                </a:solidFill>
                <a:latin typeface="Consolas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609576" y="7040880"/>
            <a:ext cx="47457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>
                <a:solidFill>
                  <a:srgbClr val="221C36"/>
                </a:solidFill>
                <a:latin typeface="Segoe UI"/>
              </a:rPr>
              <a:t>A breach yields nothing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609576" y="7589520"/>
            <a:ext cx="4745736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There are no photographs to steal. Only keys,</a:t>
            </a:r>
          </a:p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and a key cannot be turned back into a face</a:t>
            </a:r>
          </a:p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by anybody, ourselves included.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8961120"/>
            <a:ext cx="17190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6D28D9"/>
                </a:solidFill>
                <a:latin typeface="Segoe UI"/>
              </a:rPr>
              <a:t>Built against India's DPDP Act: a stated purpose, recorded consent, a retention limit, and erasure on request.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spc="180">
                <a:solidFill>
                  <a:srgbClr val="6B6480"/>
                </a:solidFill>
                <a:latin typeface="Consolas"/>
              </a:rPr>
              <a:t>WHAT THE DOOR HANDS 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60" y="603504"/>
            <a:ext cx="5486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spc="180">
                <a:solidFill>
                  <a:srgbClr val="C4BCDD"/>
                </a:solidFill>
                <a:latin typeface="Consolas"/>
              </a:rPr>
              <a:t>08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9546336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spc="140">
                <a:solidFill>
                  <a:srgbClr val="C4BCDD"/>
                </a:solidFill>
                <a:latin typeface="Consolas"/>
              </a:rPr>
              <a:t>For Marwah Sports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141732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200" b="0">
                <a:solidFill>
                  <a:srgbClr val="221C36"/>
                </a:solidFill>
                <a:latin typeface="Segoe UI Light"/>
              </a:rPr>
              <a:t>Counting, not surveillance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246120"/>
            <a:ext cx="2194560" cy="5486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657600"/>
            <a:ext cx="148132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650" b="0">
                <a:solidFill>
                  <a:srgbClr val="4A4265"/>
                </a:solidFill>
                <a:latin typeface="Segoe UI"/>
              </a:rPr>
              <a:t>Because the face is destroyed at the gate, what is left is arithmetic — the numbers an operations plan and a sponsor report both need, and that a privacy-literate audience has no reason to object 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669280"/>
            <a:ext cx="4059936" cy="3063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32688" y="6035040"/>
            <a:ext cx="749808" cy="749808"/>
          </a:xfrm>
          <a:prstGeom prst="roundRect">
            <a:avLst>
              <a:gd name="adj" fmla="val 18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6254496"/>
            <a:ext cx="74980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6D28D9"/>
                </a:solidFill>
                <a:latin typeface="Consolas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704088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600" b="1">
                <a:solidFill>
                  <a:srgbClr val="221C36"/>
                </a:solidFill>
                <a:latin typeface="Segoe UI"/>
              </a:rPr>
              <a:t>True unique footfall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7589520"/>
            <a:ext cx="32918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250" b="0">
                <a:solidFill>
                  <a:srgbClr val="6B6480"/>
                </a:solidFill>
                <a:latin typeface="Segoe UI"/>
              </a:rPr>
              <a:t>How many individual people came,</a:t>
            </a:r>
          </a:p>
          <a:p>
            <a:pPr algn="l">
              <a:lnSpc>
                <a:spcPct val="136000"/>
              </a:lnSpc>
            </a:pPr>
            <a:r>
              <a:rPr sz="1250" b="0">
                <a:solidFill>
                  <a:srgbClr val="6B6480"/>
                </a:solidFill>
                <a:latin typeface="Segoe UI"/>
              </a:rPr>
              <a:t>held apart from total entries,</a:t>
            </a:r>
          </a:p>
          <a:p>
            <a:pPr algn="l">
              <a:lnSpc>
                <a:spcPct val="136000"/>
              </a:lnSpc>
            </a:pPr>
            <a:r>
              <a:rPr sz="1250" b="0">
                <a:solidFill>
                  <a:srgbClr val="6B6480"/>
                </a:solidFill>
                <a:latin typeface="Segoe UI"/>
              </a:rPr>
              <a:t>which re-entry inflates today.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28616" y="5669280"/>
            <a:ext cx="4059936" cy="3063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312664" y="6035040"/>
            <a:ext cx="749808" cy="749808"/>
          </a:xfrm>
          <a:prstGeom prst="roundRect">
            <a:avLst>
              <a:gd name="adj" fmla="val 18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12664" y="6254496"/>
            <a:ext cx="74980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6D28D9"/>
                </a:solidFill>
                <a:latin typeface="Consolas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12664" y="704088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600" b="1">
                <a:solidFill>
                  <a:srgbClr val="221C36"/>
                </a:solidFill>
                <a:latin typeface="Segoe UI"/>
              </a:rPr>
              <a:t>Hour by hour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12664" y="7589520"/>
            <a:ext cx="32918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250" b="0">
                <a:solidFill>
                  <a:srgbClr val="6B6480"/>
                </a:solidFill>
                <a:latin typeface="Segoe UI"/>
              </a:rPr>
              <a:t>Where the peak actually sat, so</a:t>
            </a:r>
          </a:p>
          <a:p>
            <a:pPr algn="l">
              <a:lnSpc>
                <a:spcPct val="136000"/>
              </a:lnSpc>
            </a:pPr>
            <a:r>
              <a:rPr sz="1250" b="0">
                <a:solidFill>
                  <a:srgbClr val="6B6480"/>
                </a:solidFill>
                <a:latin typeface="Segoe UI"/>
              </a:rPr>
              <a:t>day two is staffed for the real</a:t>
            </a:r>
          </a:p>
          <a:p>
            <a:pPr algn="l">
              <a:lnSpc>
                <a:spcPct val="136000"/>
              </a:lnSpc>
            </a:pPr>
            <a:r>
              <a:rPr sz="1250" b="0">
                <a:solidFill>
                  <a:srgbClr val="6B6480"/>
                </a:solidFill>
                <a:latin typeface="Segoe UI"/>
              </a:rPr>
              <a:t>curve and not last year's guess.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99448" y="5669280"/>
            <a:ext cx="4059936" cy="3063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683496" y="6035040"/>
            <a:ext cx="749808" cy="749808"/>
          </a:xfrm>
          <a:prstGeom prst="roundRect">
            <a:avLst>
              <a:gd name="adj" fmla="val 18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83496" y="6254496"/>
            <a:ext cx="74980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6D28D9"/>
                </a:solidFill>
                <a:latin typeface="Consolas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83496" y="704088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600" b="1">
                <a:solidFill>
                  <a:srgbClr val="221C36"/>
                </a:solidFill>
                <a:latin typeface="Segoe UI"/>
              </a:rPr>
              <a:t>Gate by gate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83496" y="7589520"/>
            <a:ext cx="32918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250" b="0">
                <a:solidFill>
                  <a:srgbClr val="6B6480"/>
                </a:solidFill>
                <a:latin typeface="Segoe UI"/>
              </a:rPr>
              <a:t>Which entrance carried the load</a:t>
            </a:r>
          </a:p>
          <a:p>
            <a:pPr algn="l">
              <a:lnSpc>
                <a:spcPct val="136000"/>
              </a:lnSpc>
            </a:pPr>
            <a:r>
              <a:rPr sz="1250" b="0">
                <a:solidFill>
                  <a:srgbClr val="6B6480"/>
                </a:solidFill>
                <a:latin typeface="Segoe UI"/>
              </a:rPr>
              <a:t>and which stood idle, while you</a:t>
            </a:r>
          </a:p>
          <a:p>
            <a:pPr algn="l">
              <a:lnSpc>
                <a:spcPct val="136000"/>
              </a:lnSpc>
            </a:pPr>
            <a:r>
              <a:rPr sz="1250" b="0">
                <a:solidFill>
                  <a:srgbClr val="6B6480"/>
                </a:solidFill>
                <a:latin typeface="Segoe UI"/>
              </a:rPr>
              <a:t>can still move people across.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3679424" y="5669280"/>
            <a:ext cx="4059936" cy="3063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4063472" y="6035040"/>
            <a:ext cx="749808" cy="749808"/>
          </a:xfrm>
          <a:prstGeom prst="roundRect">
            <a:avLst>
              <a:gd name="adj" fmla="val 18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063472" y="6254496"/>
            <a:ext cx="74980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6D28D9"/>
                </a:solidFill>
                <a:latin typeface="Consolas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063472" y="704088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600" b="1">
                <a:solidFill>
                  <a:srgbClr val="221C36"/>
                </a:solidFill>
                <a:latin typeface="Segoe UI"/>
              </a:rPr>
              <a:t>Live capacity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063472" y="7589520"/>
            <a:ext cx="32918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250" b="0">
                <a:solidFill>
                  <a:srgbClr val="6B6480"/>
                </a:solidFill>
                <a:latin typeface="Segoe UI"/>
              </a:rPr>
              <a:t>A running count of who is inside,</a:t>
            </a:r>
          </a:p>
          <a:p>
            <a:pPr algn="l">
              <a:lnSpc>
                <a:spcPct val="136000"/>
              </a:lnSpc>
            </a:pPr>
            <a:r>
              <a:rPr sz="1250" b="0">
                <a:solidFill>
                  <a:srgbClr val="6B6480"/>
                </a:solidFill>
                <a:latin typeface="Segoe UI"/>
              </a:rPr>
              <a:t>for the venue, the fire officer</a:t>
            </a:r>
          </a:p>
          <a:p>
            <a:pPr algn="l">
              <a:lnSpc>
                <a:spcPct val="136000"/>
              </a:lnSpc>
            </a:pPr>
            <a:r>
              <a:rPr sz="1250" b="0">
                <a:solidFill>
                  <a:srgbClr val="6B6480"/>
                </a:solidFill>
                <a:latin typeface="Segoe UI"/>
              </a:rPr>
              <a:t>and the local authority.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8961120"/>
            <a:ext cx="17190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6D28D9"/>
                </a:solidFill>
                <a:latin typeface="Segoe UI"/>
              </a:rPr>
              <a:t>Counts and timings only. No movement trails, no dwell tracking, no profiles — the things that would make this audience turn on you.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spc="180">
                <a:solidFill>
                  <a:srgbClr val="6B6480"/>
                </a:solidFill>
                <a:latin typeface="Consolas"/>
              </a:rPr>
              <a:t>THE SAME LAYER, ELSEWHERE IN THE GROUP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60" y="603504"/>
            <a:ext cx="5486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spc="180">
                <a:solidFill>
                  <a:srgbClr val="C4BCDD"/>
                </a:solidFill>
                <a:latin typeface="Consolas"/>
              </a:rPr>
              <a:t>09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9546336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spc="140">
                <a:solidFill>
                  <a:srgbClr val="C4BCDD"/>
                </a:solidFill>
                <a:latin typeface="Consolas"/>
              </a:rPr>
              <a:t>For Marwah Sports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141732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200" b="0">
                <a:solidFill>
                  <a:srgbClr val="221C36"/>
                </a:solidFill>
                <a:latin typeface="Segoe UI Light"/>
              </a:rPr>
              <a:t>One identity layer.</a:t>
            </a:r>
          </a:p>
          <a:p>
            <a:pPr algn="l">
              <a:lnSpc>
                <a:spcPct val="106000"/>
              </a:lnSpc>
            </a:pPr>
            <a:r>
              <a:rPr sz="4200" b="0">
                <a:solidFill>
                  <a:srgbClr val="221C36"/>
                </a:solidFill>
                <a:latin typeface="Segoe UI Light"/>
              </a:rPr>
              <a:t>Four doors you already operate.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977639"/>
            <a:ext cx="2194560" cy="5486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389120"/>
            <a:ext cx="148132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650" b="0">
                <a:solidFill>
                  <a:srgbClr val="4A4265"/>
                </a:solidFill>
                <a:latin typeface="Segoe UI"/>
              </a:rPr>
              <a:t>Nothing here is a second product or a second contract. It is the same tablet, the same enrolment and the same rules, pointed at a different door.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669280"/>
            <a:ext cx="4059936" cy="3063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32688" y="6035040"/>
            <a:ext cx="749808" cy="749808"/>
          </a:xfrm>
          <a:prstGeom prst="roundRect">
            <a:avLst>
              <a:gd name="adj" fmla="val 18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6254496"/>
            <a:ext cx="74980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6D28D9"/>
                </a:solidFill>
                <a:latin typeface="Consolas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704088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600" b="1">
                <a:solidFill>
                  <a:srgbClr val="221C36"/>
                </a:solidFill>
                <a:latin typeface="Segoe UI"/>
              </a:rPr>
              <a:t>Tournament floor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7589520"/>
            <a:ext cx="32918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250" b="0">
                <a:solidFill>
                  <a:srgbClr val="6B6480"/>
                </a:solidFill>
                <a:latin typeface="Segoe UI"/>
              </a:rPr>
              <a:t>Players, crew, press and talent,</a:t>
            </a:r>
          </a:p>
          <a:p>
            <a:pPr algn="l">
              <a:lnSpc>
                <a:spcPct val="136000"/>
              </a:lnSpc>
            </a:pPr>
            <a:r>
              <a:rPr sz="1250" b="0">
                <a:solidFill>
                  <a:srgbClr val="6B6480"/>
                </a:solidFill>
                <a:latin typeface="Segoe UI"/>
              </a:rPr>
              <a:t>each with their own zone and</a:t>
            </a:r>
          </a:p>
          <a:p>
            <a:pPr algn="l">
              <a:lnSpc>
                <a:spcPct val="136000"/>
              </a:lnSpc>
            </a:pPr>
            <a:r>
              <a:rPr sz="1250" b="0">
                <a:solidFill>
                  <a:srgbClr val="6B6480"/>
                </a:solidFill>
                <a:latin typeface="Segoe UI"/>
              </a:rPr>
              <a:t>their own hours on the pass.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28616" y="5669280"/>
            <a:ext cx="4059936" cy="3063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312664" y="6035040"/>
            <a:ext cx="749808" cy="749808"/>
          </a:xfrm>
          <a:prstGeom prst="roundRect">
            <a:avLst>
              <a:gd name="adj" fmla="val 18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12664" y="6254496"/>
            <a:ext cx="74980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6D28D9"/>
                </a:solidFill>
                <a:latin typeface="Consolas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12664" y="704088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600" b="1">
                <a:solidFill>
                  <a:srgbClr val="221C36"/>
                </a:solidFill>
                <a:latin typeface="Segoe UI"/>
              </a:rPr>
              <a:t>Bootcamp &amp; team house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12664" y="7589520"/>
            <a:ext cx="32918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250" b="0">
                <a:solidFill>
                  <a:srgbClr val="6B6480"/>
                </a:solidFill>
                <a:latin typeface="Segoe UI"/>
              </a:rPr>
              <a:t>Who is in the house, and who let</a:t>
            </a:r>
          </a:p>
          <a:p>
            <a:pPr algn="l">
              <a:lnSpc>
                <a:spcPct val="136000"/>
              </a:lnSpc>
            </a:pPr>
            <a:r>
              <a:rPr sz="1250" b="0">
                <a:solidFill>
                  <a:srgbClr val="6B6480"/>
                </a:solidFill>
                <a:latin typeface="Segoe UI"/>
              </a:rPr>
              <a:t>them in — answered without a</a:t>
            </a:r>
          </a:p>
          <a:p>
            <a:pPr algn="l">
              <a:lnSpc>
                <a:spcPct val="136000"/>
              </a:lnSpc>
            </a:pPr>
            <a:r>
              <a:rPr sz="1250" b="0">
                <a:solidFill>
                  <a:srgbClr val="6B6480"/>
                </a:solidFill>
                <a:latin typeface="Segoe UI"/>
              </a:rPr>
              <a:t>register on a clipboard.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99448" y="5669280"/>
            <a:ext cx="4059936" cy="3063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683496" y="6035040"/>
            <a:ext cx="749808" cy="749808"/>
          </a:xfrm>
          <a:prstGeom prst="roundRect">
            <a:avLst>
              <a:gd name="adj" fmla="val 18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83496" y="6254496"/>
            <a:ext cx="74980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6D28D9"/>
                </a:solidFill>
                <a:latin typeface="Consolas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83496" y="704088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600" b="1">
                <a:solidFill>
                  <a:srgbClr val="221C36"/>
                </a:solidFill>
                <a:latin typeface="Segoe UI"/>
              </a:rPr>
              <a:t>SCORE facilities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83496" y="7589520"/>
            <a:ext cx="32918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250" b="0">
                <a:solidFill>
                  <a:srgbClr val="6B6480"/>
                </a:solidFill>
                <a:latin typeface="Segoe UI"/>
              </a:rPr>
              <a:t>Mumbai and Chennai. Memberships</a:t>
            </a:r>
          </a:p>
          <a:p>
            <a:pPr algn="l">
              <a:lnSpc>
                <a:spcPct val="136000"/>
              </a:lnSpc>
            </a:pPr>
            <a:r>
              <a:rPr sz="1250" b="0">
                <a:solidFill>
                  <a:srgbClr val="6B6480"/>
                </a:solidFill>
                <a:latin typeface="Segoe UI"/>
              </a:rPr>
              <a:t>and slot bookings that stop being</a:t>
            </a:r>
          </a:p>
          <a:p>
            <a:pPr algn="l">
              <a:lnSpc>
                <a:spcPct val="136000"/>
              </a:lnSpc>
            </a:pPr>
            <a:r>
              <a:rPr sz="1250" b="0">
                <a:solidFill>
                  <a:srgbClr val="6B6480"/>
                </a:solidFill>
                <a:latin typeface="Segoe UI"/>
              </a:rPr>
              <a:t>lent between friends.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3679424" y="5669280"/>
            <a:ext cx="4059936" cy="3063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4063472" y="6035040"/>
            <a:ext cx="749808" cy="749808"/>
          </a:xfrm>
          <a:prstGeom prst="roundRect">
            <a:avLst>
              <a:gd name="adj" fmla="val 18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063472" y="6254496"/>
            <a:ext cx="74980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6D28D9"/>
                </a:solidFill>
                <a:latin typeface="Consolas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063472" y="704088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600" b="1">
                <a:solidFill>
                  <a:srgbClr val="221C36"/>
                </a:solidFill>
                <a:latin typeface="Segoe UI"/>
              </a:rPr>
              <a:t>Football &amp; kabaddi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063472" y="7589520"/>
            <a:ext cx="32918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250" b="0">
                <a:solidFill>
                  <a:srgbClr val="6B6480"/>
                </a:solidFill>
                <a:latin typeface="Segoe UI"/>
              </a:rPr>
              <a:t>Squad verification on matchday,</a:t>
            </a:r>
          </a:p>
          <a:p>
            <a:pPr algn="l">
              <a:lnSpc>
                <a:spcPct val="136000"/>
              </a:lnSpc>
            </a:pPr>
            <a:r>
              <a:rPr sz="1250" b="0">
                <a:solidFill>
                  <a:srgbClr val="6B6480"/>
                </a:solidFill>
                <a:latin typeface="Segoe UI"/>
              </a:rPr>
              <a:t>and staff access to the areas</a:t>
            </a:r>
          </a:p>
          <a:p>
            <a:pPr algn="l">
              <a:lnSpc>
                <a:spcPct val="136000"/>
              </a:lnSpc>
            </a:pPr>
            <a:r>
              <a:rPr sz="1250" b="0">
                <a:solidFill>
                  <a:srgbClr val="6B6480"/>
                </a:solidFill>
                <a:latin typeface="Segoe UI"/>
              </a:rPr>
              <a:t>meant to be restricted.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8961120"/>
            <a:ext cx="17190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6D28D9"/>
                </a:solidFill>
                <a:latin typeface="Segoe UI"/>
              </a:rPr>
              <a:t>Mumbai Ultras, SCORE and the tournament IPs each have a door problem. It is the same door problem.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spc="180">
                <a:solidFill>
                  <a:srgbClr val="6B6480"/>
                </a:solidFill>
                <a:latin typeface="Consolas"/>
              </a:rP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60" y="603504"/>
            <a:ext cx="5486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spc="180">
                <a:solidFill>
                  <a:srgbClr val="C4BCDD"/>
                </a:solidFill>
                <a:latin typeface="Consolas"/>
              </a:rPr>
              <a:t>10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9546336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spc="140">
                <a:solidFill>
                  <a:srgbClr val="C4BCDD"/>
                </a:solidFill>
                <a:latin typeface="Consolas"/>
              </a:rPr>
              <a:t>For Marwah Sports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141732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200" b="0">
                <a:solidFill>
                  <a:srgbClr val="221C36"/>
                </a:solidFill>
                <a:latin typeface="Segoe UI Light"/>
              </a:rPr>
              <a:t>One event. One lane. Beside your existing entry.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246120"/>
            <a:ext cx="2194560" cy="5486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657600"/>
            <a:ext cx="148132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650" b="0">
                <a:solidFill>
                  <a:srgbClr val="4A4265"/>
                </a:solidFill>
                <a:latin typeface="Segoe UI"/>
              </a:rPr>
              <a:t>Give us a single lane at one Marwah event, running in parallel with your normal entry. Your counters stay open the whole time, and nothing about the run-sheet changes.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669280"/>
            <a:ext cx="5513832" cy="3063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32688" y="6035040"/>
            <a:ext cx="749808" cy="749808"/>
          </a:xfrm>
          <a:prstGeom prst="roundRect">
            <a:avLst>
              <a:gd name="adj" fmla="val 18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6254496"/>
            <a:ext cx="74980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6D28D9"/>
                </a:solidFill>
                <a:latin typeface="Consolas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7040880"/>
            <a:ext cx="47457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>
                <a:solidFill>
                  <a:srgbClr val="221C36"/>
                </a:solidFill>
                <a:latin typeface="Segoe UI"/>
              </a:rPr>
              <a:t>What we bring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7589520"/>
            <a:ext cx="4745736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Tablets on stands, in a flight case, and the</a:t>
            </a:r>
          </a:p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people to run them. Set up in an hour, packed</a:t>
            </a:r>
          </a:p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down the same night.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82512" y="5669280"/>
            <a:ext cx="5513832" cy="3063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66560" y="6035040"/>
            <a:ext cx="749808" cy="749808"/>
          </a:xfrm>
          <a:prstGeom prst="roundRect">
            <a:avLst>
              <a:gd name="adj" fmla="val 18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6254496"/>
            <a:ext cx="74980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6D28D9"/>
                </a:solidFill>
                <a:latin typeface="Consolas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7040880"/>
            <a:ext cx="47457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>
                <a:solidFill>
                  <a:srgbClr val="221C36"/>
                </a:solidFill>
                <a:latin typeface="Segoe UI"/>
              </a:rPr>
              <a:t>What you change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7589520"/>
            <a:ext cx="4745736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Nothing. Entrants opt in when they book, and</a:t>
            </a:r>
          </a:p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everybody else walks up to your counter</a:t>
            </a:r>
          </a:p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exactly as they do today.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225528" y="5669280"/>
            <a:ext cx="5513832" cy="3063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2609576" y="6035040"/>
            <a:ext cx="749808" cy="749808"/>
          </a:xfrm>
          <a:prstGeom prst="roundRect">
            <a:avLst>
              <a:gd name="adj" fmla="val 18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609576" y="6254496"/>
            <a:ext cx="74980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6D28D9"/>
                </a:solidFill>
                <a:latin typeface="Consolas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609576" y="7040880"/>
            <a:ext cx="47457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>
                <a:solidFill>
                  <a:srgbClr val="221C36"/>
                </a:solidFill>
                <a:latin typeface="Segoe UI"/>
              </a:rPr>
              <a:t>What we measure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609576" y="7589520"/>
            <a:ext cx="4745736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People per lane per hour from doors-open,</a:t>
            </a:r>
          </a:p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side by side with your own counter, across</a:t>
            </a:r>
          </a:p>
          <a:p>
            <a:pPr algn="l">
              <a:lnSpc>
                <a:spcPct val="136000"/>
              </a:lnSpc>
            </a:pPr>
            <a:r>
              <a:rPr sz="1300" b="0">
                <a:solidFill>
                  <a:srgbClr val="6B6480"/>
                </a:solidFill>
                <a:latin typeface="Segoe UI"/>
              </a:rPr>
              <a:t>the full weekend.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8961120"/>
            <a:ext cx="17190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6D28D9"/>
                </a:solidFill>
                <a:latin typeface="Segoe UI"/>
              </a:rPr>
              <a:t>If we do not beat your counter on throughput, there is nothing to discuss afterwards.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2252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spc="180">
                <a:solidFill>
                  <a:srgbClr val="6B6480"/>
                </a:solidFill>
                <a:latin typeface="Consolas"/>
              </a:rPr>
              <a:t>IN ONE BREATH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60" y="603504"/>
            <a:ext cx="5486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0" spc="180">
                <a:solidFill>
                  <a:srgbClr val="C4BCDD"/>
                </a:solidFill>
                <a:latin typeface="Consolas"/>
              </a:rPr>
              <a:t>11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9400032"/>
            <a:ext cx="17190720" cy="0"/>
          </a:xfrm>
          <a:prstGeom prst="line">
            <a:avLst/>
          </a:prstGeom>
          <a:ln w="12700">
            <a:solidFill>
              <a:srgbClr val="DD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9546336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spc="180">
                <a:solidFill>
                  <a:srgbClr val="6B6480"/>
                </a:solidFill>
                <a:latin typeface="Consolas"/>
              </a:rPr>
              <a:t>BIOCORE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9546336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0" spc="140">
                <a:solidFill>
                  <a:srgbClr val="C4BCDD"/>
                </a:solidFill>
                <a:latin typeface="Consolas"/>
              </a:rPr>
              <a:t>For Marwah Sports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141732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200" b="0">
                <a:solidFill>
                  <a:srgbClr val="221C36"/>
                </a:solidFill>
                <a:latin typeface="Segoe UI Light"/>
              </a:rPr>
              <a:t>Zero risk to the run-sheet.</a:t>
            </a:r>
          </a:p>
          <a:p>
            <a:pPr algn="l">
              <a:lnSpc>
                <a:spcPct val="106000"/>
              </a:lnSpc>
            </a:pPr>
            <a:r>
              <a:rPr sz="4200" b="0">
                <a:solidFill>
                  <a:srgbClr val="221C36"/>
                </a:solidFill>
                <a:latin typeface="Segoe UI Light"/>
              </a:rPr>
              <a:t>A number you can check on the night.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977639"/>
            <a:ext cx="2194560" cy="5486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389120"/>
            <a:ext cx="148132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650" b="0">
                <a:solidFill>
                  <a:srgbClr val="4A4265"/>
                </a:solidFill>
                <a:latin typeface="Segoe UI"/>
              </a:rPr>
              <a:t>One lane, at one event, and a throughput figure you can read for yourself before the weekend is over.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669280"/>
            <a:ext cx="4059936" cy="3063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32688" y="6035040"/>
            <a:ext cx="749808" cy="749808"/>
          </a:xfrm>
          <a:prstGeom prst="roundRect">
            <a:avLst>
              <a:gd name="adj" fmla="val 18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6254496"/>
            <a:ext cx="74980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6D28D9"/>
                </a:solidFill>
                <a:latin typeface="Consolas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704088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600" b="1">
                <a:solidFill>
                  <a:srgbClr val="221C36"/>
                </a:solidFill>
                <a:latin typeface="Segoe UI"/>
              </a:rPr>
              <a:t>Operations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7589520"/>
            <a:ext cx="32918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250" b="0">
                <a:solidFill>
                  <a:srgbClr val="6B6480"/>
                </a:solidFill>
                <a:latin typeface="Segoe UI"/>
              </a:rPr>
              <a:t>One lane. Your counters and</a:t>
            </a:r>
          </a:p>
          <a:p>
            <a:pPr algn="l">
              <a:lnSpc>
                <a:spcPct val="136000"/>
              </a:lnSpc>
            </a:pPr>
            <a:r>
              <a:rPr sz="1250" b="0">
                <a:solidFill>
                  <a:srgbClr val="6B6480"/>
                </a:solidFill>
                <a:latin typeface="Segoe UI"/>
              </a:rPr>
              <a:t>your staffing stay exactly</a:t>
            </a:r>
          </a:p>
          <a:p>
            <a:pPr algn="l">
              <a:lnSpc>
                <a:spcPct val="136000"/>
              </a:lnSpc>
            </a:pPr>
            <a:r>
              <a:rPr sz="1250" b="0">
                <a:solidFill>
                  <a:srgbClr val="6B6480"/>
                </a:solidFill>
                <a:latin typeface="Segoe UI"/>
              </a:rPr>
              <a:t>as they are today.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28616" y="5669280"/>
            <a:ext cx="4059936" cy="3063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312664" y="6035040"/>
            <a:ext cx="749808" cy="749808"/>
          </a:xfrm>
          <a:prstGeom prst="roundRect">
            <a:avLst>
              <a:gd name="adj" fmla="val 18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12664" y="6254496"/>
            <a:ext cx="74980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6D28D9"/>
                </a:solidFill>
                <a:latin typeface="Consolas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12664" y="704088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600" b="1">
                <a:solidFill>
                  <a:srgbClr val="221C36"/>
                </a:solidFill>
                <a:latin typeface="Segoe UI"/>
              </a:rPr>
              <a:t>Revenue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12664" y="7589520"/>
            <a:ext cx="32918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250" b="0">
                <a:solidFill>
                  <a:srgbClr val="6B6480"/>
                </a:solidFill>
                <a:latin typeface="Segoe UI"/>
              </a:rPr>
              <a:t>Passes that cannot be lent,</a:t>
            </a:r>
          </a:p>
          <a:p>
            <a:pPr algn="l">
              <a:lnSpc>
                <a:spcPct val="136000"/>
              </a:lnSpc>
            </a:pPr>
            <a:r>
              <a:rPr sz="1250" b="0">
                <a:solidFill>
                  <a:srgbClr val="6B6480"/>
                </a:solidFill>
                <a:latin typeface="Segoe UI"/>
              </a:rPr>
              <a:t>a shorter queue, and a crowd</a:t>
            </a:r>
          </a:p>
          <a:p>
            <a:pPr algn="l">
              <a:lnSpc>
                <a:spcPct val="136000"/>
              </a:lnSpc>
            </a:pPr>
            <a:r>
              <a:rPr sz="1250" b="0">
                <a:solidFill>
                  <a:srgbClr val="6B6480"/>
                </a:solidFill>
                <a:latin typeface="Segoe UI"/>
              </a:rPr>
              <a:t>inside the hall spending.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99448" y="5669280"/>
            <a:ext cx="4059936" cy="3063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683496" y="6035040"/>
            <a:ext cx="749808" cy="749808"/>
          </a:xfrm>
          <a:prstGeom prst="roundRect">
            <a:avLst>
              <a:gd name="adj" fmla="val 18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83496" y="6254496"/>
            <a:ext cx="74980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6D28D9"/>
                </a:solidFill>
                <a:latin typeface="Consolas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83496" y="704088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600" b="1">
                <a:solidFill>
                  <a:srgbClr val="221C36"/>
                </a:solidFill>
                <a:latin typeface="Segoe UI"/>
              </a:rPr>
              <a:t>Accountability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83496" y="7589520"/>
            <a:ext cx="32918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250" b="0">
                <a:solidFill>
                  <a:srgbClr val="6B6480"/>
                </a:solidFill>
                <a:latin typeface="Segoe UI"/>
              </a:rPr>
              <a:t>Every entry attached to a person,</a:t>
            </a:r>
          </a:p>
          <a:p>
            <a:pPr algn="l">
              <a:lnSpc>
                <a:spcPct val="136000"/>
              </a:lnSpc>
            </a:pPr>
            <a:r>
              <a:rPr sz="1250" b="0">
                <a:solidFill>
                  <a:srgbClr val="6B6480"/>
                </a:solidFill>
                <a:latin typeface="Segoe UI"/>
              </a:rPr>
              <a:t>so a dispute has a record</a:t>
            </a:r>
          </a:p>
          <a:p>
            <a:pPr algn="l">
              <a:lnSpc>
                <a:spcPct val="136000"/>
              </a:lnSpc>
            </a:pPr>
            <a:r>
              <a:rPr sz="1250" b="0">
                <a:solidFill>
                  <a:srgbClr val="6B6480"/>
                </a:solidFill>
                <a:latin typeface="Segoe UI"/>
              </a:rPr>
              <a:t>instead of an argument.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3679424" y="5669280"/>
            <a:ext cx="4059936" cy="3063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4063472" y="6035040"/>
            <a:ext cx="749808" cy="749808"/>
          </a:xfrm>
          <a:prstGeom prst="roundRect">
            <a:avLst>
              <a:gd name="adj" fmla="val 18000"/>
            </a:avLst>
          </a:prstGeom>
          <a:solidFill>
            <a:srgbClr val="ED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063472" y="6254496"/>
            <a:ext cx="74980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6D28D9"/>
                </a:solidFill>
                <a:latin typeface="Consolas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063472" y="704088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600" b="1">
                <a:solidFill>
                  <a:srgbClr val="221C36"/>
                </a:solidFill>
                <a:latin typeface="Segoe UI"/>
              </a:rPr>
              <a:t>Privacy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063472" y="7589520"/>
            <a:ext cx="32918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250" b="0">
                <a:solidFill>
                  <a:srgbClr val="6B6480"/>
                </a:solidFill>
                <a:latin typeface="Segoe UI"/>
              </a:rPr>
              <a:t>No photograph kept, no database</a:t>
            </a:r>
          </a:p>
          <a:p>
            <a:pPr algn="l">
              <a:lnSpc>
                <a:spcPct val="136000"/>
              </a:lnSpc>
            </a:pPr>
            <a:r>
              <a:rPr sz="1250" b="0">
                <a:solidFill>
                  <a:srgbClr val="6B6480"/>
                </a:solidFill>
                <a:latin typeface="Segoe UI"/>
              </a:rPr>
              <a:t>left behind, and an erasure</a:t>
            </a:r>
          </a:p>
          <a:p>
            <a:pPr algn="l">
              <a:lnSpc>
                <a:spcPct val="136000"/>
              </a:lnSpc>
            </a:pPr>
            <a:r>
              <a:rPr sz="1250" b="0">
                <a:solidFill>
                  <a:srgbClr val="6B6480"/>
                </a:solidFill>
                <a:latin typeface="Segoe UI"/>
              </a:rPr>
              <a:t>certificate on request.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8961120"/>
            <a:ext cx="17190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6D28D9"/>
                </a:solidFill>
                <a:latin typeface="Segoe UI"/>
              </a:rPr>
              <a:t>All we need is one lane at one event, and somebody of yours at the door on the Saturday morning.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