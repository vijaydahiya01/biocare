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SCHOOL-FACING DECK  |  WHAT YOUR TEAM SHOWS A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800 children.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Fifteen minutes.</a:t>
            </a:r>
          </a:p>
          <a:p>
            <a:pPr algn="l">
              <a:lnSpc>
                <a:spcPct val="106000"/>
              </a:lnSpc>
            </a:pPr>
            <a:r>
              <a:rPr sz="5200" b="0" i="0">
                <a:solidFill>
                  <a:srgbClr val="221C36"/>
                </a:solidFill>
                <a:latin typeface="Segoe UI Light"/>
              </a:rPr>
              <a:t>No queue.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1264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Attendance taken as they walk through the gate. Parents told when a child does not</a:t>
            </a:r>
          </a:p>
          <a:p>
            <a:pPr algn="l">
              <a:lnSpc>
                <a:spcPct val="136000"/>
              </a:lnSpc>
            </a:pPr>
            <a:r>
              <a:rPr sz="1700" b="0" i="0">
                <a:solidFill>
                  <a:srgbClr val="4A4265"/>
                </a:solidFill>
                <a:latin typeface="Segoe UI"/>
              </a:rPr>
              <a:t>arrive. And at 3pm, proof that the right adult collected the right child.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19456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2271248" y="257860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426696" y="273405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632436" y="2807208"/>
            <a:ext cx="27432" cy="1645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2646152" y="2962656"/>
            <a:ext cx="128016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304520" y="265176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Arrival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04520" y="309067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Marked present without stopping.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0" y="4526279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271248" y="4910327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2481560" y="508406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12426696" y="5394959"/>
            <a:ext cx="438912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304520" y="4983479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Absence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4520" y="542239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parent hears before first period.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6858000"/>
            <a:ext cx="58521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271248" y="724204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444984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664440" y="743407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12426696" y="7744968"/>
            <a:ext cx="438912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304520" y="7315200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21C36"/>
                </a:solidFill>
                <a:latin typeface="Segoe UI"/>
              </a:rPr>
              <a:t>Pickup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04520" y="7754112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Only the listed guardian collects.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MORNING YOU HAVE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Roll call eats the first lesson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Every class loses eight to ten minutes a day to a register. Across thirty sections that is four hours of teaching, gone, every single day — and the register still cannot tell you who is inside the building right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88136" y="6528816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293876" y="6601968"/>
            <a:ext cx="27432" cy="164592"/>
          </a:xfrm>
          <a:prstGeom prst="rect">
            <a:avLst/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307592" y="6757416"/>
            <a:ext cx="128015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gate crush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Eight hundred children arrive inside a fifteen-minute window. Any system that stops each child individually simply creates a queue down the road.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96163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7034784" y="6675120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34784" y="6766559"/>
            <a:ext cx="219456" cy="0"/>
          </a:xfrm>
          <a:prstGeom prst="line">
            <a:avLst/>
          </a:prstGeom>
          <a:ln w="1778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Proxy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colleges especially, a friend answers for an absent student. The register records a lie and nobody can check it afterwards.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78026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299972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12761976" y="6876288"/>
            <a:ext cx="438912" cy="0"/>
          </a:xfrm>
          <a:prstGeom prst="line">
            <a:avLst/>
          </a:prstGeom>
          <a:ln w="22860">
            <a:solidFill>
              <a:srgbClr val="C80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3pm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stranger says he is the uncle. The guard has a photocopied list and thirty seconds to decide. This is the risk that actually frightens a principal.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gate stays open. The register fills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For a school this is attendance and safeguarding — not security. Nobody is stopped at the gate. The camera simply notices who came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Nobody is stopped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Children walk through at their own pace, in groups, as they always have. No turnstile, no card, no queue.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61632" y="6528816"/>
            <a:ext cx="365760" cy="438912"/>
          </a:xfrm>
          <a:prstGeom prst="roundRect">
            <a:avLst>
              <a:gd name="adj" fmla="val 8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7034784" y="6675120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34784" y="6766559"/>
            <a:ext cx="219456" cy="0"/>
          </a:xfrm>
          <a:prstGeom prst="line">
            <a:avLst/>
          </a:prstGeom>
          <a:ln w="1778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register is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By the time the bell rings, every class list is complete and the teacher has not written a thing.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816840" y="6547104"/>
            <a:ext cx="329184" cy="310896"/>
          </a:xfrm>
          <a:prstGeom prst="roundRect">
            <a:avLst>
              <a:gd name="adj" fmla="val 4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761976" y="6858000"/>
            <a:ext cx="438912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Absence is noticed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child who has not arrived by the cut-off becomes a message to a parent,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YOU INSTALL AT 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19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tablet, a camera you own, or the gate you 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schools begin with one tablet at the main gate. Nothing is drilled, and nothing at the gate itself has to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6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0533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61288" y="6208776"/>
            <a:ext cx="292608" cy="43891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52728" y="6565392"/>
            <a:ext cx="109727" cy="0"/>
          </a:xfrm>
          <a:prstGeom prst="line">
            <a:avLst/>
          </a:prstGeom>
          <a:ln w="2032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6922008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tablet on a 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388352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cheapest way to start. An ordinary tablet on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floor stand or wall mount, facing the door. No civil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work, no wiring, nothing drilled.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669280"/>
            <a:ext cx="5516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0533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25056" y="6300216"/>
            <a:ext cx="365760" cy="274320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089648" y="63825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9608" y="6922008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CCTV you already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9608" y="7388352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Most schools already have cameras covering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gate. Where the angle and the light are good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enough, we read that feed and add nothing at 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22480" y="5669280"/>
            <a:ext cx="551688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2606528" y="605332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780264" y="622706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3109448" y="6227064"/>
            <a:ext cx="73152" cy="402336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12889992" y="6428232"/>
            <a:ext cx="1828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606528" y="6922008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gate you already 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388352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Keep the boom barrier, sliding gate or door you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have. Add a camera and a small screen; the software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opens what is already there.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A turnstile or flap barrier is available for controlled college, hostel and lab areas — at a school gate it only creates the queue you are removing.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84124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reception, a side door, a small gate.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84124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gate that is already covered.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09576" y="84124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working gate that should be smarter.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SCHOOL DAY  — 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07:30 to 09:00, as it actually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A 900-pupil school, one main gate and one bus bay.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07:38  —  BUS BAY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Boarding is logged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Children are marked on and off the bus, so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school knows who actually travelled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who was dropped.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07:44  —  MAIN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They walk straight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Groups of friends walk through together.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Nothing stops them. Attendance is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recorded as they pass.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08:05  —  CLASSROOM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register is already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class teacher sees a completed list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only has to confirm the two exceptions.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08:30  — 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Parents are told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Aarav has not arrived. His mother gets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message before the first lesson ends.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33688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Nobody was refused entry at any point in this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A REAL SCHOOL DAY  —  AFTERNOON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part that makes a principal 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Dismissal is the moment with real consequences — and the moment paper handles worst.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15:20  —  THE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right adult collects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guard's screen shows the child's photo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and who is authorised to collect. An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unlisted adult is held, not turned away.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15:35  —  A CHANGE OF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one-off is authorised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office adds an aunt for today only.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 sees her the moment she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arrives, and nothing is taken on trust.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16:00  —  LATE STAY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Who is still on campus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Clubs, coaching, detention — a live list of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every child still inside after hours.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ANY TIME  —  A DRILL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A headcount in seconds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Fire or earthquake: who is still in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building, as a list, not a guess.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BEYOND THE FRONT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The same cameras, four more problems solved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Once identity works at the gate, it works anywhere on campus you point a camera.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EXAM HALLS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right candidate 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Impersonation in competitive exams is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real and expensive problem. Verify the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candidate at the hall door.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632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9209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HOSTELS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209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Night curfew, honestly 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9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In and out times that a warden does not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have to write down, and a resident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cannot argue with.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401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69780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LABS &amp; WORKSHOPS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Controlled where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9780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Chemistry stores, machine rooms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server rooms can be gated even while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campus stays open.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81709" y="5989320"/>
            <a:ext cx="4057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4047469" y="6355080"/>
            <a:ext cx="33261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50">
                <a:solidFill>
                  <a:srgbClr val="6D28D9"/>
                </a:solidFill>
                <a:latin typeface="Consolas"/>
              </a:rPr>
              <a:t>STAFF 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47469" y="6784848"/>
            <a:ext cx="33261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Teachers too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47469" y="7360920"/>
            <a:ext cx="332613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same gate covers teaching and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support staff, and feeds payroll without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separate machine.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YOU CHOOSE HOW STRICT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It does not have to stop anybody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463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Most people assume a face system exists to refuse people. It does not have to.</a:t>
            </a:r>
          </a:p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The same cameras run either way — and one door can be open while another is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4C1D95"/>
                </a:solidFill>
                <a:latin typeface="Consolas"/>
              </a:rPr>
              <a:t>OPEN MODE  —  NOBODY IS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4C1D95"/>
                </a:solidFill>
                <a:latin typeface="Segoe UI"/>
              </a:rPr>
              <a:t>The gate never says 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Every child walks through, always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Attendance and a live headcount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C1D95"/>
                </a:solidFill>
                <a:latin typeface="Segoe UI"/>
              </a:rPr>
              <a:t>Alerts only where you ask for them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623560"/>
            <a:ext cx="84124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0" y="603504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spc="160">
                <a:solidFill>
                  <a:srgbClr val="6B6480"/>
                </a:solidFill>
                <a:latin typeface="Consolas"/>
              </a:rPr>
              <a:t>CONTROLLED MODE  —  THE DOOR DECIDES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221C36"/>
                </a:solidFill>
                <a:latin typeface="Segoe UI"/>
              </a:rPr>
              <a:t>Only the right people pass.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734263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04120" y="72694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Hostels, labs, exam halls, stores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7726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04120" y="76535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Rules by zone, role and time of 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1107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4120" y="8037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The guard can always override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7190720" cy="4206240"/>
          </a:xfrm>
          <a:prstGeom prst="roundRect">
            <a:avLst>
              <a:gd name="adj" fmla="val 35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 spc="200">
                <a:solidFill>
                  <a:srgbClr val="9C93BA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1554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400" b="0" i="0">
                <a:solidFill>
                  <a:srgbClr val="FFFFFF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00600"/>
            <a:ext cx="12801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The camera measures the face, turns those measurements into an encrypted</a:t>
            </a:r>
          </a:p>
          <a:p>
            <a:pPr algn="ctr">
              <a:lnSpc>
                <a:spcPct val="140000"/>
              </a:lnSpc>
            </a:pPr>
            <a:r>
              <a:rPr sz="1650" b="0" i="0">
                <a:solidFill>
                  <a:srgbClr val="C6BEE2"/>
                </a:solidFill>
                <a:latin typeface="Segoe UI"/>
              </a:rPr>
              <a:t>biometric template, and discards the picture. Only the template is kept.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92240"/>
            <a:ext cx="30175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41247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F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87551" y="6958583"/>
            <a:ext cx="438912" cy="438912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B6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106423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252728" y="70866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115567" y="7269479"/>
            <a:ext cx="182880" cy="0"/>
          </a:xfrm>
          <a:prstGeom prst="line">
            <a:avLst/>
          </a:prstGeom>
          <a:ln w="19050">
            <a:solidFill>
              <a:srgbClr val="6B6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9072" y="6931152"/>
            <a:ext cx="1737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21C36"/>
                </a:solidFill>
                <a:latin typeface="Segoe UI"/>
              </a:rPr>
              <a:t>The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733348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480"/>
                </a:solidFill>
                <a:latin typeface="Segoe UI"/>
              </a:rPr>
              <a:t>at the camera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7333488"/>
            <a:ext cx="868680" cy="0"/>
          </a:xfrm>
          <a:prstGeom prst="line">
            <a:avLst/>
          </a:prstGeom>
          <a:ln w="22860">
            <a:solidFill>
              <a:srgbClr val="6B6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290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6480"/>
                </a:solidFill>
                <a:latin typeface="Consolas"/>
              </a:rPr>
              <a:t>measures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649224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68580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a7f3  c19e  44b2  8d05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71688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221C36"/>
                </a:solidFill>
                <a:latin typeface="Consolas"/>
              </a:rPr>
              <a:t>e6b1  902c  7fd4 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7571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21C36"/>
                </a:solidFill>
                <a:latin typeface="Segoe UI"/>
              </a:rPr>
              <a:t>Encrypted biometric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7863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480"/>
                </a:solidFill>
                <a:latin typeface="Segoe UI"/>
              </a:rPr>
              <a:t>encrypted at rest, never an image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7333488"/>
            <a:ext cx="868680" cy="0"/>
          </a:xfrm>
          <a:prstGeom prst="line">
            <a:avLst/>
          </a:prstGeom>
          <a:ln w="279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200" y="6876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D28D9"/>
                </a:solidFill>
                <a:latin typeface="Consolas"/>
              </a:rPr>
              <a:t>locked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6492240"/>
            <a:ext cx="3108960" cy="169164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893808" y="6812279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0076688" y="7141464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149840" y="6976872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771632" y="68945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4C1D95"/>
                </a:solidFill>
                <a:latin typeface="Segoe UI"/>
              </a:rPr>
              <a:t>Vaulted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1632" y="7278624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encrypted,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1D95"/>
                </a:solidFill>
                <a:latin typeface="Segoe UI"/>
              </a:rPr>
              <a:t>per place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304520" y="6400800"/>
            <a:ext cx="0" cy="1874519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944600" y="610819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spc="180">
                <a:solidFill>
                  <a:srgbClr val="C8011A"/>
                </a:solidFill>
                <a:latin typeface="Consolas"/>
              </a:rPr>
              <a:t>MEANWHILE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649224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FBE7E9"/>
          </a:solidFill>
          <a:ln w="17780">
            <a:solidFill>
              <a:srgbClr val="C80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4264640" y="687628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011A"/>
                </a:solidFill>
                <a:latin typeface="Segoe UI"/>
              </a:rPr>
              <a:t>The photograph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64640" y="7278624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of a child is deleted at that</a:t>
            </a:r>
          </a:p>
          <a:p>
            <a:pPr algn="l">
              <a:lnSpc>
                <a:spcPct val="134000"/>
              </a:lnSpc>
            </a:pPr>
            <a:r>
              <a:rPr sz="1250" b="0" i="0">
                <a:solidFill>
                  <a:srgbClr val="C8011A"/>
                </a:solidFill>
                <a:latin typeface="Segoe UI"/>
              </a:rPr>
              <a:t>same moment — never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CHILDREN, CONSENT AND THE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 i="0">
                <a:solidFill>
                  <a:srgbClr val="221C36"/>
                </a:solidFill>
                <a:latin typeface="Segoe UI Light"/>
              </a:rPr>
              <a:t>A child's face needs a parent's permission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Designed around the DPDP requirements for children's personal data. The Rules were notified in November 2025 with phased commencement, so treat this as the design we build to — not a claim that one slide makes a deployment compliant.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106424" y="6547104"/>
            <a:ext cx="402336" cy="402336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1216151" y="6766559"/>
            <a:ext cx="18288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 parent consents, not the 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Enrolment requires a verifiable parental consent,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recorded and timestamped — not a line in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prospectus nobody read.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556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6960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943344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162800" y="6565392"/>
            <a:ext cx="182880" cy="18288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6925056" y="6876288"/>
            <a:ext cx="438911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6960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Consent can be taken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960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 parent withdraws and the template is deleted.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Families who decline are never enrolled, and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non-biometric register runs alongside.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22480" y="5989320"/>
            <a:ext cx="55168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2606528" y="637336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2798552" y="6711696"/>
            <a:ext cx="365760" cy="256032"/>
          </a:xfrm>
          <a:prstGeom prst="roundRect">
            <a:avLst>
              <a:gd name="adj" fmla="val 16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871704" y="6547104"/>
            <a:ext cx="219456" cy="201168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606528" y="7306056"/>
            <a:ext cx="4748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No tracking of children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06528" y="7836408"/>
            <a:ext cx="4748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Arrival and departure only — the same events a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paper register holds. No movement history, no</a:t>
            </a:r>
          </a:p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behaviour profile, no stored video.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8942832"/>
            <a:ext cx="1719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spc="60">
                <a:solidFill>
                  <a:srgbClr val="4C1D95"/>
                </a:solidFill>
                <a:latin typeface="Consolas"/>
              </a:rPr>
              <a:t>Verifiable parental consent   ·   Purpose-limited processing   ·   Consent withdrawal   ·   Non-biometric alternative   ·   No behavioural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WHAT EACH SIDE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camera, three different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Priya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5806440"/>
            <a:ext cx="4663439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Walks in without a card or a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Never marked absent by mistake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25880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Nothing to lose, forget or lend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25880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Her photo is never stored anywhere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5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TEACHER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Mr Rao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5806440"/>
            <a:ext cx="4663441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6655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1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Gets back ten minutes of every lesson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1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register that is already complete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1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Sees who is genuinely absent, instantly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5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3231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No machine to operate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19" y="429768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572999" y="4709160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40">
                <a:solidFill>
                  <a:srgbClr val="6D28D9"/>
                </a:solidFill>
                <a:latin typeface="Consolas"/>
              </a:rPr>
              <a:t>FOR THE PRINCIPAL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299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221C36"/>
                </a:solidFill>
                <a:latin typeface="Segoe UI"/>
              </a:rPr>
              <a:t>Mrs Nair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572999" y="5806440"/>
            <a:ext cx="46634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2572999" y="61173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938759" y="6035040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Proof of who collected which child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2999" y="68671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938759" y="6784848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live headcount in any emergency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72999" y="7616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938759" y="7534656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Parent messages sent automatically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72999" y="836675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938759" y="8284463"/>
            <a:ext cx="4297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6480"/>
                </a:solidFill>
                <a:latin typeface="Segoe UI"/>
              </a:rPr>
              <a:t>A defensible answer on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 i="0">
                <a:solidFill>
                  <a:srgbClr val="221C36"/>
                </a:solidFill>
                <a:latin typeface="Segoe UI Light"/>
              </a:rPr>
              <a:t>One door, two weeks, then decide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02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 i="0">
                <a:solidFill>
                  <a:srgbClr val="4A4265"/>
                </a:solidFill>
                <a:latin typeface="Segoe UI"/>
              </a:rPr>
              <a:t>Nobody should buy this for a whole campus on day one. Prove it on a single entrance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32688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Start at the main entrance with a single tablet. Nothing is drilled and nothing else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632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31037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1037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037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One 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037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Enrol one year group with parental consent. Roughly two hundred children, one afternoon.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401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68806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8806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Run both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806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For two weeks the paper register runs alongside. Compare them daily.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81709" y="5989320"/>
            <a:ext cx="405765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4065757" y="63550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065757" y="6501384"/>
            <a:ext cx="566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5757" y="7132320"/>
            <a:ext cx="328955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221C36"/>
                </a:solidFill>
                <a:latin typeface="Segoe UI"/>
              </a:rPr>
              <a:t>Then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5757" y="7635240"/>
            <a:ext cx="328955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If the two match, extend. If they do not, you have lost a tablet and a fortnight.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D28D9"/>
                </a:solidFill>
                <a:latin typeface="Segoe UI"/>
              </a:rPr>
              <a:t>Ask any vendor to run a fortnight in parallel with your existing register. A confident one will agree.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59" y="6035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i="0" spc="180">
                <a:solidFill>
                  <a:srgbClr val="C4BCDD"/>
                </a:solidFill>
                <a:latin typeface="Consolas"/>
              </a:rPr>
              <a:t>28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59" y="9546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i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7190720" cy="4114800"/>
          </a:xfrm>
          <a:prstGeom prst="roundRect">
            <a:avLst>
              <a:gd name="adj" fmla="val 35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1554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register fills itself.</a:t>
            </a:r>
          </a:p>
          <a:p>
            <a:pPr algn="ctr">
              <a:lnSpc>
                <a:spcPct val="110000"/>
              </a:lnSpc>
            </a:pPr>
            <a:r>
              <a:rPr sz="4800" b="0" i="0">
                <a:solidFill>
                  <a:srgbClr val="4C1D95"/>
                </a:solidFill>
                <a:latin typeface="Segoe UI Light"/>
              </a:rPr>
              <a:t>The gate stays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2064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 i="0">
                <a:solidFill>
                  <a:srgbClr val="4C1D95"/>
                </a:solidFill>
                <a:latin typeface="Segoe UI"/>
              </a:rPr>
              <a:t>Attendance without the queue, absence alerts to parents, and proof of who collected whom.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Ten minutes of roll call per class, proxy attendance, and a pickup process that currently relies on a guard recognising 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5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What it does not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It does not stop children entering, and it does not keep a photograph of anybody's child.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19" y="653796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72999" y="6949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221C36"/>
                </a:solidFill>
                <a:latin typeface="Segoe UI"/>
              </a:rPr>
              <a:t>How to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2999" y="7498079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 i="0">
                <a:solidFill>
                  <a:srgbClr val="6B6480"/>
                </a:solidFill>
                <a:latin typeface="Segoe UI"/>
              </a:rPr>
              <a:t>One tablet, one gate, one year group, two weeks running alongside your existing register.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IS BIOCORE?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800" b="0" spc="300">
                <a:solidFill>
                  <a:srgbClr val="221C36"/>
                </a:solidFill>
                <a:latin typeface="Segoe UI Light"/>
              </a:rPr>
              <a:t>BIOCORE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4C1D95"/>
                </a:solidFill>
                <a:latin typeface="Segoe UI Light"/>
              </a:rPr>
              <a:t>Face-based identity for schools &amp; colleges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BioCore identifies students, staff and authorised guardians using a face at physical touchpoints across a campus.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32120"/>
            <a:ext cx="17190720" cy="1783080"/>
          </a:xfrm>
          <a:prstGeom prst="roundRect">
            <a:avLst>
              <a:gd name="adj" fmla="val 4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4C1D95"/>
                </a:solidFill>
                <a:latin typeface="Segoe UI Light"/>
              </a:rPr>
              <a:t>A student can walk through the school gate normally.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6629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6629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fingerprint machine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6629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QR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24560" y="67025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0" y="6629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C1D95"/>
                </a:solidFill>
                <a:latin typeface="Segoe UI"/>
              </a:rPr>
              <a:t>No stopping in a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7635240"/>
            <a:ext cx="1481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A4265"/>
                </a:solidFill>
                <a:latin typeface="Segoe UI"/>
              </a:rPr>
              <a:t>BioCore recognises the student and creates a verified IN / OUT event automatically.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8183879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21C36"/>
                </a:solidFill>
                <a:latin typeface="Segoe UI Light"/>
              </a:rPr>
              <a:t>Attendance is only the first use case.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One identity layer for attendance, pickup, transport, hostels, exams and controlled campus areas.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SIMPLEST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student walks into school. BioCore knows who arrived.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The whole sequence below happens while the student keeps walking.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07:45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Student enters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58064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camera sees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student as they walk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through the gate.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753611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6908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STEP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BioCore verifies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58064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face is matched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against the enrolled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biometric template.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7274051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STEP THREE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An arrival event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8" y="585216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1584" y="57790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1C36"/>
                </a:solidFill>
                <a:latin typeface="Consolas"/>
              </a:rPr>
              <a:t>Student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82128" y="61813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4" y="61081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1C36"/>
                </a:solidFill>
                <a:latin typeface="Consolas"/>
              </a:rPr>
              <a:t>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65105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4" y="64373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1C36"/>
                </a:solidFill>
                <a:latin typeface="Consolas"/>
              </a:rPr>
              <a:t>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2128" y="68397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4" y="67665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1C36"/>
                </a:solidFill>
                <a:latin typeface="Consolas"/>
              </a:rPr>
              <a:t>IN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10794492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10996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02568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STEP FOUR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02568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Attendance fills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02568" y="58064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student is marked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present in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school's system.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4314932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4630400" y="4480560"/>
            <a:ext cx="3108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923008" y="4800600"/>
            <a:ext cx="2523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STEP FIVE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23008" y="5212080"/>
            <a:ext cx="25237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The parent knows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23008" y="5806440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“Aarav arrived at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school at 07:45.”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7726679"/>
            <a:ext cx="17190720" cy="11887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8046720"/>
            <a:ext cx="1463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4C1D95"/>
                </a:solidFill>
                <a:latin typeface="Segoe UI Light"/>
              </a:rPr>
              <a:t>The child does not need to do anything.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WHY THIS IS NOT AN ATTENDANCE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Students should not queue at an attendance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Every other system makes the child stop and do something. That is what creates the queue at the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537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55371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WHAT THE STUDENT DOES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86460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06577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1C36"/>
                </a:solidFill>
                <a:latin typeface="Segoe UI"/>
              </a:rPr>
              <a:t>Fingerprint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065776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6B6480"/>
                </a:solidFill>
                <a:latin typeface="Segoe UI"/>
              </a:rPr>
              <a:t>Touch the machine   →   Wait your turn   →  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1C36"/>
                </a:solidFill>
                <a:latin typeface="Segoe UI"/>
              </a:rPr>
              <a:t>RFID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577840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6B6480"/>
                </a:solidFill>
                <a:latin typeface="Segoe UI"/>
              </a:rPr>
              <a:t>Carry a card   →   Tap it   →  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89904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1C36"/>
                </a:solidFill>
                <a:latin typeface="Segoe UI"/>
              </a:rPr>
              <a:t>QR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6089904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6B6480"/>
                </a:solidFill>
                <a:latin typeface="Segoe UI"/>
              </a:rPr>
              <a:t>Open the code   →   Scan it   →  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60196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1C36"/>
                </a:solidFill>
                <a:latin typeface="Segoe UI"/>
              </a:rPr>
              <a:t>Face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6601968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6B6480"/>
                </a:solidFill>
                <a:latin typeface="Segoe UI"/>
              </a:rPr>
              <a:t>Stand one-by-one   →   Look at the device   →   Attendance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7004304"/>
            <a:ext cx="17190720" cy="512064"/>
          </a:xfrm>
          <a:prstGeom prst="roundRect">
            <a:avLst>
              <a:gd name="adj" fmla="val 1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711403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4C1D95"/>
                </a:solidFill>
                <a:latin typeface="Segoe UI"/>
              </a:rPr>
              <a:t>BioCore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7114032"/>
            <a:ext cx="1298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4C1D95"/>
                </a:solidFill>
                <a:latin typeface="Segoe UI"/>
              </a:rPr>
              <a:t>Walk normally   →   Recognised automatically   →   Attendance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7589520"/>
            <a:ext cx="55138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7882127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>
                <a:solidFill>
                  <a:srgbClr val="221C36"/>
                </a:solidFill>
                <a:latin typeface="Segoe UI"/>
              </a:rPr>
              <a:t>No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8375904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Students can enter in groups.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7589520"/>
            <a:ext cx="55138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7882127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>
                <a:solidFill>
                  <a:srgbClr val="221C36"/>
                </a:solidFill>
                <a:latin typeface="Segoe UI"/>
              </a:rPr>
              <a:t>Nothing to carry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8375904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No ID card, QR code or device.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225528" y="7589520"/>
            <a:ext cx="551383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09576" y="7882127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>
                <a:solidFill>
                  <a:srgbClr val="221C36"/>
                </a:solidFill>
                <a:latin typeface="Segoe UI"/>
              </a:rPr>
              <a:t>No teacher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09576" y="8375904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The event exists before the class begins.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BIOCORE IS NOT ONLY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One identity. Multiple campus workflows.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The same enrolment answers a different question at every touchpoint on a campus.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0474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01  GATE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46811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Who entered school, and when?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28616" y="475488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50474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02  GUARDIAN PICKUP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546811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Who is authorised to collect this child?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475488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50474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03  SCHOOL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546811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Did the child board or leave the bus?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79424" y="475488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63472" y="504748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04  STAFF 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63472" y="546811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Teachers and staff, without a separate machine.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90372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719632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05  HOSTEL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761695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Student entry, exit and curfew records.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28616" y="690372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2664" y="719632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06  EXAMINATION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2664" y="761695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Is this the correct candidate?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690372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3496" y="7196328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07  LABS &amp;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3496" y="7616952"/>
            <a:ext cx="332841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Who may enter this room?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79424" y="6903720"/>
            <a:ext cx="4059936" cy="196596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063472" y="7287768"/>
            <a:ext cx="33284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BioCore creates a verified identity event wherever an institution needs to know who was physically here.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A COMPLETE SCHOOL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Morning to afternoon, one identity layer.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Every one of these moments is the same recognition, asked a different question.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303520"/>
            <a:ext cx="17190720" cy="0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07:30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School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Student boards. The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boarding is recorded.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07:45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35808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School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Student walks in.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Arrival is recorded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automatically.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2976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08:00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22976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Classroom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 teacher already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has attendance. Only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exceptions remain.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08:30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Absence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Who has not arrived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is known, and the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parent can be told.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97312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15:00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97312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97312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Pickup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97312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 adult collecting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 child can be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verified.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0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16:00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984480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98448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Late stay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0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Who is still inside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campus after hours.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71648" y="48920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ANY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471648" y="5239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471648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>
                <a:solidFill>
                  <a:srgbClr val="221C36"/>
                </a:solidFill>
                <a:latin typeface="Segoe UI"/>
              </a:rPr>
              <a:t>Emergency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71648" y="617220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 live campus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headcount, on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demand.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7498079"/>
            <a:ext cx="17190720" cy="128016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7863840"/>
            <a:ext cx="1554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4C1D95"/>
                </a:solidFill>
                <a:latin typeface="Segoe UI Light"/>
              </a:rPr>
              <a:t>One identity layer, from the bus at 07:30 to a headcount in a drill.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OPEN MODE AND CONTROLLED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Not every camera needs to become a security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Many people hear “face recognition” and assume the system exists to stop children. It does not have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8412480" cy="41605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spc="150">
                <a:solidFill>
                  <a:srgbClr val="4C1D95"/>
                </a:solidFill>
                <a:latin typeface="Consolas"/>
              </a:rPr>
              <a:t>OPEN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30952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4C1D95"/>
                </a:solidFill>
                <a:latin typeface="Segoe UI Light"/>
              </a:rPr>
              <a:t>Identify, don't block.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6245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6172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Main school entrance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65745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650138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Attendance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69037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683056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Bus boarding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72329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715975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Live headcount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7909560"/>
            <a:ext cx="6949439" cy="0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8092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Students continue walking normally.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617720"/>
            <a:ext cx="84124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49834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spc="150">
                <a:solidFill>
                  <a:srgbClr val="6B6480"/>
                </a:solidFill>
                <a:latin typeface="Consolas"/>
              </a:rPr>
              <a:t>CONTROLLED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5330952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221C36"/>
                </a:solidFill>
                <a:latin typeface="Segoe UI Light"/>
              </a:rPr>
              <a:t>Verify before access.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62453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61722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Hostel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65745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688" y="650138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Exam hall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69037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6688" y="683056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Lab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72329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76688" y="715975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Server room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75620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B6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76688" y="748893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Restricted campus area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84080" y="7909560"/>
            <a:ext cx="6949439" cy="0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784080" y="8092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480"/>
                </a:solidFill>
                <a:latin typeface="Segoe UI"/>
              </a:rPr>
              <a:t>The door opens only for authorised people.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The same BioCore platform supports both. The institution decides what each location should 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0">
                <a:solidFill>
                  <a:srgbClr val="221C36"/>
                </a:solidFill>
                <a:latin typeface="Segoe UI Light"/>
              </a:rPr>
              <a:t>A face is used for identity.</a:t>
            </a:r>
          </a:p>
          <a:p>
            <a:pPr algn="l">
              <a:lnSpc>
                <a:spcPct val="106000"/>
              </a:lnSpc>
            </a:pPr>
            <a:r>
              <a:rPr sz="3800" b="0">
                <a:solidFill>
                  <a:srgbClr val="221C36"/>
                </a:solidFill>
                <a:latin typeface="Segoe UI Light"/>
              </a:rPr>
              <a:t>The photograph does not need to become the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033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Face recognition and photo storage are not the same thing. BioCore keeps the measurement, not the picture.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DURING ENROLMENT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5394960"/>
            <a:ext cx="0" cy="3063240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0392" y="544067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4924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The face is captured at enrolment.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" y="644651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6355079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Measurements become an encrypted biometric template.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" y="74523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736092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The image is discarded per the configured enrolment 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" y="84582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836676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The encrypted template is what future matching uses.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4617720"/>
            <a:ext cx="8412480" cy="39319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4956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spc="150">
                <a:solidFill>
                  <a:srgbClr val="4C1D95"/>
                </a:solidFill>
                <a:latin typeface="Consolas"/>
              </a:rPr>
              <a:t>FOR CHILDREN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55229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5440680"/>
            <a:ext cx="7132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Verifiable parental consent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59984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5916168"/>
            <a:ext cx="7132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A consent record and timestamp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64739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6391656"/>
            <a:ext cx="7132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The ability to withdraw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69494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6867144"/>
            <a:ext cx="7132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A non-biometric alternative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74249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7342632"/>
            <a:ext cx="7132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Purpose-limited 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790041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7818120"/>
            <a:ext cx="7132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4C1D95"/>
                </a:solidFill>
                <a:latin typeface="Segoe UI"/>
              </a:rPr>
              <a:t>No behavioural profiling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Designed to identify a person for an approved campus purpose — not to build a surveillance history.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HOW A SCHOOL CAN DEPLOY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You do not need to rebuild the school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Start small, and use the infrastructure that is already there wherever 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40599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30352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01  TABLET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7424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tablet on a 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3093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 tablet and a floor stand at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entrance. No civil work, no wiring,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nothing drilled.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726679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pilot.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4937760"/>
            <a:ext cx="40599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530352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02  EXISTING CCTV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57424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camera you 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63093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Where the angle and the light are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suitable, we read the school's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existing camera feed.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7726679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gate already covered.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4937760"/>
            <a:ext cx="40599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3496" y="530352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03  EXISTING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6" y="57424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gate you 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63093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Integrate with the sliding gate,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boom barrier or access door that is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already installed.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7726679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a gate that works.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79424" y="4937760"/>
            <a:ext cx="40599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063472" y="530352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04  CONTROLLED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63472" y="57424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Turnstile or flap barrier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3472" y="63093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One person per pass, physically —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only where access control is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genuinely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3472" y="7726679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D28D9"/>
                </a:solidFill>
                <a:latin typeface="Segoe UI"/>
              </a:rPr>
              <a:t>Best for: hostels, labs, exam halls.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A turnstile is rarely right for a school gate — it creates exactly the queue you are trying to remove.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BIOCORE ACTUALLY PROVIDES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BioCore is the identity-event engine.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It does one job: turn a face at a camera into a verified event that some other system can consume.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4059936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8006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INPUT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519379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" y="5468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394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Student / staff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5833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760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Face enrolment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6199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6126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Consent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65653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64922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Camera / gate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658868" y="62453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28616" y="4480560"/>
            <a:ext cx="4059936" cy="3749039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48006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BIOCORE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12664" y="5193792"/>
            <a:ext cx="3291840" cy="0"/>
          </a:xfrm>
          <a:prstGeom prst="line">
            <a:avLst/>
          </a:prstGeom>
          <a:ln w="127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12664" y="5468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7" y="5394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Face detection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12664" y="5833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0407" y="5760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Face matching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2664" y="6199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7" y="6126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Identity verification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12664" y="65653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7" y="64922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IN / OUT logic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12664" y="69311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7" y="685800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Gate &amp; camera management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12664" y="7296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0407" y="72237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Consent 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12664" y="76626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50407" y="75895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Event generation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9034272" y="62453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99448" y="4480560"/>
            <a:ext cx="4059936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83496" y="48006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OUTPUT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83496" y="519379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683496" y="5468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5394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Student 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83496" y="5833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5760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Timestamp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83496" y="6199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6126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Location / Gate ID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83496" y="65653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64922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IN / OUT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83496" y="69311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1240" y="685800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Verification status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13409676" y="624535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3679424" y="4480560"/>
            <a:ext cx="4059936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063472" y="48006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ANY ERP OR SCHOOL SYSTEM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4063472" y="519379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4063472" y="54681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301216" y="5394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Attendance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063472" y="5833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01216" y="57607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Parent notification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063472" y="61996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301216" y="61264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Transport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063472" y="65653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301216" y="649224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Reports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4063472" y="69311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301216" y="685800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Payroll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063472" y="7296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01216" y="72237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Access control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891540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The same engine, whichever system the institution already runs and wants the event to land 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WHERE QUICKCAMPUS COMES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This is where QuickCampus and BioCore fit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Everything so far has been BioCore on its own. Here is the join.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84124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spc="150">
                <a:solidFill>
                  <a:srgbClr val="6B6480"/>
                </a:solidFill>
                <a:latin typeface="Consolas"/>
              </a:rPr>
              <a:t>QUICKCAMPUS ALREADY MANAGES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2029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12064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1C36"/>
                </a:solidFill>
                <a:latin typeface="Segoe UI"/>
              </a:rPr>
              <a:t>Student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58698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50468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1C36"/>
                </a:solidFill>
                <a:latin typeface="Segoe UI"/>
              </a:rPr>
              <a:t>Class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97103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88873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1C36"/>
                </a:solidFill>
                <a:latin typeface="Segoe UI"/>
              </a:rPr>
              <a:t>Parent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635507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6272783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1C36"/>
                </a:solidFill>
                <a:latin typeface="Segoe UI"/>
              </a:rPr>
              <a:t>Attendance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52029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512064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1C36"/>
                </a:solidFill>
                <a:latin typeface="Segoe UI"/>
              </a:rPr>
              <a:t>Transport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558698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550468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1C36"/>
                </a:solidFill>
                <a:latin typeface="Segoe UI"/>
              </a:rPr>
              <a:t>Hostel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597103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588873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1C36"/>
                </a:solidFill>
                <a:latin typeface="Segoe UI"/>
              </a:rPr>
              <a:t>Communication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635507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6272783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21C36"/>
                </a:solidFill>
                <a:latin typeface="Segoe UI"/>
              </a:rPr>
              <a:t>Reports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4343400"/>
            <a:ext cx="8412480" cy="265176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46634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spc="150">
                <a:solidFill>
                  <a:srgbClr val="6D28D9"/>
                </a:solidFill>
                <a:latin typeface="Consolas"/>
              </a:rPr>
              <a:t>BIOCORE ADDS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5120640"/>
            <a:ext cx="74980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4C1D95"/>
                </a:solidFill>
                <a:latin typeface="Segoe UI Light"/>
              </a:rPr>
              <a:t>Physical identity at the point where the real-world event happens.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7315200"/>
            <a:ext cx="17190720" cy="914400"/>
          </a:xfrm>
          <a:prstGeom prst="roundRect">
            <a:avLst>
              <a:gd name="adj" fmla="val 6000"/>
            </a:avLst>
          </a:prstGeom>
          <a:solidFill>
            <a:srgbClr val="22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7607808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QuickCampus  =  system of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7607808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6BEE2"/>
                </a:solidFill>
                <a:latin typeface="Segoe UI"/>
              </a:rPr>
              <a:t>BioCore  =  identity &amp; event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841248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C1D95"/>
                </a:solidFill>
                <a:latin typeface="Segoe UI Light"/>
              </a:rPr>
              <a:t>No second ERP.    No second parent app.    No duplicate attendance database.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FIRST THING THEY WILL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You already have attendance.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Something still has to fill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We are not asking to replace the attendance module. Today a teacher, a card or a device still has to generate the event. BioCore automates that capture at the gate and sends a verified event into QuickCampus.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89320"/>
            <a:ext cx="5513832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63550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WHAT STAYS YOURS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6784848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record does not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3609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Student, class, parent, attendance table, reports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the app you already ship. We add nothing to it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we take nothing out of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5989320"/>
            <a:ext cx="5513832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63550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WHAT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6784848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Only the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73609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 teacher entry, no card, no queue at a device.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gate produces the event, and the register is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complete before the bell.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225528" y="5989320"/>
            <a:ext cx="5513832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09576" y="6355080"/>
            <a:ext cx="47457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WHAT IS 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09576" y="6784848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An event nobody had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09576" y="73609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Who physically entered, at which gate, at what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time, with what confidence — the thing a paper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register could never prove.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BIOCORE ADDS TO QUICKCAMPUS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Eight modules you already sell. One layer underneath.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BioCore does not replace a QuickCampus module. It makes more of them worth buying.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681728"/>
            <a:ext cx="9326880" cy="3895344"/>
          </a:xfrm>
          <a:prstGeom prst="roundRect">
            <a:avLst>
              <a:gd name="adj" fmla="val 3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159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EXISTING QUICKCAMPUS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31596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WHAT BIOCORE ADDS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64515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9011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1C36"/>
                </a:solidFill>
                <a:latin typeface="Segoe UI"/>
              </a:rPr>
              <a:t>Student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901184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C1D95"/>
                </a:solidFill>
                <a:latin typeface="Segoe UI"/>
              </a:rPr>
              <a:t>Automatic attendance, captured at the gate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257800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3583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1C36"/>
                </a:solidFill>
                <a:latin typeface="Segoe UI"/>
              </a:rPr>
              <a:t>Parent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358384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C1D95"/>
                </a:solidFill>
                <a:latin typeface="Segoe UI"/>
              </a:rPr>
              <a:t>Arrival, absence and departure events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715000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58155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1C36"/>
                </a:solidFill>
                <a:latin typeface="Segoe UI"/>
              </a:rPr>
              <a:t>Student Transport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815584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C1D95"/>
                </a:solidFill>
                <a:latin typeface="Segoe UI"/>
              </a:rPr>
              <a:t>Bus boarding and deboarding, verified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172200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2727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1C36"/>
                </a:solidFill>
                <a:latin typeface="Segoe UI"/>
              </a:rPr>
              <a:t>Visitor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272784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C1D95"/>
                </a:solidFill>
                <a:latin typeface="Segoe UI"/>
              </a:rPr>
              <a:t>Guardian and pickup identity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629400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67299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1C36"/>
                </a:solidFill>
                <a:latin typeface="Segoe UI"/>
              </a:rPr>
              <a:t>College ERP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6729984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C1D95"/>
                </a:solidFill>
                <a:latin typeface="Segoe UI"/>
              </a:rPr>
              <a:t>Proxy attendance, materially reduced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7086600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71871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1C36"/>
                </a:solidFill>
                <a:latin typeface="Segoe UI"/>
              </a:rPr>
              <a:t>Hostel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7187184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C1D95"/>
                </a:solidFill>
                <a:latin typeface="Segoe UI"/>
              </a:rPr>
              <a:t>Entry, exit and curfew events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7543800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7644383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1C36"/>
                </a:solidFill>
                <a:latin typeface="Segoe UI"/>
              </a:rPr>
              <a:t>Examination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7644383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C1D95"/>
                </a:solidFill>
                <a:latin typeface="Segoe UI"/>
              </a:rPr>
              <a:t>Candidate verification at the hall door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8001000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8101583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221C36"/>
                </a:solidFill>
                <a:latin typeface="Segoe UI"/>
              </a:rPr>
              <a:t>Staff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8101583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C1D95"/>
                </a:solidFill>
                <a:latin typeface="Segoe UI"/>
              </a:rPr>
              <a:t>Touchless staff attendance into payroll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877824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None of these is a new module. Each one is a module you already have, given a source of truth it never had.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One call in. One event 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No new database on your side, and no new app for the parent. The only new object in your world is an attendance event whose source happens to be a camera.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4059936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66344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QUICKCAMPUS SENDS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505663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" y="5321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2395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Student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5705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6235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Name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60899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600760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School or campus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6473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639165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Class and section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68580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677570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Guardian relationship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4658868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28616" y="4343400"/>
            <a:ext cx="4059936" cy="30175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12664" y="466344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BIOCORE HOLDS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12664" y="5056632"/>
            <a:ext cx="3291840" cy="0"/>
          </a:xfrm>
          <a:prstGeom prst="line">
            <a:avLst/>
          </a:prstGeom>
          <a:ln w="127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12664" y="5321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0407" y="52395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Parental consent record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2664" y="5705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7" y="56235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Encrypted biometric template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12664" y="60899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7" y="600760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Gate and camera 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12664" y="6473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7" y="639165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21C36"/>
                </a:solidFill>
                <a:latin typeface="Segoe UI"/>
              </a:rPr>
              <a:t>Match threshold per site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9034272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299448" y="4343400"/>
            <a:ext cx="4059936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83496" y="466344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THE EVENT WE RETURN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83496" y="505663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83496" y="5321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52395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Student ID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83496" y="5705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56235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Gate ID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83496" y="60899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600760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IN or OUT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83496" y="6473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639165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Timestamp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83496" y="68580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677570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Confidence and status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13409676" y="5742432"/>
            <a:ext cx="219456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679424" y="4343400"/>
            <a:ext cx="4059936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063472" y="466344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B6480"/>
                </a:solidFill>
                <a:latin typeface="Consolas"/>
              </a:rPr>
              <a:t>QUICKCAMPUS DOES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4063472" y="5056632"/>
            <a:ext cx="329184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4063472" y="5321808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301216" y="52395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Attendance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063472" y="5705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01216" y="56235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Parent notification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063472" y="60899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301216" y="600760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Dashboard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063472" y="6473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01216" y="639165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B6480"/>
                </a:solidFill>
                <a:latin typeface="Segoe UI"/>
              </a:rPr>
              <a:t>Reports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7635240"/>
            <a:ext cx="17190720" cy="14173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" y="7882127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4C1D95"/>
                </a:solidFill>
                <a:latin typeface="Consolas"/>
              </a:rPr>
              <a:t>WHAT BIOCORE STORES  —  AND WHAT IT DOES NOT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" y="8275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C1D95"/>
                </a:solidFill>
                <a:latin typeface="Segoe UI"/>
              </a:rPr>
              <a:t>The student record stays in QuickCampus.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0" y="8275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C1D95"/>
                </a:solidFill>
                <a:latin typeface="Segoe UI"/>
              </a:rPr>
              <a:t>We receive only the identifier needed to match.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64040" y="8275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C1D95"/>
                </a:solidFill>
                <a:latin typeface="Segoe UI"/>
              </a:rPr>
              <a:t>Enrolment and camera images are not retained.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716000" y="8275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C1D95"/>
                </a:solidFill>
                <a:latin typeface="Segoe UI"/>
              </a:rPr>
              <a:t>Templates are encrypted. Withdrawal deletes them.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FOUR PHASES, FOUR THINGS TO 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>
                <a:solidFill>
                  <a:srgbClr val="221C36"/>
                </a:solidFill>
                <a:latin typeface="Segoe UI Light"/>
              </a:rPr>
              <a:t>Four things to sell, not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Attendance starts the conversation. Guardian pickup is the one a principal actually loses sleep over — and it is a different problem from the register.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1500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807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3620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spc="8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8580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PHASE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196328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Automatic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6809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Gate capture into the attendance module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you already ship — the easiest yes, and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one every institution understands.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28616" y="571500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12664" y="60807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623620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spc="8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68580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PHASE TWO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7196328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Guardian pickup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76809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Who physically collected this child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today? Your visitor module knows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parent. This gives it a face.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9448" y="571500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60807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3496" y="623620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spc="8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6" y="68580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PHASE THREE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6" y="7196328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Bus 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76809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Boarding and deboarding against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transport module, so a parent sees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child on and off the bus.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79424" y="571500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4063472" y="60807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063472" y="623620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spc="8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63472" y="6858000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PHASE FOUR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63472" y="7196328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Hostel, exam, campus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63472" y="7680960"/>
            <a:ext cx="33284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Curfew, candidate verification and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restricted areas — the college and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hostel modules, finally enforceable.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900684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Each phase is a separate line on the same invoice, sold to institutions you already have.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HOW WE WOULD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>
                <a:solidFill>
                  <a:srgbClr val="221C36"/>
                </a:solidFill>
                <a:latin typeface="Segoe UI Light"/>
              </a:rPr>
              <a:t>One school first. The model can wait.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Do not commit your customer base. Give us one cooperative school, and settle the commercial shape after you have both seen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8412480" cy="443484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spc="150">
                <a:solidFill>
                  <a:srgbClr val="4C1D95"/>
                </a:solidFill>
                <a:latin typeface="Consolas"/>
              </a:rPr>
              <a:t>THE PILOT WE ARE ASKING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8523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4C1D95"/>
                </a:solidFill>
                <a:latin typeface="Segoe UI Light"/>
              </a:rPr>
              <a:t>One school. One gate. Two weeks.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9710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589788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One cooperative school, chosen by you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62727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619963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One gate, 150–250 enrolled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65745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650138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Your attendance module runs unchanged, in parallel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68762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680313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Two weeks, then a joint read of the numbers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7205472"/>
            <a:ext cx="6949439" cy="0"/>
          </a:xfrm>
          <a:prstGeom prst="line">
            <a:avLst/>
          </a:prstGeom>
          <a:ln w="12700">
            <a:solidFill>
              <a:srgbClr val="C4BC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7351775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4C1D95"/>
                </a:solidFill>
                <a:latin typeface="Consolas"/>
              </a:rPr>
              <a:t>WHAT WE MEASURE TOGETHER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7680960"/>
            <a:ext cx="3383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Capture rate at the gate</a:t>
            </a:r>
          </a:p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False accept and false reject</a:t>
            </a:r>
          </a:p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Students processed per minute</a:t>
            </a:r>
          </a:p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Teacher time recovered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768096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Manual exceptions per day</a:t>
            </a:r>
          </a:p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Reconciliation accuracy</a:t>
            </a:r>
          </a:p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Parent notification latency</a:t>
            </a:r>
          </a:p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Absence alerts correctly raised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4617720"/>
            <a:ext cx="841248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4983480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spc="150">
                <a:solidFill>
                  <a:srgbClr val="6B6480"/>
                </a:solidFill>
                <a:latin typeface="Consolas"/>
              </a:rPr>
              <a:t>THEN CHOOSE HOW TO PACKAGE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349240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50">
                <a:solidFill>
                  <a:srgbClr val="6D28D9"/>
                </a:solidFill>
                <a:latin typeface="Consolas"/>
              </a:rPr>
              <a:t>01  WHITE-LABEL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5623559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QuickCampus Smart Attendance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9893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You sell it under your own name. We charge you per student, campus or gate.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6464807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50">
                <a:solidFill>
                  <a:srgbClr val="6D28D9"/>
                </a:solidFill>
                <a:latin typeface="Consolas"/>
              </a:rPr>
              <a:t>02  REVENUE 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6739127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A premium safeguarding add-on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7104888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You price it into the school contracts you already hold, and we split the 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7580375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50">
                <a:solidFill>
                  <a:srgbClr val="6D28D9"/>
                </a:solidFill>
                <a:latin typeface="Consolas"/>
              </a:rPr>
              <a:t>03  TECHNOLOGY PARTNER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785469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SDK, APIs and the gate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8220455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You own sales and implementation. We provide the engine, consent service and recognition.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APPENDIX  —  FOR THE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29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QuickCampus × BioCore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What we want to learn from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More useful in a first meeting than any slide in front of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4256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718304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A4265"/>
                </a:solidFill>
                <a:latin typeface="Segoe UI"/>
              </a:rPr>
              <a:t>How is student attendance captured in QuickCampus today — teacher entry, RFID, a biometric device, QR or an integration?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4206240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4256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718304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A4265"/>
                </a:solidFill>
                <a:latin typeface="Segoe UI"/>
              </a:rPr>
              <a:t>Do your schools use the parent app for attendance and absence notifications?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25528" y="4206240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09576" y="44256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09576" y="4718304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A4265"/>
                </a:solidFill>
                <a:latin typeface="Segoe UI"/>
              </a:rPr>
              <a:t>Does the attendance module expose an API that accepts an external attendance event?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79007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778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9984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6291071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221C36"/>
                </a:solidFill>
                <a:latin typeface="Segoe UI"/>
              </a:rPr>
              <a:t>Do you already integrate biometric hardware vendors?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2512" y="5779007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9984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6291071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A4265"/>
                </a:solidFill>
                <a:latin typeface="Segoe UI"/>
              </a:rPr>
              <a:t>Who sells and installs attendance hardware for your schools today?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225528" y="5779007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09576" y="59984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09576" y="6291071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A4265"/>
                </a:solidFill>
                <a:latin typeface="Segoe UI"/>
              </a:rPr>
              <a:t>How many of your institutions need gate-based attendance rather than classroom attendance?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7351775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7571231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7863840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A4265"/>
                </a:solidFill>
                <a:latin typeface="Segoe UI"/>
              </a:rPr>
              <a:t>Is guardian pickup or child handover handled inside QuickCampus today?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7351775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7571231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7863840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A4265"/>
                </a:solidFill>
                <a:latin typeface="Segoe UI"/>
              </a:rPr>
              <a:t>Would you prefer white-label, API integration, or a marketplace add-on?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25528" y="7351775"/>
            <a:ext cx="55138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609576" y="7571231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09576" y="7863840"/>
            <a:ext cx="474573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4A4265"/>
                </a:solidFill>
                <a:latin typeface="Segoe UI"/>
              </a:rPr>
              <a:t>Can we pick one Delhi/NCR school for a joint pilot?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8979408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If the answer to question four is yes, we are not asking anyone to change an architecture — only to add a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