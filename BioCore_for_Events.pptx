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18288000" cy="10287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solidFill>
            <a:srgbClr val="F5F3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48640" y="603504"/>
            <a:ext cx="1225296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150" b="0" i="0" spc="180">
                <a:solidFill>
                  <a:srgbClr val="6B6480"/>
                </a:solidFill>
                <a:latin typeface="Consolas"/>
              </a:rPr>
              <a:t>A PLAIN-ENGLISH GUIDE  |  FOR EVENT COMPANIES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2252959" y="603504"/>
            <a:ext cx="548640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30000"/>
              </a:lnSpc>
            </a:pPr>
            <a:r>
              <a:rPr sz="1150" b="0" i="0" spc="180">
                <a:solidFill>
                  <a:srgbClr val="C4BCDD"/>
                </a:solidFill>
                <a:latin typeface="Consolas"/>
              </a:rPr>
              <a:t>01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48640" y="1024128"/>
            <a:ext cx="17190720" cy="0"/>
          </a:xfrm>
          <a:prstGeom prst="line">
            <a:avLst/>
          </a:prstGeom>
          <a:ln w="12700">
            <a:solidFill>
              <a:srgbClr val="DDD8E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" name="Connector 5"/>
          <p:cNvCxnSpPr/>
          <p:nvPr/>
        </p:nvCxnSpPr>
        <p:spPr>
          <a:xfrm>
            <a:off x="548640" y="9400032"/>
            <a:ext cx="17190720" cy="0"/>
          </a:xfrm>
          <a:prstGeom prst="line">
            <a:avLst/>
          </a:prstGeom>
          <a:ln w="12700">
            <a:solidFill>
              <a:srgbClr val="DDD8E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548640" y="9546336"/>
            <a:ext cx="548640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050" b="0" i="0" spc="180">
                <a:solidFill>
                  <a:srgbClr val="6B6480"/>
                </a:solidFill>
                <a:latin typeface="Consolas"/>
              </a:rPr>
              <a:t>BIOCORE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509759" y="9546336"/>
            <a:ext cx="822960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30000"/>
              </a:lnSpc>
            </a:pPr>
            <a:r>
              <a:rPr sz="1050" b="0" i="0" spc="140">
                <a:solidFill>
                  <a:srgbClr val="C4BCDD"/>
                </a:solidFill>
                <a:latin typeface="Consolas"/>
              </a:rPr>
              <a:t>Event companies &amp; venues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2194560"/>
            <a:ext cx="10424160" cy="23774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</a:pPr>
            <a:r>
              <a:rPr sz="5200" b="0" i="0">
                <a:solidFill>
                  <a:srgbClr val="221C36"/>
                </a:solidFill>
                <a:latin typeface="Segoe UI Light"/>
              </a:rPr>
              <a:t>5,000 delegates.</a:t>
            </a:r>
          </a:p>
          <a:p>
            <a:pPr algn="l">
              <a:lnSpc>
                <a:spcPct val="106000"/>
              </a:lnSpc>
            </a:pPr>
            <a:r>
              <a:rPr sz="5200" b="0" i="0">
                <a:solidFill>
                  <a:srgbClr val="221C36"/>
                </a:solidFill>
                <a:latin typeface="Segoe UI Light"/>
              </a:rPr>
              <a:t>No badges.</a:t>
            </a:r>
          </a:p>
          <a:p>
            <a:pPr algn="l">
              <a:lnSpc>
                <a:spcPct val="106000"/>
              </a:lnSpc>
            </a:pPr>
            <a:r>
              <a:rPr sz="5200" b="0" i="0">
                <a:solidFill>
                  <a:srgbClr val="221C36"/>
                </a:solidFill>
                <a:latin typeface="Segoe UI Light"/>
              </a:rPr>
              <a:t>No desk queue.</a:t>
            </a:r>
          </a:p>
        </p:txBody>
      </p:sp>
      <p:sp>
        <p:nvSpPr>
          <p:cNvPr id="10" name="Rectangle 9"/>
          <p:cNvSpPr/>
          <p:nvPr/>
        </p:nvSpPr>
        <p:spPr>
          <a:xfrm>
            <a:off x="548640" y="6126480"/>
            <a:ext cx="2194560" cy="50292"/>
          </a:xfrm>
          <a:prstGeom prst="rect">
            <a:avLst/>
          </a:prstGeom>
          <a:solidFill>
            <a:srgbClr val="6D28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548640" y="6583680"/>
            <a:ext cx="10058400" cy="1463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6000"/>
              </a:lnSpc>
            </a:pPr>
            <a:r>
              <a:rPr sz="1700" b="0" i="0">
                <a:solidFill>
                  <a:srgbClr val="4A4265"/>
                </a:solidFill>
                <a:latin typeface="Segoe UI"/>
              </a:rPr>
              <a:t>Registration already collected a photo. Let them walk in on their face — and give your</a:t>
            </a:r>
          </a:p>
          <a:p>
            <a:pPr algn="l">
              <a:lnSpc>
                <a:spcPct val="136000"/>
              </a:lnSpc>
            </a:pPr>
            <a:r>
              <a:rPr sz="1700" b="0" i="0">
                <a:solidFill>
                  <a:srgbClr val="4A4265"/>
                </a:solidFill>
                <a:latin typeface="Segoe UI"/>
              </a:rPr>
              <a:t>sponsors attendance numbers that are actually true.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11887200" y="2194560"/>
            <a:ext cx="5852160" cy="201168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DD8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Rounded Rectangle 12"/>
          <p:cNvSpPr/>
          <p:nvPr/>
        </p:nvSpPr>
        <p:spPr>
          <a:xfrm>
            <a:off x="12271248" y="2578608"/>
            <a:ext cx="749808" cy="749808"/>
          </a:xfrm>
          <a:prstGeom prst="roundRect">
            <a:avLst>
              <a:gd name="adj" fmla="val 22000"/>
            </a:avLst>
          </a:prstGeom>
          <a:solidFill>
            <a:srgbClr val="EDE7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Rounded Rectangle 13"/>
          <p:cNvSpPr/>
          <p:nvPr/>
        </p:nvSpPr>
        <p:spPr>
          <a:xfrm>
            <a:off x="12444984" y="2752344"/>
            <a:ext cx="402336" cy="402336"/>
          </a:xfrm>
          <a:prstGeom prst="roundRect">
            <a:avLst>
              <a:gd name="adj" fmla="val 50000"/>
            </a:avLst>
          </a:prstGeom>
          <a:noFill/>
          <a:ln w="20320">
            <a:solidFill>
              <a:srgbClr val="6D28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cxnSp>
        <p:nvCxnSpPr>
          <p:cNvPr id="15" name="Connector 14"/>
          <p:cNvCxnSpPr/>
          <p:nvPr/>
        </p:nvCxnSpPr>
        <p:spPr>
          <a:xfrm>
            <a:off x="12554712" y="2971800"/>
            <a:ext cx="182880" cy="0"/>
          </a:xfrm>
          <a:prstGeom prst="line">
            <a:avLst/>
          </a:prstGeom>
          <a:ln w="25400">
            <a:solidFill>
              <a:srgbClr val="6D28D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TextBox 15"/>
          <p:cNvSpPr txBox="1"/>
          <p:nvPr/>
        </p:nvSpPr>
        <p:spPr>
          <a:xfrm>
            <a:off x="13304520" y="2651760"/>
            <a:ext cx="4206240" cy="32918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600" b="1" i="0">
                <a:solidFill>
                  <a:srgbClr val="221C36"/>
                </a:solidFill>
                <a:latin typeface="Segoe UI"/>
              </a:rPr>
              <a:t>Entry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3304520" y="3090672"/>
            <a:ext cx="420624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4000"/>
              </a:lnSpc>
            </a:pPr>
            <a:r>
              <a:rPr sz="1300" b="0" i="0">
                <a:solidFill>
                  <a:srgbClr val="6B6480"/>
                </a:solidFill>
                <a:latin typeface="Segoe UI"/>
              </a:rPr>
              <a:t>Walk-through, no lanyard printing.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11887200" y="4526279"/>
            <a:ext cx="5852160" cy="201168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DD8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Rounded Rectangle 18"/>
          <p:cNvSpPr/>
          <p:nvPr/>
        </p:nvSpPr>
        <p:spPr>
          <a:xfrm>
            <a:off x="12271248" y="4910327"/>
            <a:ext cx="749808" cy="749808"/>
          </a:xfrm>
          <a:prstGeom prst="roundRect">
            <a:avLst>
              <a:gd name="adj" fmla="val 22000"/>
            </a:avLst>
          </a:prstGeom>
          <a:solidFill>
            <a:srgbClr val="EDE7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" name="Rounded Rectangle 19"/>
          <p:cNvSpPr/>
          <p:nvPr/>
        </p:nvSpPr>
        <p:spPr>
          <a:xfrm>
            <a:off x="12463272" y="5248655"/>
            <a:ext cx="365760" cy="256032"/>
          </a:xfrm>
          <a:prstGeom prst="roundRect">
            <a:avLst>
              <a:gd name="adj" fmla="val 16000"/>
            </a:avLst>
          </a:prstGeom>
          <a:noFill/>
          <a:ln w="20320">
            <a:solidFill>
              <a:srgbClr val="6D28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Rounded Rectangle 20"/>
          <p:cNvSpPr/>
          <p:nvPr/>
        </p:nvSpPr>
        <p:spPr>
          <a:xfrm>
            <a:off x="12536424" y="5084064"/>
            <a:ext cx="219456" cy="201168"/>
          </a:xfrm>
          <a:prstGeom prst="roundRect">
            <a:avLst>
              <a:gd name="adj" fmla="val 50000"/>
            </a:avLst>
          </a:prstGeom>
          <a:noFill/>
          <a:ln w="20320">
            <a:solidFill>
              <a:srgbClr val="6D28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13304520" y="4983479"/>
            <a:ext cx="4206240" cy="32918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600" b="1" i="0">
                <a:solidFill>
                  <a:srgbClr val="221C36"/>
                </a:solidFill>
                <a:latin typeface="Segoe UI"/>
              </a:rPr>
              <a:t>Zones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3304520" y="5422392"/>
            <a:ext cx="420624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4000"/>
              </a:lnSpc>
            </a:pPr>
            <a:r>
              <a:rPr sz="1300" b="0" i="0">
                <a:solidFill>
                  <a:srgbClr val="6B6480"/>
                </a:solidFill>
                <a:latin typeface="Segoe UI"/>
              </a:rPr>
              <a:t>VIP, speaker and sponsor areas.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11887200" y="6858000"/>
            <a:ext cx="5852160" cy="201168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DD8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5" name="Rounded Rectangle 24"/>
          <p:cNvSpPr/>
          <p:nvPr/>
        </p:nvSpPr>
        <p:spPr>
          <a:xfrm>
            <a:off x="12271248" y="7242048"/>
            <a:ext cx="749808" cy="749808"/>
          </a:xfrm>
          <a:prstGeom prst="roundRect">
            <a:avLst>
              <a:gd name="adj" fmla="val 22000"/>
            </a:avLst>
          </a:prstGeom>
          <a:solidFill>
            <a:srgbClr val="EDE7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6" name="Rounded Rectangle 25"/>
          <p:cNvSpPr/>
          <p:nvPr/>
        </p:nvSpPr>
        <p:spPr>
          <a:xfrm>
            <a:off x="12463272" y="7397496"/>
            <a:ext cx="365760" cy="438912"/>
          </a:xfrm>
          <a:prstGeom prst="roundRect">
            <a:avLst>
              <a:gd name="adj" fmla="val 8000"/>
            </a:avLst>
          </a:prstGeom>
          <a:noFill/>
          <a:ln w="20320">
            <a:solidFill>
              <a:srgbClr val="6D28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cxnSp>
        <p:nvCxnSpPr>
          <p:cNvPr id="27" name="Connector 26"/>
          <p:cNvCxnSpPr/>
          <p:nvPr/>
        </p:nvCxnSpPr>
        <p:spPr>
          <a:xfrm>
            <a:off x="12536424" y="7543800"/>
            <a:ext cx="219456" cy="0"/>
          </a:xfrm>
          <a:prstGeom prst="line">
            <a:avLst/>
          </a:prstGeom>
          <a:ln w="17780">
            <a:solidFill>
              <a:srgbClr val="6D28D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Connector 27"/>
          <p:cNvCxnSpPr/>
          <p:nvPr/>
        </p:nvCxnSpPr>
        <p:spPr>
          <a:xfrm>
            <a:off x="12536424" y="7635240"/>
            <a:ext cx="219456" cy="0"/>
          </a:xfrm>
          <a:prstGeom prst="line">
            <a:avLst/>
          </a:prstGeom>
          <a:ln w="17780">
            <a:solidFill>
              <a:srgbClr val="6D28D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9" name="TextBox 28"/>
          <p:cNvSpPr txBox="1"/>
          <p:nvPr/>
        </p:nvSpPr>
        <p:spPr>
          <a:xfrm>
            <a:off x="13304520" y="7315200"/>
            <a:ext cx="4206240" cy="32918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600" b="1" i="0">
                <a:solidFill>
                  <a:srgbClr val="221C36"/>
                </a:solidFill>
                <a:latin typeface="Segoe UI"/>
              </a:rPr>
              <a:t>Proof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3304520" y="7754112"/>
            <a:ext cx="420624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4000"/>
              </a:lnSpc>
            </a:pPr>
            <a:r>
              <a:rPr sz="1300" b="0" i="0">
                <a:solidFill>
                  <a:srgbClr val="6B6480"/>
                </a:solidFill>
                <a:latin typeface="Segoe UI"/>
              </a:rPr>
              <a:t>Real headcount, hall by hall.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solidFill>
            <a:srgbClr val="F5F3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48640" y="603504"/>
            <a:ext cx="1225296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150" b="0" i="0" spc="180">
                <a:solidFill>
                  <a:srgbClr val="6B6480"/>
                </a:solidFill>
                <a:latin typeface="Consolas"/>
              </a:rPr>
              <a:t>THE FIRST HOUR YOU DREAD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2252959" y="603504"/>
            <a:ext cx="548640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30000"/>
              </a:lnSpc>
            </a:pPr>
            <a:r>
              <a:rPr sz="1150" b="0" i="0" spc="180">
                <a:solidFill>
                  <a:srgbClr val="C4BCDD"/>
                </a:solidFill>
                <a:latin typeface="Consolas"/>
              </a:rPr>
              <a:t>02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48640" y="1024128"/>
            <a:ext cx="17190720" cy="0"/>
          </a:xfrm>
          <a:prstGeom prst="line">
            <a:avLst/>
          </a:prstGeom>
          <a:ln w="12700">
            <a:solidFill>
              <a:srgbClr val="DDD8E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" name="Connector 5"/>
          <p:cNvCxnSpPr/>
          <p:nvPr/>
        </p:nvCxnSpPr>
        <p:spPr>
          <a:xfrm>
            <a:off x="548640" y="9400032"/>
            <a:ext cx="17190720" cy="0"/>
          </a:xfrm>
          <a:prstGeom prst="line">
            <a:avLst/>
          </a:prstGeom>
          <a:ln w="12700">
            <a:solidFill>
              <a:srgbClr val="DDD8E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548640" y="9546336"/>
            <a:ext cx="548640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050" b="0" i="0" spc="180">
                <a:solidFill>
                  <a:srgbClr val="6B6480"/>
                </a:solidFill>
                <a:latin typeface="Consolas"/>
              </a:rPr>
              <a:t>BIOCORE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509759" y="9546336"/>
            <a:ext cx="822960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30000"/>
              </a:lnSpc>
            </a:pPr>
            <a:r>
              <a:rPr sz="1050" b="0" i="0" spc="140">
                <a:solidFill>
                  <a:srgbClr val="C4BCDD"/>
                </a:solidFill>
                <a:latin typeface="Consolas"/>
              </a:rPr>
              <a:t>Event companies &amp; venues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2148840"/>
            <a:ext cx="14173200" cy="23774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</a:pPr>
            <a:r>
              <a:rPr sz="4200" b="0" i="0">
                <a:solidFill>
                  <a:srgbClr val="221C36"/>
                </a:solidFill>
                <a:latin typeface="Segoe UI Light"/>
              </a:rPr>
              <a:t>The registration desk is the whole problem</a:t>
            </a:r>
          </a:p>
        </p:txBody>
      </p:sp>
      <p:sp>
        <p:nvSpPr>
          <p:cNvPr id="10" name="Rectangle 9"/>
          <p:cNvSpPr/>
          <p:nvPr/>
        </p:nvSpPr>
        <p:spPr>
          <a:xfrm>
            <a:off x="548640" y="3886200"/>
            <a:ext cx="2194560" cy="50292"/>
          </a:xfrm>
          <a:prstGeom prst="rect">
            <a:avLst/>
          </a:prstGeom>
          <a:solidFill>
            <a:srgbClr val="6D28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548640" y="4297680"/>
            <a:ext cx="14813280" cy="1463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6000"/>
              </a:lnSpc>
            </a:pPr>
            <a:r>
              <a:rPr sz="1650" b="0" i="0">
                <a:solidFill>
                  <a:srgbClr val="4A4265"/>
                </a:solidFill>
                <a:latin typeface="Segoe UI"/>
              </a:rPr>
              <a:t>Everything about an event is judged in its first twenty minutes, and that is exactly when four thousand people arrive at eight counters at once.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48640" y="5989320"/>
            <a:ext cx="5516880" cy="288036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DDD8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Rounded Rectangle 12"/>
          <p:cNvSpPr/>
          <p:nvPr/>
        </p:nvSpPr>
        <p:spPr>
          <a:xfrm>
            <a:off x="932688" y="6373368"/>
            <a:ext cx="749808" cy="749808"/>
          </a:xfrm>
          <a:prstGeom prst="roundRect">
            <a:avLst>
              <a:gd name="adj" fmla="val 22000"/>
            </a:avLst>
          </a:prstGeom>
          <a:solidFill>
            <a:srgbClr val="FBE7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Rounded Rectangle 13"/>
          <p:cNvSpPr/>
          <p:nvPr/>
        </p:nvSpPr>
        <p:spPr>
          <a:xfrm>
            <a:off x="1088136" y="6528816"/>
            <a:ext cx="438912" cy="438912"/>
          </a:xfrm>
          <a:prstGeom prst="roundRect">
            <a:avLst>
              <a:gd name="adj" fmla="val 50000"/>
            </a:avLst>
          </a:prstGeom>
          <a:noFill/>
          <a:ln w="20320">
            <a:solidFill>
              <a:srgbClr val="C801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Rectangle 14"/>
          <p:cNvSpPr/>
          <p:nvPr/>
        </p:nvSpPr>
        <p:spPr>
          <a:xfrm>
            <a:off x="1293876" y="6601968"/>
            <a:ext cx="27432" cy="164592"/>
          </a:xfrm>
          <a:prstGeom prst="rect">
            <a:avLst/>
          </a:prstGeom>
          <a:solidFill>
            <a:srgbClr val="C801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cxnSp>
        <p:nvCxnSpPr>
          <p:cNvPr id="16" name="Connector 15"/>
          <p:cNvCxnSpPr/>
          <p:nvPr/>
        </p:nvCxnSpPr>
        <p:spPr>
          <a:xfrm>
            <a:off x="1307592" y="6757416"/>
            <a:ext cx="128015" cy="0"/>
          </a:xfrm>
          <a:prstGeom prst="line">
            <a:avLst/>
          </a:prstGeom>
          <a:ln w="22860">
            <a:solidFill>
              <a:srgbClr val="C801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TextBox 16"/>
          <p:cNvSpPr txBox="1"/>
          <p:nvPr/>
        </p:nvSpPr>
        <p:spPr>
          <a:xfrm>
            <a:off x="932688" y="7306056"/>
            <a:ext cx="4748784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4000"/>
              </a:lnSpc>
            </a:pPr>
            <a:r>
              <a:rPr sz="1700" b="1" i="0">
                <a:solidFill>
                  <a:srgbClr val="221C36"/>
                </a:solidFill>
                <a:latin typeface="Segoe UI"/>
              </a:rPr>
              <a:t>The queue is the review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32688" y="7836408"/>
            <a:ext cx="4748784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6000"/>
              </a:lnSpc>
            </a:pPr>
            <a:r>
              <a:rPr sz="1300" b="0" i="0">
                <a:solidFill>
                  <a:srgbClr val="6B6480"/>
                </a:solidFill>
                <a:latin typeface="Segoe UI"/>
              </a:rPr>
              <a:t>Forty minutes to collect a badge is the thing delegates remember and post about — not your keynote.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385560" y="5989320"/>
            <a:ext cx="5516880" cy="288036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DDD8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" name="Rounded Rectangle 19"/>
          <p:cNvSpPr/>
          <p:nvPr/>
        </p:nvSpPr>
        <p:spPr>
          <a:xfrm>
            <a:off x="6769608" y="6373368"/>
            <a:ext cx="749808" cy="749808"/>
          </a:xfrm>
          <a:prstGeom prst="roundRect">
            <a:avLst>
              <a:gd name="adj" fmla="val 22000"/>
            </a:avLst>
          </a:prstGeom>
          <a:solidFill>
            <a:srgbClr val="FBE7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Rounded Rectangle 20"/>
          <p:cNvSpPr/>
          <p:nvPr/>
        </p:nvSpPr>
        <p:spPr>
          <a:xfrm>
            <a:off x="6906768" y="6592824"/>
            <a:ext cx="475488" cy="310896"/>
          </a:xfrm>
          <a:prstGeom prst="roundRect">
            <a:avLst>
              <a:gd name="adj" fmla="val 16000"/>
            </a:avLst>
          </a:prstGeom>
          <a:noFill/>
          <a:ln w="20320">
            <a:solidFill>
              <a:srgbClr val="C801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cxnSp>
        <p:nvCxnSpPr>
          <p:cNvPr id="22" name="Connector 21"/>
          <p:cNvCxnSpPr/>
          <p:nvPr/>
        </p:nvCxnSpPr>
        <p:spPr>
          <a:xfrm>
            <a:off x="6906768" y="6711696"/>
            <a:ext cx="475488" cy="0"/>
          </a:xfrm>
          <a:prstGeom prst="line">
            <a:avLst/>
          </a:prstGeom>
          <a:ln w="20320">
            <a:solidFill>
              <a:srgbClr val="C801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TextBox 22"/>
          <p:cNvSpPr txBox="1"/>
          <p:nvPr/>
        </p:nvSpPr>
        <p:spPr>
          <a:xfrm>
            <a:off x="6769608" y="7306056"/>
            <a:ext cx="4748784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4000"/>
              </a:lnSpc>
            </a:pPr>
            <a:r>
              <a:rPr sz="1700" b="1" i="0">
                <a:solidFill>
                  <a:srgbClr val="221C36"/>
                </a:solidFill>
                <a:latin typeface="Segoe UI"/>
              </a:rPr>
              <a:t>Badges are theatre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769608" y="7836408"/>
            <a:ext cx="4748784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6000"/>
              </a:lnSpc>
            </a:pPr>
            <a:r>
              <a:rPr sz="1300" b="0" i="0">
                <a:solidFill>
                  <a:srgbClr val="6B6480"/>
                </a:solidFill>
                <a:latin typeface="Segoe UI"/>
              </a:rPr>
              <a:t>They get lost by lunch, swapped between colleagues, and left in hotel rooms on day two. They prove nothing.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12222480" y="5989320"/>
            <a:ext cx="5516880" cy="288036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DDD8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6" name="Rounded Rectangle 25"/>
          <p:cNvSpPr/>
          <p:nvPr/>
        </p:nvSpPr>
        <p:spPr>
          <a:xfrm>
            <a:off x="12606528" y="6373368"/>
            <a:ext cx="749808" cy="749808"/>
          </a:xfrm>
          <a:prstGeom prst="roundRect">
            <a:avLst>
              <a:gd name="adj" fmla="val 22000"/>
            </a:avLst>
          </a:prstGeom>
          <a:solidFill>
            <a:srgbClr val="FBE7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7" name="Rounded Rectangle 26"/>
          <p:cNvSpPr/>
          <p:nvPr/>
        </p:nvSpPr>
        <p:spPr>
          <a:xfrm>
            <a:off x="12798552" y="6528816"/>
            <a:ext cx="365760" cy="438912"/>
          </a:xfrm>
          <a:prstGeom prst="roundRect">
            <a:avLst>
              <a:gd name="adj" fmla="val 8000"/>
            </a:avLst>
          </a:prstGeom>
          <a:noFill/>
          <a:ln w="20320">
            <a:solidFill>
              <a:srgbClr val="C801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cxnSp>
        <p:nvCxnSpPr>
          <p:cNvPr id="28" name="Connector 27"/>
          <p:cNvCxnSpPr/>
          <p:nvPr/>
        </p:nvCxnSpPr>
        <p:spPr>
          <a:xfrm>
            <a:off x="12871704" y="6675120"/>
            <a:ext cx="219456" cy="0"/>
          </a:xfrm>
          <a:prstGeom prst="line">
            <a:avLst/>
          </a:prstGeom>
          <a:ln w="17780">
            <a:solidFill>
              <a:srgbClr val="C801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" name="Connector 28"/>
          <p:cNvCxnSpPr/>
          <p:nvPr/>
        </p:nvCxnSpPr>
        <p:spPr>
          <a:xfrm>
            <a:off x="12871704" y="6766559"/>
            <a:ext cx="219456" cy="0"/>
          </a:xfrm>
          <a:prstGeom prst="line">
            <a:avLst/>
          </a:prstGeom>
          <a:ln w="17780">
            <a:solidFill>
              <a:srgbClr val="C801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" name="TextBox 29"/>
          <p:cNvSpPr txBox="1"/>
          <p:nvPr/>
        </p:nvSpPr>
        <p:spPr>
          <a:xfrm>
            <a:off x="12606528" y="7306056"/>
            <a:ext cx="4748784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4000"/>
              </a:lnSpc>
            </a:pPr>
            <a:r>
              <a:rPr sz="1700" b="1" i="0">
                <a:solidFill>
                  <a:srgbClr val="221C36"/>
                </a:solidFill>
                <a:latin typeface="Segoe UI"/>
              </a:rPr>
              <a:t>Sponsors want numbers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2606528" y="7836408"/>
            <a:ext cx="4748784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6000"/>
              </a:lnSpc>
            </a:pPr>
            <a:r>
              <a:rPr sz="1300" b="0" i="0">
                <a:solidFill>
                  <a:srgbClr val="6B6480"/>
                </a:solidFill>
                <a:latin typeface="Segoe UI"/>
              </a:rPr>
              <a:t>“Around three thousand attended” is not a number a sponsor will renew on. Footfall per hall, per day, is.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solidFill>
            <a:srgbClr val="F5F3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48640" y="603504"/>
            <a:ext cx="1225296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150" b="0" i="0" spc="180">
                <a:solidFill>
                  <a:srgbClr val="6B6480"/>
                </a:solidFill>
                <a:latin typeface="Consolas"/>
              </a:rPr>
              <a:t>WHAT CHANGES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2252959" y="603504"/>
            <a:ext cx="548640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30000"/>
              </a:lnSpc>
            </a:pPr>
            <a:r>
              <a:rPr sz="1150" b="0" i="0" spc="180">
                <a:solidFill>
                  <a:srgbClr val="C4BCDD"/>
                </a:solidFill>
                <a:latin typeface="Consolas"/>
              </a:rPr>
              <a:t>03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48640" y="1024128"/>
            <a:ext cx="17190720" cy="0"/>
          </a:xfrm>
          <a:prstGeom prst="line">
            <a:avLst/>
          </a:prstGeom>
          <a:ln w="12700">
            <a:solidFill>
              <a:srgbClr val="DDD8E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" name="Connector 5"/>
          <p:cNvCxnSpPr/>
          <p:nvPr/>
        </p:nvCxnSpPr>
        <p:spPr>
          <a:xfrm>
            <a:off x="548640" y="9400032"/>
            <a:ext cx="17190720" cy="0"/>
          </a:xfrm>
          <a:prstGeom prst="line">
            <a:avLst/>
          </a:prstGeom>
          <a:ln w="12700">
            <a:solidFill>
              <a:srgbClr val="DDD8E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548640" y="9546336"/>
            <a:ext cx="548640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050" b="0" i="0" spc="180">
                <a:solidFill>
                  <a:srgbClr val="6B6480"/>
                </a:solidFill>
                <a:latin typeface="Consolas"/>
              </a:rPr>
              <a:t>BIOCORE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509759" y="9546336"/>
            <a:ext cx="822960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30000"/>
              </a:lnSpc>
            </a:pPr>
            <a:r>
              <a:rPr sz="1050" b="0" i="0" spc="140">
                <a:solidFill>
                  <a:srgbClr val="C4BCDD"/>
                </a:solidFill>
                <a:latin typeface="Consolas"/>
              </a:rPr>
              <a:t>Event companies &amp; venues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2148840"/>
            <a:ext cx="14173200" cy="23774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</a:pPr>
            <a:r>
              <a:rPr sz="4200" b="0" i="0">
                <a:solidFill>
                  <a:srgbClr val="221C36"/>
                </a:solidFill>
                <a:latin typeface="Segoe UI Light"/>
              </a:rPr>
              <a:t>The face they registered with is the badge</a:t>
            </a:r>
          </a:p>
        </p:txBody>
      </p:sp>
      <p:sp>
        <p:nvSpPr>
          <p:cNvPr id="10" name="Rectangle 9"/>
          <p:cNvSpPr/>
          <p:nvPr/>
        </p:nvSpPr>
        <p:spPr>
          <a:xfrm>
            <a:off x="548640" y="4069080"/>
            <a:ext cx="2194560" cy="50292"/>
          </a:xfrm>
          <a:prstGeom prst="rect">
            <a:avLst/>
          </a:prstGeom>
          <a:solidFill>
            <a:srgbClr val="6D28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548640" y="4480560"/>
            <a:ext cx="14813280" cy="1463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6000"/>
              </a:lnSpc>
            </a:pPr>
            <a:r>
              <a:rPr sz="1650" b="0" i="0">
                <a:solidFill>
                  <a:srgbClr val="4A4265"/>
                </a:solidFill>
                <a:latin typeface="Segoe UI"/>
              </a:rPr>
              <a:t>Delegates upload a photo at registration, as they already do. At the door, they walk through. Nothing is printed and nothing is queued.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48640" y="5989320"/>
            <a:ext cx="5516880" cy="288036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DDD8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Rounded Rectangle 12"/>
          <p:cNvSpPr/>
          <p:nvPr/>
        </p:nvSpPr>
        <p:spPr>
          <a:xfrm>
            <a:off x="932688" y="6373368"/>
            <a:ext cx="749808" cy="749808"/>
          </a:xfrm>
          <a:prstGeom prst="roundRect">
            <a:avLst>
              <a:gd name="adj" fmla="val 22000"/>
            </a:avLst>
          </a:prstGeom>
          <a:solidFill>
            <a:srgbClr val="EDE7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Rounded Rectangle 13"/>
          <p:cNvSpPr/>
          <p:nvPr/>
        </p:nvSpPr>
        <p:spPr>
          <a:xfrm>
            <a:off x="1106424" y="6547104"/>
            <a:ext cx="402336" cy="402336"/>
          </a:xfrm>
          <a:prstGeom prst="roundRect">
            <a:avLst>
              <a:gd name="adj" fmla="val 50000"/>
            </a:avLst>
          </a:prstGeom>
          <a:noFill/>
          <a:ln w="20320">
            <a:solidFill>
              <a:srgbClr val="6D28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cxnSp>
        <p:nvCxnSpPr>
          <p:cNvPr id="15" name="Connector 14"/>
          <p:cNvCxnSpPr/>
          <p:nvPr/>
        </p:nvCxnSpPr>
        <p:spPr>
          <a:xfrm>
            <a:off x="1216151" y="6766559"/>
            <a:ext cx="182880" cy="0"/>
          </a:xfrm>
          <a:prstGeom prst="line">
            <a:avLst/>
          </a:prstGeom>
          <a:ln w="25400">
            <a:solidFill>
              <a:srgbClr val="6D28D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TextBox 15"/>
          <p:cNvSpPr txBox="1"/>
          <p:nvPr/>
        </p:nvSpPr>
        <p:spPr>
          <a:xfrm>
            <a:off x="932688" y="7306056"/>
            <a:ext cx="4748784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4000"/>
              </a:lnSpc>
            </a:pPr>
            <a:r>
              <a:rPr sz="1700" b="1" i="0">
                <a:solidFill>
                  <a:srgbClr val="221C36"/>
                </a:solidFill>
                <a:latin typeface="Segoe UI"/>
              </a:rPr>
              <a:t>No printing at all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32688" y="7836408"/>
            <a:ext cx="4748784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6000"/>
              </a:lnSpc>
            </a:pPr>
            <a:r>
              <a:rPr sz="1300" b="0" i="0">
                <a:solidFill>
                  <a:srgbClr val="6B6480"/>
                </a:solidFill>
                <a:latin typeface="Segoe UI"/>
              </a:rPr>
              <a:t>No badge stock, no lanyards, no on-site printers jamming at 8:40am, no staff behind eight counters.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385560" y="5989320"/>
            <a:ext cx="5516880" cy="288036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DDD8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Rounded Rectangle 18"/>
          <p:cNvSpPr/>
          <p:nvPr/>
        </p:nvSpPr>
        <p:spPr>
          <a:xfrm>
            <a:off x="6769608" y="6373368"/>
            <a:ext cx="749808" cy="749808"/>
          </a:xfrm>
          <a:prstGeom prst="roundRect">
            <a:avLst>
              <a:gd name="adj" fmla="val 22000"/>
            </a:avLst>
          </a:prstGeom>
          <a:solidFill>
            <a:srgbClr val="EDE7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" name="Rounded Rectangle 19"/>
          <p:cNvSpPr/>
          <p:nvPr/>
        </p:nvSpPr>
        <p:spPr>
          <a:xfrm>
            <a:off x="6925056" y="6528816"/>
            <a:ext cx="438912" cy="438912"/>
          </a:xfrm>
          <a:prstGeom prst="roundRect">
            <a:avLst>
              <a:gd name="adj" fmla="val 50000"/>
            </a:avLst>
          </a:prstGeom>
          <a:noFill/>
          <a:ln w="20320">
            <a:solidFill>
              <a:srgbClr val="6D28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Rounded Rectangle 20"/>
          <p:cNvSpPr/>
          <p:nvPr/>
        </p:nvSpPr>
        <p:spPr>
          <a:xfrm>
            <a:off x="7043928" y="6656832"/>
            <a:ext cx="54864" cy="54864"/>
          </a:xfrm>
          <a:prstGeom prst="roundRect">
            <a:avLst>
              <a:gd name="adj" fmla="val 50000"/>
            </a:avLst>
          </a:prstGeom>
          <a:solidFill>
            <a:srgbClr val="6D28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Rounded Rectangle 21"/>
          <p:cNvSpPr/>
          <p:nvPr/>
        </p:nvSpPr>
        <p:spPr>
          <a:xfrm>
            <a:off x="7190232" y="6656832"/>
            <a:ext cx="54864" cy="54864"/>
          </a:xfrm>
          <a:prstGeom prst="roundRect">
            <a:avLst>
              <a:gd name="adj" fmla="val 50000"/>
            </a:avLst>
          </a:prstGeom>
          <a:solidFill>
            <a:srgbClr val="6D28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cxnSp>
        <p:nvCxnSpPr>
          <p:cNvPr id="23" name="Connector 22"/>
          <p:cNvCxnSpPr/>
          <p:nvPr/>
        </p:nvCxnSpPr>
        <p:spPr>
          <a:xfrm>
            <a:off x="7053072" y="6839712"/>
            <a:ext cx="182880" cy="0"/>
          </a:xfrm>
          <a:prstGeom prst="line">
            <a:avLst/>
          </a:prstGeom>
          <a:ln w="19050">
            <a:solidFill>
              <a:srgbClr val="6D28D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TextBox 23"/>
          <p:cNvSpPr txBox="1"/>
          <p:nvPr/>
        </p:nvSpPr>
        <p:spPr>
          <a:xfrm>
            <a:off x="6769608" y="7306056"/>
            <a:ext cx="4748784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4000"/>
              </a:lnSpc>
            </a:pPr>
            <a:r>
              <a:rPr sz="1700" b="1" i="0">
                <a:solidFill>
                  <a:srgbClr val="221C36"/>
                </a:solidFill>
                <a:latin typeface="Segoe UI"/>
              </a:rPr>
              <a:t>Cannot be passed on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769608" y="7836408"/>
            <a:ext cx="4748784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6000"/>
              </a:lnSpc>
            </a:pPr>
            <a:r>
              <a:rPr sz="1300" b="0" i="0">
                <a:solidFill>
                  <a:srgbClr val="6B6480"/>
                </a:solidFill>
                <a:latin typeface="Segoe UI"/>
              </a:rPr>
              <a:t>A badge can be handed to a colleague at the door. A face cannot — which is what your paying sponsors are relying on.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12222480" y="5989320"/>
            <a:ext cx="5516880" cy="288036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DDD8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7" name="Rounded Rectangle 26"/>
          <p:cNvSpPr/>
          <p:nvPr/>
        </p:nvSpPr>
        <p:spPr>
          <a:xfrm>
            <a:off x="12606528" y="6373368"/>
            <a:ext cx="749808" cy="749808"/>
          </a:xfrm>
          <a:prstGeom prst="roundRect">
            <a:avLst>
              <a:gd name="adj" fmla="val 22000"/>
            </a:avLst>
          </a:prstGeom>
          <a:solidFill>
            <a:srgbClr val="EDE7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8" name="Rounded Rectangle 27"/>
          <p:cNvSpPr/>
          <p:nvPr/>
        </p:nvSpPr>
        <p:spPr>
          <a:xfrm>
            <a:off x="12798552" y="6528816"/>
            <a:ext cx="365760" cy="438912"/>
          </a:xfrm>
          <a:prstGeom prst="roundRect">
            <a:avLst>
              <a:gd name="adj" fmla="val 8000"/>
            </a:avLst>
          </a:prstGeom>
          <a:noFill/>
          <a:ln w="20320">
            <a:solidFill>
              <a:srgbClr val="6D28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cxnSp>
        <p:nvCxnSpPr>
          <p:cNvPr id="29" name="Connector 28"/>
          <p:cNvCxnSpPr/>
          <p:nvPr/>
        </p:nvCxnSpPr>
        <p:spPr>
          <a:xfrm>
            <a:off x="12871704" y="6675120"/>
            <a:ext cx="219456" cy="0"/>
          </a:xfrm>
          <a:prstGeom prst="line">
            <a:avLst/>
          </a:prstGeom>
          <a:ln w="17780">
            <a:solidFill>
              <a:srgbClr val="6D28D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" name="Connector 29"/>
          <p:cNvCxnSpPr/>
          <p:nvPr/>
        </p:nvCxnSpPr>
        <p:spPr>
          <a:xfrm>
            <a:off x="12871704" y="6766559"/>
            <a:ext cx="219456" cy="0"/>
          </a:xfrm>
          <a:prstGeom prst="line">
            <a:avLst/>
          </a:prstGeom>
          <a:ln w="17780">
            <a:solidFill>
              <a:srgbClr val="6D28D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1" name="TextBox 30"/>
          <p:cNvSpPr txBox="1"/>
          <p:nvPr/>
        </p:nvSpPr>
        <p:spPr>
          <a:xfrm>
            <a:off x="12606528" y="7306056"/>
            <a:ext cx="4748784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4000"/>
              </a:lnSpc>
            </a:pPr>
            <a:r>
              <a:rPr sz="1700" b="1" i="0">
                <a:solidFill>
                  <a:srgbClr val="221C36"/>
                </a:solidFill>
                <a:latin typeface="Segoe UI"/>
              </a:rPr>
              <a:t>Numbers you can invoice on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2606528" y="7836408"/>
            <a:ext cx="4748784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6000"/>
              </a:lnSpc>
            </a:pPr>
            <a:r>
              <a:rPr sz="1300" b="0" i="0">
                <a:solidFill>
                  <a:srgbClr val="6B6480"/>
                </a:solidFill>
                <a:latin typeface="Segoe UI"/>
              </a:rPr>
              <a:t>Exact attendance per hall, per session, per day — evidence for the sponsor report, not an estimate.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solidFill>
            <a:srgbClr val="F5F3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48640" y="603504"/>
            <a:ext cx="1225296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150" b="0" i="0" spc="180">
                <a:solidFill>
                  <a:srgbClr val="6B6480"/>
                </a:solidFill>
                <a:latin typeface="Consolas"/>
              </a:rPr>
              <a:t>WHAT YOU INSTALL AT THE GATE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2252959" y="603504"/>
            <a:ext cx="548640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30000"/>
              </a:lnSpc>
            </a:pPr>
            <a:r>
              <a:rPr sz="1150" b="0" i="0" spc="180">
                <a:solidFill>
                  <a:srgbClr val="C4BCDD"/>
                </a:solidFill>
                <a:latin typeface="Consolas"/>
              </a:rPr>
              <a:t>04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48640" y="1024128"/>
            <a:ext cx="17190720" cy="0"/>
          </a:xfrm>
          <a:prstGeom prst="line">
            <a:avLst/>
          </a:prstGeom>
          <a:ln w="12700">
            <a:solidFill>
              <a:srgbClr val="DDD8E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" name="Connector 5"/>
          <p:cNvCxnSpPr/>
          <p:nvPr/>
        </p:nvCxnSpPr>
        <p:spPr>
          <a:xfrm>
            <a:off x="548640" y="9400032"/>
            <a:ext cx="17190720" cy="0"/>
          </a:xfrm>
          <a:prstGeom prst="line">
            <a:avLst/>
          </a:prstGeom>
          <a:ln w="12700">
            <a:solidFill>
              <a:srgbClr val="DDD8E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548640" y="9546336"/>
            <a:ext cx="548640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050" b="0" i="0" spc="180">
                <a:solidFill>
                  <a:srgbClr val="6B6480"/>
                </a:solidFill>
                <a:latin typeface="Consolas"/>
              </a:rPr>
              <a:t>BIOCORE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509759" y="9546336"/>
            <a:ext cx="822960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30000"/>
              </a:lnSpc>
            </a:pPr>
            <a:r>
              <a:rPr sz="1050" b="0" i="0" spc="140">
                <a:solidFill>
                  <a:srgbClr val="C4BCDD"/>
                </a:solidFill>
                <a:latin typeface="Consolas"/>
              </a:rPr>
              <a:t>Event companies &amp; venues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2103120"/>
            <a:ext cx="14173200" cy="23774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</a:pPr>
            <a:r>
              <a:rPr sz="4200" b="0" i="0">
                <a:solidFill>
                  <a:srgbClr val="221C36"/>
                </a:solidFill>
                <a:latin typeface="Segoe UI Light"/>
              </a:rPr>
              <a:t>A tablet, your existing gate, or a turnstile</a:t>
            </a:r>
          </a:p>
        </p:txBody>
      </p:sp>
      <p:sp>
        <p:nvSpPr>
          <p:cNvPr id="10" name="Rectangle 9"/>
          <p:cNvSpPr/>
          <p:nvPr/>
        </p:nvSpPr>
        <p:spPr>
          <a:xfrm>
            <a:off x="548640" y="4069080"/>
            <a:ext cx="2194560" cy="50292"/>
          </a:xfrm>
          <a:prstGeom prst="rect">
            <a:avLst/>
          </a:prstGeom>
          <a:solidFill>
            <a:srgbClr val="6D28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548640" y="4480560"/>
            <a:ext cx="14813280" cy="1463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6000"/>
              </a:lnSpc>
            </a:pPr>
            <a:r>
              <a:rPr sz="1650" b="0" i="0">
                <a:solidFill>
                  <a:srgbClr val="4A4265"/>
                </a:solidFill>
                <a:latin typeface="Segoe UI"/>
              </a:rPr>
              <a:t>For events, tablets on stands are usually right: they arrive in a case, go up in an hour, and come down on Sunday night. Turnstiles only for ticketed venues with a fixed entrance.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48640" y="5989320"/>
            <a:ext cx="5516880" cy="301752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DDD8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Rounded Rectangle 12"/>
          <p:cNvSpPr/>
          <p:nvPr/>
        </p:nvSpPr>
        <p:spPr>
          <a:xfrm>
            <a:off x="932688" y="6373368"/>
            <a:ext cx="749808" cy="749808"/>
          </a:xfrm>
          <a:prstGeom prst="roundRect">
            <a:avLst>
              <a:gd name="adj" fmla="val 22000"/>
            </a:avLst>
          </a:prstGeom>
          <a:solidFill>
            <a:srgbClr val="EDE7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Rounded Rectangle 13"/>
          <p:cNvSpPr/>
          <p:nvPr/>
        </p:nvSpPr>
        <p:spPr>
          <a:xfrm>
            <a:off x="1161288" y="6528816"/>
            <a:ext cx="292608" cy="438912"/>
          </a:xfrm>
          <a:prstGeom prst="roundRect">
            <a:avLst>
              <a:gd name="adj" fmla="val 16000"/>
            </a:avLst>
          </a:prstGeom>
          <a:noFill/>
          <a:ln w="20320">
            <a:solidFill>
              <a:srgbClr val="6D28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cxnSp>
        <p:nvCxnSpPr>
          <p:cNvPr id="15" name="Connector 14"/>
          <p:cNvCxnSpPr/>
          <p:nvPr/>
        </p:nvCxnSpPr>
        <p:spPr>
          <a:xfrm>
            <a:off x="1252728" y="6885432"/>
            <a:ext cx="109727" cy="0"/>
          </a:xfrm>
          <a:prstGeom prst="line">
            <a:avLst/>
          </a:prstGeom>
          <a:ln w="20320">
            <a:solidFill>
              <a:srgbClr val="6D28D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TextBox 15"/>
          <p:cNvSpPr txBox="1"/>
          <p:nvPr/>
        </p:nvSpPr>
        <p:spPr>
          <a:xfrm>
            <a:off x="932688" y="7306056"/>
            <a:ext cx="4748784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4000"/>
              </a:lnSpc>
            </a:pPr>
            <a:r>
              <a:rPr sz="1700" b="1" i="0">
                <a:solidFill>
                  <a:srgbClr val="221C36"/>
                </a:solidFill>
                <a:latin typeface="Segoe UI"/>
              </a:rPr>
              <a:t>A tablet on a stand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32688" y="7836408"/>
            <a:ext cx="4748784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6000"/>
              </a:lnSpc>
            </a:pPr>
            <a:r>
              <a:rPr sz="1300" b="0" i="0">
                <a:solidFill>
                  <a:srgbClr val="6B6480"/>
                </a:solidFill>
                <a:latin typeface="Segoe UI"/>
              </a:rPr>
              <a:t>The cheapest way to start. An ordinary tablet on a floor stand or wall mount, facing the door. No civil work, no wiring, nothing drilled. Move it whenever you like.</a:t>
            </a:r>
          </a:p>
          <a:p>
            <a:pPr algn="l">
              <a:lnSpc>
                <a:spcPct val="136000"/>
              </a:lnSpc>
            </a:pPr>
            <a:r>
              <a:rPr sz="1300" b="0" i="0">
                <a:solidFill>
                  <a:srgbClr val="6B6480"/>
                </a:solidFill>
                <a:latin typeface="Segoe UI"/>
              </a:rPr>
              <a:t/>
            </a:r>
          </a:p>
          <a:p>
            <a:pPr algn="l">
              <a:lnSpc>
                <a:spcPct val="136000"/>
              </a:lnSpc>
            </a:pPr>
            <a:r>
              <a:rPr sz="1300" b="0" i="0">
                <a:solidFill>
                  <a:srgbClr val="6B6480"/>
                </a:solidFill>
                <a:latin typeface="Segoe UI"/>
              </a:rPr>
              <a:t>Best for: reception, a side door, a small gate.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385560" y="5989320"/>
            <a:ext cx="5516880" cy="301752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DDD8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Rounded Rectangle 18"/>
          <p:cNvSpPr/>
          <p:nvPr/>
        </p:nvSpPr>
        <p:spPr>
          <a:xfrm>
            <a:off x="6769608" y="6373368"/>
            <a:ext cx="749808" cy="749808"/>
          </a:xfrm>
          <a:prstGeom prst="roundRect">
            <a:avLst>
              <a:gd name="adj" fmla="val 22000"/>
            </a:avLst>
          </a:prstGeom>
          <a:solidFill>
            <a:srgbClr val="EDE7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" name="Rounded Rectangle 19"/>
          <p:cNvSpPr/>
          <p:nvPr/>
        </p:nvSpPr>
        <p:spPr>
          <a:xfrm>
            <a:off x="6925056" y="6620256"/>
            <a:ext cx="365760" cy="274320"/>
          </a:xfrm>
          <a:prstGeom prst="roundRect">
            <a:avLst>
              <a:gd name="adj" fmla="val 16000"/>
            </a:avLst>
          </a:prstGeom>
          <a:noFill/>
          <a:ln w="20320">
            <a:solidFill>
              <a:srgbClr val="6D28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Rounded Rectangle 20"/>
          <p:cNvSpPr/>
          <p:nvPr/>
        </p:nvSpPr>
        <p:spPr>
          <a:xfrm>
            <a:off x="7089648" y="6702552"/>
            <a:ext cx="109728" cy="109728"/>
          </a:xfrm>
          <a:prstGeom prst="roundRect">
            <a:avLst>
              <a:gd name="adj" fmla="val 50000"/>
            </a:avLst>
          </a:prstGeom>
          <a:solidFill>
            <a:srgbClr val="6D28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6769608" y="7306056"/>
            <a:ext cx="4748784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4000"/>
              </a:lnSpc>
            </a:pPr>
            <a:r>
              <a:rPr sz="1700" b="1" i="0">
                <a:solidFill>
                  <a:srgbClr val="221C36"/>
                </a:solidFill>
                <a:latin typeface="Segoe UI"/>
              </a:rPr>
              <a:t>A camera at the gate you have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769608" y="7836408"/>
            <a:ext cx="4748784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6000"/>
              </a:lnSpc>
            </a:pPr>
            <a:r>
              <a:rPr sz="1300" b="0" i="0">
                <a:solidFill>
                  <a:srgbClr val="6B6480"/>
                </a:solidFill>
                <a:latin typeface="Segoe UI"/>
              </a:rPr>
              <a:t>Keep the boom barrier, sliding gate or door you already own. Add a camera and a small screen; the software opens what is already there.</a:t>
            </a:r>
          </a:p>
          <a:p>
            <a:pPr algn="l">
              <a:lnSpc>
                <a:spcPct val="136000"/>
              </a:lnSpc>
            </a:pPr>
            <a:r>
              <a:rPr sz="1300" b="0" i="0">
                <a:solidFill>
                  <a:srgbClr val="6B6480"/>
                </a:solidFill>
                <a:latin typeface="Segoe UI"/>
              </a:rPr>
              <a:t/>
            </a:r>
          </a:p>
          <a:p>
            <a:pPr algn="l">
              <a:lnSpc>
                <a:spcPct val="136000"/>
              </a:lnSpc>
            </a:pPr>
            <a:r>
              <a:rPr sz="1300" b="0" i="0">
                <a:solidFill>
                  <a:srgbClr val="6B6480"/>
                </a:solidFill>
                <a:latin typeface="Segoe UI"/>
              </a:rPr>
              <a:t>Best for: a gate that already works, and you only want it to become smarter.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12222480" y="5989320"/>
            <a:ext cx="5516880" cy="301752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DDD8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5" name="Rounded Rectangle 24"/>
          <p:cNvSpPr/>
          <p:nvPr/>
        </p:nvSpPr>
        <p:spPr>
          <a:xfrm>
            <a:off x="12606528" y="6373368"/>
            <a:ext cx="749808" cy="749808"/>
          </a:xfrm>
          <a:prstGeom prst="roundRect">
            <a:avLst>
              <a:gd name="adj" fmla="val 22000"/>
            </a:avLst>
          </a:prstGeom>
          <a:solidFill>
            <a:srgbClr val="EDE7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6" name="Rounded Rectangle 25"/>
          <p:cNvSpPr/>
          <p:nvPr/>
        </p:nvSpPr>
        <p:spPr>
          <a:xfrm>
            <a:off x="12780264" y="6547104"/>
            <a:ext cx="73152" cy="402336"/>
          </a:xfrm>
          <a:prstGeom prst="roundRect">
            <a:avLst>
              <a:gd name="adj" fmla="val 20000"/>
            </a:avLst>
          </a:prstGeom>
          <a:solidFill>
            <a:srgbClr val="6D28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7" name="Rounded Rectangle 26"/>
          <p:cNvSpPr/>
          <p:nvPr/>
        </p:nvSpPr>
        <p:spPr>
          <a:xfrm>
            <a:off x="13109448" y="6547104"/>
            <a:ext cx="73152" cy="402336"/>
          </a:xfrm>
          <a:prstGeom prst="roundRect">
            <a:avLst>
              <a:gd name="adj" fmla="val 20000"/>
            </a:avLst>
          </a:prstGeom>
          <a:solidFill>
            <a:srgbClr val="6D28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cxnSp>
        <p:nvCxnSpPr>
          <p:cNvPr id="28" name="Connector 27"/>
          <p:cNvCxnSpPr/>
          <p:nvPr/>
        </p:nvCxnSpPr>
        <p:spPr>
          <a:xfrm>
            <a:off x="12889992" y="6748272"/>
            <a:ext cx="182880" cy="0"/>
          </a:xfrm>
          <a:prstGeom prst="line">
            <a:avLst/>
          </a:prstGeom>
          <a:ln w="22860">
            <a:solidFill>
              <a:srgbClr val="6D28D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9" name="TextBox 28"/>
          <p:cNvSpPr txBox="1"/>
          <p:nvPr/>
        </p:nvSpPr>
        <p:spPr>
          <a:xfrm>
            <a:off x="12606528" y="7306056"/>
            <a:ext cx="4748784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4000"/>
              </a:lnSpc>
            </a:pPr>
            <a:r>
              <a:rPr sz="1700" b="1" i="0">
                <a:solidFill>
                  <a:srgbClr val="221C36"/>
                </a:solidFill>
                <a:latin typeface="Segoe UI"/>
              </a:rPr>
              <a:t>A turnstile or flap barrier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2606528" y="7836408"/>
            <a:ext cx="4748784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6000"/>
              </a:lnSpc>
            </a:pPr>
            <a:r>
              <a:rPr sz="1300" b="0" i="0">
                <a:solidFill>
                  <a:srgbClr val="6B6480"/>
                </a:solidFill>
                <a:latin typeface="Segoe UI"/>
              </a:rPr>
              <a:t>One person per pass, physically. This is the only option that actually stops two people walking through on one face.</a:t>
            </a:r>
          </a:p>
          <a:p>
            <a:pPr algn="l">
              <a:lnSpc>
                <a:spcPct val="136000"/>
              </a:lnSpc>
            </a:pPr>
            <a:r>
              <a:rPr sz="1300" b="0" i="0">
                <a:solidFill>
                  <a:srgbClr val="6B6480"/>
                </a:solidFill>
                <a:latin typeface="Segoe UI"/>
              </a:rPr>
              <a:t/>
            </a:r>
          </a:p>
          <a:p>
            <a:pPr algn="l">
              <a:lnSpc>
                <a:spcPct val="136000"/>
              </a:lnSpc>
            </a:pPr>
            <a:r>
              <a:rPr sz="1300" b="0" i="0">
                <a:solidFill>
                  <a:srgbClr val="6B6480"/>
                </a:solidFill>
                <a:latin typeface="Segoe UI"/>
              </a:rPr>
              <a:t>Best for: offices, factories, anywhere tailgating genuinely matters.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48640" y="9144000"/>
            <a:ext cx="171907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350" b="0" i="1">
                <a:solidFill>
                  <a:srgbClr val="6D28D9"/>
                </a:solidFill>
                <a:latin typeface="Segoe UI"/>
              </a:rPr>
              <a:t>Existing CCTV cameras can often be reused. Start with a tablet, prove it on one door, then decide.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solidFill>
            <a:srgbClr val="F5F3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48640" y="603504"/>
            <a:ext cx="1225296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150" b="0" i="0" spc="180">
                <a:solidFill>
                  <a:srgbClr val="6B6480"/>
                </a:solidFill>
                <a:latin typeface="Consolas"/>
              </a:rPr>
              <a:t>A REAL EVENT  —  DAY ONE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2252959" y="603504"/>
            <a:ext cx="548640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30000"/>
              </a:lnSpc>
            </a:pPr>
            <a:r>
              <a:rPr sz="1150" b="0" i="0" spc="180">
                <a:solidFill>
                  <a:srgbClr val="C4BCDD"/>
                </a:solidFill>
                <a:latin typeface="Consolas"/>
              </a:rPr>
              <a:t>05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48640" y="1024128"/>
            <a:ext cx="17190720" cy="0"/>
          </a:xfrm>
          <a:prstGeom prst="line">
            <a:avLst/>
          </a:prstGeom>
          <a:ln w="12700">
            <a:solidFill>
              <a:srgbClr val="DDD8E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" name="Connector 5"/>
          <p:cNvCxnSpPr/>
          <p:nvPr/>
        </p:nvCxnSpPr>
        <p:spPr>
          <a:xfrm>
            <a:off x="548640" y="9400032"/>
            <a:ext cx="17190720" cy="0"/>
          </a:xfrm>
          <a:prstGeom prst="line">
            <a:avLst/>
          </a:prstGeom>
          <a:ln w="12700">
            <a:solidFill>
              <a:srgbClr val="DDD8E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548640" y="9546336"/>
            <a:ext cx="548640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050" b="0" i="0" spc="180">
                <a:solidFill>
                  <a:srgbClr val="6B6480"/>
                </a:solidFill>
                <a:latin typeface="Consolas"/>
              </a:rPr>
              <a:t>BIOCORE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509759" y="9546336"/>
            <a:ext cx="822960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30000"/>
              </a:lnSpc>
            </a:pPr>
            <a:r>
              <a:rPr sz="1050" b="0" i="0" spc="140">
                <a:solidFill>
                  <a:srgbClr val="C4BCDD"/>
                </a:solidFill>
                <a:latin typeface="Consolas"/>
              </a:rPr>
              <a:t>Event companies &amp; venues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2103120"/>
            <a:ext cx="14173200" cy="23774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</a:pPr>
            <a:r>
              <a:rPr sz="4200" b="0" i="0">
                <a:solidFill>
                  <a:srgbClr val="221C36"/>
                </a:solidFill>
                <a:latin typeface="Segoe UI Light"/>
              </a:rPr>
              <a:t>Doors at 08:30, keynote at 09:30</a:t>
            </a:r>
          </a:p>
        </p:txBody>
      </p:sp>
      <p:sp>
        <p:nvSpPr>
          <p:cNvPr id="10" name="Rectangle 9"/>
          <p:cNvSpPr/>
          <p:nvPr/>
        </p:nvSpPr>
        <p:spPr>
          <a:xfrm>
            <a:off x="548640" y="4069080"/>
            <a:ext cx="2194560" cy="50292"/>
          </a:xfrm>
          <a:prstGeom prst="rect">
            <a:avLst/>
          </a:prstGeom>
          <a:solidFill>
            <a:srgbClr val="6D28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548640" y="4480560"/>
            <a:ext cx="14813280" cy="1463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6000"/>
              </a:lnSpc>
            </a:pPr>
            <a:r>
              <a:rPr sz="1650" b="0" i="0">
                <a:solidFill>
                  <a:srgbClr val="4A4265"/>
                </a:solidFill>
                <a:latin typeface="Segoe UI"/>
              </a:rPr>
              <a:t>A 5,000-delegate conference across four halls and one exhibition floor.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48640" y="5989320"/>
            <a:ext cx="4057650" cy="27432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DDD8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914400" y="6355080"/>
            <a:ext cx="332613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100" b="0" i="0" spc="150">
                <a:solidFill>
                  <a:srgbClr val="6D28D9"/>
                </a:solidFill>
                <a:latin typeface="Consolas"/>
              </a:rPr>
              <a:t>08:31  —  MAIN DOORS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14400" y="6784848"/>
            <a:ext cx="332613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4000"/>
              </a:lnSpc>
            </a:pPr>
            <a:r>
              <a:rPr sz="1700" b="1" i="0">
                <a:solidFill>
                  <a:srgbClr val="221C36"/>
                </a:solidFill>
                <a:latin typeface="Segoe UI"/>
              </a:rPr>
              <a:t>Six lanes, no counters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14400" y="7360920"/>
            <a:ext cx="332613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6000"/>
              </a:lnSpc>
            </a:pPr>
            <a:r>
              <a:rPr sz="1300" b="0" i="0">
                <a:solidFill>
                  <a:srgbClr val="6B6480"/>
                </a:solidFill>
                <a:latin typeface="Segoe UI"/>
              </a:rPr>
              <a:t>Six tablets on stands replace eight</a:t>
            </a:r>
          </a:p>
          <a:p>
            <a:pPr algn="l">
              <a:lnSpc>
                <a:spcPct val="136000"/>
              </a:lnSpc>
            </a:pPr>
            <a:r>
              <a:rPr sz="1300" b="0" i="0">
                <a:solidFill>
                  <a:srgbClr val="6B6480"/>
                </a:solidFill>
                <a:latin typeface="Segoe UI"/>
              </a:rPr>
              <a:t>registration counters. Delegates walk</a:t>
            </a:r>
          </a:p>
          <a:p>
            <a:pPr algn="l">
              <a:lnSpc>
                <a:spcPct val="136000"/>
              </a:lnSpc>
            </a:pPr>
            <a:r>
              <a:rPr sz="1300" b="0" i="0">
                <a:solidFill>
                  <a:srgbClr val="6B6480"/>
                </a:solidFill>
                <a:latin typeface="Segoe UI"/>
              </a:rPr>
              <a:t>through at a walking pace.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926329" y="5989320"/>
            <a:ext cx="4057650" cy="27432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DDD8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5292090" y="6355080"/>
            <a:ext cx="332613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100" b="0" i="0" spc="150">
                <a:solidFill>
                  <a:srgbClr val="6D28D9"/>
                </a:solidFill>
                <a:latin typeface="Consolas"/>
              </a:rPr>
              <a:t>09:15  —  THE GREEN ROOM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292090" y="6784848"/>
            <a:ext cx="332613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4000"/>
              </a:lnSpc>
            </a:pPr>
            <a:r>
              <a:rPr sz="1700" b="1" i="0">
                <a:solidFill>
                  <a:srgbClr val="221C36"/>
                </a:solidFill>
                <a:latin typeface="Segoe UI"/>
              </a:rPr>
              <a:t>Speakers only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292090" y="7360920"/>
            <a:ext cx="332613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6000"/>
              </a:lnSpc>
            </a:pPr>
            <a:r>
              <a:rPr sz="1300" b="0" i="0">
                <a:solidFill>
                  <a:srgbClr val="6B6480"/>
                </a:solidFill>
                <a:latin typeface="Segoe UI"/>
              </a:rPr>
              <a:t>The same face that entered the venue does</a:t>
            </a:r>
          </a:p>
          <a:p>
            <a:pPr algn="l">
              <a:lnSpc>
                <a:spcPct val="136000"/>
              </a:lnSpc>
            </a:pPr>
            <a:r>
              <a:rPr sz="1300" b="0" i="0">
                <a:solidFill>
                  <a:srgbClr val="6B6480"/>
                </a:solidFill>
                <a:latin typeface="Segoe UI"/>
              </a:rPr>
              <a:t>not open the green room — unless that</a:t>
            </a:r>
          </a:p>
          <a:p>
            <a:pPr algn="l">
              <a:lnSpc>
                <a:spcPct val="136000"/>
              </a:lnSpc>
            </a:pPr>
            <a:r>
              <a:rPr sz="1300" b="0" i="0">
                <a:solidFill>
                  <a:srgbClr val="6B6480"/>
                </a:solidFill>
                <a:latin typeface="Segoe UI"/>
              </a:rPr>
              <a:t>person is on the speaker list.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9304019" y="5989320"/>
            <a:ext cx="4057650" cy="27432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DDD8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TextBox 20"/>
          <p:cNvSpPr txBox="1"/>
          <p:nvPr/>
        </p:nvSpPr>
        <p:spPr>
          <a:xfrm>
            <a:off x="9669780" y="6355080"/>
            <a:ext cx="332613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100" b="0" i="0" spc="150">
                <a:solidFill>
                  <a:srgbClr val="6D28D9"/>
                </a:solidFill>
                <a:latin typeface="Consolas"/>
              </a:rPr>
              <a:t>13:00  —  LUNCH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669780" y="6784848"/>
            <a:ext cx="332613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4000"/>
              </a:lnSpc>
            </a:pPr>
            <a:r>
              <a:rPr sz="1700" b="1" i="0">
                <a:solidFill>
                  <a:srgbClr val="221C36"/>
                </a:solidFill>
                <a:latin typeface="Segoe UI"/>
              </a:rPr>
              <a:t>Out and back in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669780" y="7360920"/>
            <a:ext cx="332613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6000"/>
              </a:lnSpc>
            </a:pPr>
            <a:r>
              <a:rPr sz="1300" b="0" i="0">
                <a:solidFill>
                  <a:srgbClr val="6B6480"/>
                </a:solidFill>
                <a:latin typeface="Segoe UI"/>
              </a:rPr>
              <a:t>Re-entry is instant. This is precisely</a:t>
            </a:r>
          </a:p>
          <a:p>
            <a:pPr algn="l">
              <a:lnSpc>
                <a:spcPct val="136000"/>
              </a:lnSpc>
            </a:pPr>
            <a:r>
              <a:rPr sz="1300" b="0" i="0">
                <a:solidFill>
                  <a:srgbClr val="6B6480"/>
                </a:solidFill>
                <a:latin typeface="Segoe UI"/>
              </a:rPr>
              <a:t>where paper passes collapse, because</a:t>
            </a:r>
          </a:p>
          <a:p>
            <a:pPr algn="l">
              <a:lnSpc>
                <a:spcPct val="136000"/>
              </a:lnSpc>
            </a:pPr>
            <a:r>
              <a:rPr sz="1300" b="0" i="0">
                <a:solidFill>
                  <a:srgbClr val="6B6480"/>
                </a:solidFill>
                <a:latin typeface="Segoe UI"/>
              </a:rPr>
              <a:t>half of them are on a chair.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13681709" y="5989320"/>
            <a:ext cx="4057650" cy="27432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DDD8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5" name="TextBox 24"/>
          <p:cNvSpPr txBox="1"/>
          <p:nvPr/>
        </p:nvSpPr>
        <p:spPr>
          <a:xfrm>
            <a:off x="14047469" y="6355080"/>
            <a:ext cx="332613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100" b="0" i="0" spc="150">
                <a:solidFill>
                  <a:srgbClr val="6D28D9"/>
                </a:solidFill>
                <a:latin typeface="Consolas"/>
              </a:rPr>
              <a:t>17:00  —  THE REPORT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4047469" y="6784848"/>
            <a:ext cx="332613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4000"/>
              </a:lnSpc>
            </a:pPr>
            <a:r>
              <a:rPr sz="1700" b="1" i="0">
                <a:solidFill>
                  <a:srgbClr val="221C36"/>
                </a:solidFill>
                <a:latin typeface="Segoe UI"/>
              </a:rPr>
              <a:t>Footfall per hall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4047469" y="7360920"/>
            <a:ext cx="332613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6000"/>
              </a:lnSpc>
            </a:pPr>
            <a:r>
              <a:rPr sz="1300" b="0" i="0">
                <a:solidFill>
                  <a:srgbClr val="6B6480"/>
                </a:solidFill>
                <a:latin typeface="Segoe UI"/>
              </a:rPr>
              <a:t>Which session actually filled, and which</a:t>
            </a:r>
          </a:p>
          <a:p>
            <a:pPr algn="l">
              <a:lnSpc>
                <a:spcPct val="136000"/>
              </a:lnSpc>
            </a:pPr>
            <a:r>
              <a:rPr sz="1300" b="0" i="0">
                <a:solidFill>
                  <a:srgbClr val="6B6480"/>
                </a:solidFill>
                <a:latin typeface="Segoe UI"/>
              </a:rPr>
              <a:t>did not — by the time the day ends.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solidFill>
            <a:srgbClr val="F5F3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48640" y="603504"/>
            <a:ext cx="1225296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150" b="0" i="0" spc="180">
                <a:solidFill>
                  <a:srgbClr val="6B6480"/>
                </a:solidFill>
                <a:latin typeface="Consolas"/>
              </a:rPr>
              <a:t>A REAL EVENT  —  THE HARDER CASES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2252959" y="603504"/>
            <a:ext cx="548640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30000"/>
              </a:lnSpc>
            </a:pPr>
            <a:r>
              <a:rPr sz="1150" b="0" i="0" spc="180">
                <a:solidFill>
                  <a:srgbClr val="C4BCDD"/>
                </a:solidFill>
                <a:latin typeface="Consolas"/>
              </a:rPr>
              <a:t>06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48640" y="1024128"/>
            <a:ext cx="17190720" cy="0"/>
          </a:xfrm>
          <a:prstGeom prst="line">
            <a:avLst/>
          </a:prstGeom>
          <a:ln w="12700">
            <a:solidFill>
              <a:srgbClr val="DDD8E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" name="Connector 5"/>
          <p:cNvCxnSpPr/>
          <p:nvPr/>
        </p:nvCxnSpPr>
        <p:spPr>
          <a:xfrm>
            <a:off x="548640" y="9400032"/>
            <a:ext cx="17190720" cy="0"/>
          </a:xfrm>
          <a:prstGeom prst="line">
            <a:avLst/>
          </a:prstGeom>
          <a:ln w="12700">
            <a:solidFill>
              <a:srgbClr val="DDD8E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548640" y="9546336"/>
            <a:ext cx="548640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050" b="0" i="0" spc="180">
                <a:solidFill>
                  <a:srgbClr val="6B6480"/>
                </a:solidFill>
                <a:latin typeface="Consolas"/>
              </a:rPr>
              <a:t>BIOCORE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509759" y="9546336"/>
            <a:ext cx="822960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30000"/>
              </a:lnSpc>
            </a:pPr>
            <a:r>
              <a:rPr sz="1050" b="0" i="0" spc="140">
                <a:solidFill>
                  <a:srgbClr val="C4BCDD"/>
                </a:solidFill>
                <a:latin typeface="Consolas"/>
              </a:rPr>
              <a:t>Event companies &amp; venues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2103120"/>
            <a:ext cx="14173200" cy="23774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</a:pPr>
            <a:r>
              <a:rPr sz="4200" b="0" i="0">
                <a:solidFill>
                  <a:srgbClr val="221C36"/>
                </a:solidFill>
                <a:latin typeface="Segoe UI Light"/>
              </a:rPr>
              <a:t>Exhibitors, VIPs and day two</a:t>
            </a:r>
          </a:p>
        </p:txBody>
      </p:sp>
      <p:sp>
        <p:nvSpPr>
          <p:cNvPr id="10" name="Rectangle 9"/>
          <p:cNvSpPr/>
          <p:nvPr/>
        </p:nvSpPr>
        <p:spPr>
          <a:xfrm>
            <a:off x="548640" y="4069080"/>
            <a:ext cx="2194560" cy="50292"/>
          </a:xfrm>
          <a:prstGeom prst="rect">
            <a:avLst/>
          </a:prstGeom>
          <a:solidFill>
            <a:srgbClr val="6D28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548640" y="4480560"/>
            <a:ext cx="14813280" cy="1463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6000"/>
              </a:lnSpc>
            </a:pPr>
            <a:r>
              <a:rPr sz="1650" b="0" i="0">
                <a:solidFill>
                  <a:srgbClr val="4A4265"/>
                </a:solidFill>
                <a:latin typeface="Segoe UI"/>
              </a:rPr>
              <a:t>The awkward parts of running an event are all identity problems in disguise.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48640" y="5989320"/>
            <a:ext cx="4057650" cy="27432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DDD8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914400" y="6355080"/>
            <a:ext cx="332613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100" b="0" i="0" spc="150">
                <a:solidFill>
                  <a:srgbClr val="6D28D9"/>
                </a:solidFill>
                <a:latin typeface="Consolas"/>
              </a:rPr>
              <a:t>EXHIBITOR STAFF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14400" y="6784848"/>
            <a:ext cx="332613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4000"/>
              </a:lnSpc>
            </a:pPr>
            <a:r>
              <a:rPr sz="1700" b="1" i="0">
                <a:solidFill>
                  <a:srgbClr val="221C36"/>
                </a:solidFill>
                <a:latin typeface="Segoe UI"/>
              </a:rPr>
              <a:t>Booth crews, not delegates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14400" y="7360920"/>
            <a:ext cx="332613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6000"/>
              </a:lnSpc>
            </a:pPr>
            <a:r>
              <a:rPr sz="1300" b="0" i="0">
                <a:solidFill>
                  <a:srgbClr val="6B6480"/>
                </a:solidFill>
                <a:latin typeface="Segoe UI"/>
              </a:rPr>
              <a:t>Stand staff need early access and the</a:t>
            </a:r>
          </a:p>
          <a:p>
            <a:pPr algn="l">
              <a:lnSpc>
                <a:spcPct val="136000"/>
              </a:lnSpc>
            </a:pPr>
            <a:r>
              <a:rPr sz="1300" b="0" i="0">
                <a:solidFill>
                  <a:srgbClr val="6B6480"/>
                </a:solidFill>
                <a:latin typeface="Segoe UI"/>
              </a:rPr>
              <a:t>loading bay, but not the VIP lounge.</a:t>
            </a:r>
          </a:p>
          <a:p>
            <a:pPr algn="l">
              <a:lnSpc>
                <a:spcPct val="136000"/>
              </a:lnSpc>
            </a:pPr>
            <a:r>
              <a:rPr sz="1300" b="0" i="0">
                <a:solidFill>
                  <a:srgbClr val="6B6480"/>
                </a:solidFill>
                <a:latin typeface="Segoe UI"/>
              </a:rPr>
              <a:t>Different people, different doors.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926329" y="5989320"/>
            <a:ext cx="4057650" cy="27432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DDD8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5292090" y="6355080"/>
            <a:ext cx="332613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100" b="0" i="0" spc="150">
                <a:solidFill>
                  <a:srgbClr val="6D28D9"/>
                </a:solidFill>
                <a:latin typeface="Consolas"/>
              </a:rPr>
              <a:t>VIP &amp; PRESS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292090" y="6784848"/>
            <a:ext cx="332613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4000"/>
              </a:lnSpc>
            </a:pPr>
            <a:r>
              <a:rPr sz="1700" b="1" i="0">
                <a:solidFill>
                  <a:srgbClr val="221C36"/>
                </a:solidFill>
                <a:latin typeface="Segoe UI"/>
              </a:rPr>
              <a:t>Quietly separated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292090" y="7360920"/>
            <a:ext cx="332613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6000"/>
              </a:lnSpc>
            </a:pPr>
            <a:r>
              <a:rPr sz="1300" b="0" i="0">
                <a:solidFill>
                  <a:srgbClr val="6B6480"/>
                </a:solidFill>
                <a:latin typeface="Segoe UI"/>
              </a:rPr>
              <a:t>No colour-coded lanyard announcing who</a:t>
            </a:r>
          </a:p>
          <a:p>
            <a:pPr algn="l">
              <a:lnSpc>
                <a:spcPct val="136000"/>
              </a:lnSpc>
            </a:pPr>
            <a:r>
              <a:rPr sz="1300" b="0" i="0">
                <a:solidFill>
                  <a:srgbClr val="6B6480"/>
                </a:solidFill>
                <a:latin typeface="Segoe UI"/>
              </a:rPr>
              <a:t>is important. The door simply opens for</a:t>
            </a:r>
          </a:p>
          <a:p>
            <a:pPr algn="l">
              <a:lnSpc>
                <a:spcPct val="136000"/>
              </a:lnSpc>
            </a:pPr>
            <a:r>
              <a:rPr sz="1300" b="0" i="0">
                <a:solidFill>
                  <a:srgbClr val="6B6480"/>
                </a:solidFill>
                <a:latin typeface="Segoe UI"/>
              </a:rPr>
              <a:t>the right people.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9304019" y="5989320"/>
            <a:ext cx="4057650" cy="27432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DDD8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TextBox 20"/>
          <p:cNvSpPr txBox="1"/>
          <p:nvPr/>
        </p:nvSpPr>
        <p:spPr>
          <a:xfrm>
            <a:off x="9669780" y="6355080"/>
            <a:ext cx="332613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100" b="0" i="0" spc="150">
                <a:solidFill>
                  <a:srgbClr val="6D28D9"/>
                </a:solidFill>
                <a:latin typeface="Consolas"/>
              </a:rPr>
              <a:t>DAY TWO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669780" y="6784848"/>
            <a:ext cx="332613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4000"/>
              </a:lnSpc>
            </a:pPr>
            <a:r>
              <a:rPr sz="1700" b="1" i="0">
                <a:solidFill>
                  <a:srgbClr val="221C36"/>
                </a:solidFill>
                <a:latin typeface="Segoe UI"/>
              </a:rPr>
              <a:t>Nothing to bring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669780" y="7360920"/>
            <a:ext cx="332613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6000"/>
              </a:lnSpc>
            </a:pPr>
            <a:r>
              <a:rPr sz="1300" b="0" i="0">
                <a:solidFill>
                  <a:srgbClr val="6B6480"/>
                </a:solidFill>
                <a:latin typeface="Segoe UI"/>
              </a:rPr>
              <a:t>Delegates who left their badge in the</a:t>
            </a:r>
          </a:p>
          <a:p>
            <a:pPr algn="l">
              <a:lnSpc>
                <a:spcPct val="136000"/>
              </a:lnSpc>
            </a:pPr>
            <a:r>
              <a:rPr sz="1300" b="0" i="0">
                <a:solidFill>
                  <a:srgbClr val="6B6480"/>
                </a:solidFill>
                <a:latin typeface="Segoe UI"/>
              </a:rPr>
              <a:t>hotel are not your problem any more,</a:t>
            </a:r>
          </a:p>
          <a:p>
            <a:pPr algn="l">
              <a:lnSpc>
                <a:spcPct val="136000"/>
              </a:lnSpc>
            </a:pPr>
            <a:r>
              <a:rPr sz="1300" b="0" i="0">
                <a:solidFill>
                  <a:srgbClr val="6B6480"/>
                </a:solidFill>
                <a:latin typeface="Segoe UI"/>
              </a:rPr>
              <a:t>because there is no badge.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13681709" y="5989320"/>
            <a:ext cx="4057650" cy="27432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DDD8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5" name="TextBox 24"/>
          <p:cNvSpPr txBox="1"/>
          <p:nvPr/>
        </p:nvSpPr>
        <p:spPr>
          <a:xfrm>
            <a:off x="14047469" y="6355080"/>
            <a:ext cx="332613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100" b="0" i="0" spc="150">
                <a:solidFill>
                  <a:srgbClr val="6D28D9"/>
                </a:solidFill>
                <a:latin typeface="Consolas"/>
              </a:rPr>
              <a:t>GATE-CRASHERS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4047469" y="6784848"/>
            <a:ext cx="332613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4000"/>
              </a:lnSpc>
            </a:pPr>
            <a:r>
              <a:rPr sz="1700" b="1" i="0">
                <a:solidFill>
                  <a:srgbClr val="221C36"/>
                </a:solidFill>
                <a:latin typeface="Segoe UI"/>
              </a:rPr>
              <a:t>Politely handled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4047469" y="7360920"/>
            <a:ext cx="332613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6000"/>
              </a:lnSpc>
            </a:pPr>
            <a:r>
              <a:rPr sz="1300" b="0" i="0">
                <a:solidFill>
                  <a:srgbClr val="6B6480"/>
                </a:solidFill>
                <a:latin typeface="Segoe UI"/>
              </a:rPr>
              <a:t>Someone unregistered is directed to the</a:t>
            </a:r>
          </a:p>
          <a:p>
            <a:pPr algn="l">
              <a:lnSpc>
                <a:spcPct val="136000"/>
              </a:lnSpc>
            </a:pPr>
            <a:r>
              <a:rPr sz="1300" b="0" i="0">
                <a:solidFill>
                  <a:srgbClr val="6B6480"/>
                </a:solidFill>
                <a:latin typeface="Segoe UI"/>
              </a:rPr>
              <a:t>desk with a reason on screen — not</a:t>
            </a:r>
          </a:p>
          <a:p>
            <a:pPr algn="l">
              <a:lnSpc>
                <a:spcPct val="136000"/>
              </a:lnSpc>
            </a:pPr>
            <a:r>
              <a:rPr sz="1300" b="0" i="0">
                <a:solidFill>
                  <a:srgbClr val="6B6480"/>
                </a:solidFill>
                <a:latin typeface="Segoe UI"/>
              </a:rPr>
              <a:t>accused at the door.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solidFill>
            <a:srgbClr val="F5F3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48640" y="603504"/>
            <a:ext cx="1225296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150" b="0" i="0" spc="180">
                <a:solidFill>
                  <a:srgbClr val="6B6480"/>
                </a:solidFill>
                <a:latin typeface="Consolas"/>
              </a:rPr>
              <a:t>YOU CHOOSE HOW STRICT IT IS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2252959" y="603504"/>
            <a:ext cx="548640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30000"/>
              </a:lnSpc>
            </a:pPr>
            <a:r>
              <a:rPr sz="1150" b="0" i="0" spc="180">
                <a:solidFill>
                  <a:srgbClr val="C4BCDD"/>
                </a:solidFill>
                <a:latin typeface="Consolas"/>
              </a:rPr>
              <a:t>07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48640" y="1024128"/>
            <a:ext cx="17190720" cy="0"/>
          </a:xfrm>
          <a:prstGeom prst="line">
            <a:avLst/>
          </a:prstGeom>
          <a:ln w="12700">
            <a:solidFill>
              <a:srgbClr val="DDD8E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" name="Connector 5"/>
          <p:cNvCxnSpPr/>
          <p:nvPr/>
        </p:nvCxnSpPr>
        <p:spPr>
          <a:xfrm>
            <a:off x="548640" y="9400032"/>
            <a:ext cx="17190720" cy="0"/>
          </a:xfrm>
          <a:prstGeom prst="line">
            <a:avLst/>
          </a:prstGeom>
          <a:ln w="12700">
            <a:solidFill>
              <a:srgbClr val="DDD8E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548640" y="9546336"/>
            <a:ext cx="548640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050" b="0" i="0" spc="180">
                <a:solidFill>
                  <a:srgbClr val="6B6480"/>
                </a:solidFill>
                <a:latin typeface="Consolas"/>
              </a:rPr>
              <a:t>BIOCORE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509759" y="9546336"/>
            <a:ext cx="822960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30000"/>
              </a:lnSpc>
            </a:pPr>
            <a:r>
              <a:rPr sz="1050" b="0" i="0" spc="140">
                <a:solidFill>
                  <a:srgbClr val="C4BCDD"/>
                </a:solidFill>
                <a:latin typeface="Consolas"/>
              </a:rPr>
              <a:t>Event companies &amp; venues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2103120"/>
            <a:ext cx="14173200" cy="23774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</a:pPr>
            <a:r>
              <a:rPr sz="4400" b="0" i="0">
                <a:solidFill>
                  <a:srgbClr val="221C36"/>
                </a:solidFill>
                <a:latin typeface="Segoe UI Light"/>
              </a:rPr>
              <a:t>It does not have to stop anybody</a:t>
            </a:r>
          </a:p>
        </p:txBody>
      </p:sp>
      <p:sp>
        <p:nvSpPr>
          <p:cNvPr id="10" name="Rectangle 9"/>
          <p:cNvSpPr/>
          <p:nvPr/>
        </p:nvSpPr>
        <p:spPr>
          <a:xfrm>
            <a:off x="548640" y="3794760"/>
            <a:ext cx="2194560" cy="50292"/>
          </a:xfrm>
          <a:prstGeom prst="rect">
            <a:avLst/>
          </a:prstGeom>
          <a:solidFill>
            <a:srgbClr val="6D28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548640" y="4206240"/>
            <a:ext cx="14630400" cy="1463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6000"/>
              </a:lnSpc>
            </a:pPr>
            <a:r>
              <a:rPr sz="1650" b="0" i="0">
                <a:solidFill>
                  <a:srgbClr val="4A4265"/>
                </a:solidFill>
                <a:latin typeface="Segoe UI"/>
              </a:rPr>
              <a:t>Most people assume a face system exists to refuse people. It does not have to.</a:t>
            </a:r>
          </a:p>
          <a:p>
            <a:pPr algn="l">
              <a:lnSpc>
                <a:spcPct val="136000"/>
              </a:lnSpc>
            </a:pPr>
            <a:r>
              <a:rPr sz="1650" b="0" i="0">
                <a:solidFill>
                  <a:srgbClr val="4A4265"/>
                </a:solidFill>
                <a:latin typeface="Segoe UI"/>
              </a:rPr>
              <a:t>The same cameras run either way — and one door can be open while another is controlled.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48640" y="5623560"/>
            <a:ext cx="8412480" cy="3429000"/>
          </a:xfrm>
          <a:prstGeom prst="roundRect">
            <a:avLst>
              <a:gd name="adj" fmla="val 5000"/>
            </a:avLst>
          </a:prstGeom>
          <a:solidFill>
            <a:srgbClr val="EDE7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1005840" y="6035040"/>
            <a:ext cx="7498079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200" b="0" i="0" spc="160">
                <a:solidFill>
                  <a:srgbClr val="4C1D95"/>
                </a:solidFill>
                <a:latin typeface="Consolas"/>
              </a:rPr>
              <a:t>OPEN MODE  —  NOBODY IS STOPPED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05840" y="6492240"/>
            <a:ext cx="7498079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2600" b="1" i="0">
                <a:solidFill>
                  <a:srgbClr val="4C1D95"/>
                </a:solidFill>
                <a:latin typeface="Segoe UI"/>
              </a:rPr>
              <a:t>Open halls stay open.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1005840" y="7342631"/>
            <a:ext cx="128016" cy="128016"/>
          </a:xfrm>
          <a:prstGeom prst="roundRect">
            <a:avLst>
              <a:gd name="adj" fmla="val 50000"/>
            </a:avLst>
          </a:prstGeom>
          <a:solidFill>
            <a:srgbClr val="6D28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TextBox 15"/>
          <p:cNvSpPr txBox="1"/>
          <p:nvPr/>
        </p:nvSpPr>
        <p:spPr>
          <a:xfrm>
            <a:off x="1325880" y="7269480"/>
            <a:ext cx="7132320" cy="32918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300" b="0" i="0">
                <a:solidFill>
                  <a:srgbClr val="4C1D95"/>
                </a:solidFill>
                <a:latin typeface="Segoe UI"/>
              </a:rPr>
              <a:t>Exhibition floors and open sessions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1005840" y="7726680"/>
            <a:ext cx="128016" cy="128016"/>
          </a:xfrm>
          <a:prstGeom prst="roundRect">
            <a:avLst>
              <a:gd name="adj" fmla="val 50000"/>
            </a:avLst>
          </a:prstGeom>
          <a:solidFill>
            <a:srgbClr val="6D28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1325880" y="7653528"/>
            <a:ext cx="7132320" cy="32918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300" b="0" i="0">
                <a:solidFill>
                  <a:srgbClr val="4C1D95"/>
                </a:solidFill>
                <a:latin typeface="Segoe UI"/>
              </a:rPr>
              <a:t>Counts everyone, refuses nobody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1005840" y="8110728"/>
            <a:ext cx="128016" cy="128016"/>
          </a:xfrm>
          <a:prstGeom prst="roundRect">
            <a:avLst>
              <a:gd name="adj" fmla="val 50000"/>
            </a:avLst>
          </a:prstGeom>
          <a:solidFill>
            <a:srgbClr val="6D28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" name="TextBox 19"/>
          <p:cNvSpPr txBox="1"/>
          <p:nvPr/>
        </p:nvSpPr>
        <p:spPr>
          <a:xfrm>
            <a:off x="1325880" y="8037576"/>
            <a:ext cx="7132320" cy="32918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300" b="0" i="0">
                <a:solidFill>
                  <a:srgbClr val="4C1D95"/>
                </a:solidFill>
                <a:latin typeface="Segoe UI"/>
              </a:rPr>
              <a:t>Alerts only for a named list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9326880" y="5623560"/>
            <a:ext cx="8412480" cy="34290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DDD8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9784080" y="6035040"/>
            <a:ext cx="7498079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200" b="0" i="0" spc="160">
                <a:solidFill>
                  <a:srgbClr val="6B6480"/>
                </a:solidFill>
                <a:latin typeface="Consolas"/>
              </a:rPr>
              <a:t>CONTROLLED MODE  —  THE DOOR DECIDES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784080" y="6492240"/>
            <a:ext cx="7498079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2600" b="1" i="0">
                <a:solidFill>
                  <a:srgbClr val="221C36"/>
                </a:solidFill>
                <a:latin typeface="Segoe UI"/>
              </a:rPr>
              <a:t>Restricted zones stay restricted.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9784080" y="7342631"/>
            <a:ext cx="128016" cy="128016"/>
          </a:xfrm>
          <a:prstGeom prst="roundRect">
            <a:avLst>
              <a:gd name="adj" fmla="val 50000"/>
            </a:avLst>
          </a:prstGeom>
          <a:solidFill>
            <a:srgbClr val="6B64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5" name="TextBox 24"/>
          <p:cNvSpPr txBox="1"/>
          <p:nvPr/>
        </p:nvSpPr>
        <p:spPr>
          <a:xfrm>
            <a:off x="10104120" y="7269480"/>
            <a:ext cx="7132320" cy="32918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300" b="0" i="0">
                <a:solidFill>
                  <a:srgbClr val="6B6480"/>
                </a:solidFill>
                <a:latin typeface="Segoe UI"/>
              </a:rPr>
              <a:t>Green rooms, VIP, ticketed halls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9784080" y="7726680"/>
            <a:ext cx="128016" cy="128016"/>
          </a:xfrm>
          <a:prstGeom prst="roundRect">
            <a:avLst>
              <a:gd name="adj" fmla="val 50000"/>
            </a:avLst>
          </a:prstGeom>
          <a:solidFill>
            <a:srgbClr val="6B64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7" name="TextBox 26"/>
          <p:cNvSpPr txBox="1"/>
          <p:nvPr/>
        </p:nvSpPr>
        <p:spPr>
          <a:xfrm>
            <a:off x="10104120" y="7653528"/>
            <a:ext cx="7132320" cy="32918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300" b="0" i="0">
                <a:solidFill>
                  <a:srgbClr val="6B6480"/>
                </a:solidFill>
                <a:latin typeface="Segoe UI"/>
              </a:rPr>
              <a:t>Access by ticket type and by day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9784080" y="8110728"/>
            <a:ext cx="128016" cy="128016"/>
          </a:xfrm>
          <a:prstGeom prst="roundRect">
            <a:avLst>
              <a:gd name="adj" fmla="val 50000"/>
            </a:avLst>
          </a:prstGeom>
          <a:solidFill>
            <a:srgbClr val="6B64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9" name="TextBox 28"/>
          <p:cNvSpPr txBox="1"/>
          <p:nvPr/>
        </p:nvSpPr>
        <p:spPr>
          <a:xfrm>
            <a:off x="10104120" y="8037576"/>
            <a:ext cx="7132320" cy="32918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300" b="0" i="0">
                <a:solidFill>
                  <a:srgbClr val="6B6480"/>
                </a:solidFill>
                <a:latin typeface="Segoe UI"/>
              </a:rPr>
              <a:t>Staff can always let someone in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solidFill>
            <a:srgbClr val="F5F3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48640" y="603504"/>
            <a:ext cx="1225296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150" b="0" i="0" spc="180">
                <a:solidFill>
                  <a:srgbClr val="6B6480"/>
                </a:solidFill>
                <a:latin typeface="Consolas"/>
              </a:rPr>
              <a:t>THE ONE RULE THAT GOVERNS EVERYTHING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2252959" y="603504"/>
            <a:ext cx="548640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30000"/>
              </a:lnSpc>
            </a:pPr>
            <a:r>
              <a:rPr sz="1150" b="0" i="0" spc="180">
                <a:solidFill>
                  <a:srgbClr val="C4BCDD"/>
                </a:solidFill>
                <a:latin typeface="Consolas"/>
              </a:rPr>
              <a:t>08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48640" y="1024128"/>
            <a:ext cx="17190720" cy="0"/>
          </a:xfrm>
          <a:prstGeom prst="line">
            <a:avLst/>
          </a:prstGeom>
          <a:ln w="12700">
            <a:solidFill>
              <a:srgbClr val="DDD8E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" name="Connector 5"/>
          <p:cNvCxnSpPr/>
          <p:nvPr/>
        </p:nvCxnSpPr>
        <p:spPr>
          <a:xfrm>
            <a:off x="548640" y="9400032"/>
            <a:ext cx="17190720" cy="0"/>
          </a:xfrm>
          <a:prstGeom prst="line">
            <a:avLst/>
          </a:prstGeom>
          <a:ln w="12700">
            <a:solidFill>
              <a:srgbClr val="DDD8E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548640" y="9546336"/>
            <a:ext cx="548640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050" b="0" i="0" spc="180">
                <a:solidFill>
                  <a:srgbClr val="6B6480"/>
                </a:solidFill>
                <a:latin typeface="Consolas"/>
              </a:rPr>
              <a:t>BIOCORE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509759" y="9546336"/>
            <a:ext cx="822960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30000"/>
              </a:lnSpc>
            </a:pPr>
            <a:r>
              <a:rPr sz="1050" b="0" i="0" spc="140">
                <a:solidFill>
                  <a:srgbClr val="C4BCDD"/>
                </a:solidFill>
                <a:latin typeface="Consolas"/>
              </a:rPr>
              <a:t>Event companies &amp; venues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48640" y="1828800"/>
            <a:ext cx="17190720" cy="4206240"/>
          </a:xfrm>
          <a:prstGeom prst="roundRect">
            <a:avLst>
              <a:gd name="adj" fmla="val 3500"/>
            </a:avLst>
          </a:prstGeom>
          <a:solidFill>
            <a:srgbClr val="221C3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1371600" y="2286000"/>
            <a:ext cx="15544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30000"/>
              </a:lnSpc>
            </a:pPr>
            <a:r>
              <a:rPr sz="1200" b="0" i="0" spc="200">
                <a:solidFill>
                  <a:srgbClr val="9C93BA"/>
                </a:solidFill>
                <a:latin typeface="Consolas"/>
              </a:rPr>
              <a:t>THE PROMISE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71600" y="2834640"/>
            <a:ext cx="15544800" cy="21945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6000"/>
              </a:lnSpc>
            </a:pPr>
            <a:r>
              <a:rPr sz="5400" b="0" i="0">
                <a:solidFill>
                  <a:srgbClr val="FFFFFF"/>
                </a:solidFill>
                <a:latin typeface="Segoe UI Light"/>
              </a:rPr>
              <a:t>We never keep the photograph.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743200" y="4800600"/>
            <a:ext cx="12801600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40000"/>
              </a:lnSpc>
            </a:pPr>
            <a:r>
              <a:rPr sz="1650" b="0" i="0">
                <a:solidFill>
                  <a:srgbClr val="C6BEE2"/>
                </a:solidFill>
                <a:latin typeface="Segoe UI"/>
              </a:rPr>
              <a:t>The camera measures the face, turns those measurements into an encrypted</a:t>
            </a:r>
          </a:p>
          <a:p>
            <a:pPr algn="ctr">
              <a:lnSpc>
                <a:spcPct val="140000"/>
              </a:lnSpc>
            </a:pPr>
            <a:r>
              <a:rPr sz="1650" b="0" i="0">
                <a:solidFill>
                  <a:srgbClr val="C6BEE2"/>
                </a:solidFill>
                <a:latin typeface="Segoe UI"/>
              </a:rPr>
              <a:t>Biometric Key Signature, and destroys the picture. Only that Key is kept.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48640" y="6492240"/>
            <a:ext cx="3017520" cy="16916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DD8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Rounded Rectangle 13"/>
          <p:cNvSpPr/>
          <p:nvPr/>
        </p:nvSpPr>
        <p:spPr>
          <a:xfrm>
            <a:off x="841247" y="6812279"/>
            <a:ext cx="731520" cy="731520"/>
          </a:xfrm>
          <a:prstGeom prst="roundRect">
            <a:avLst>
              <a:gd name="adj" fmla="val 22000"/>
            </a:avLst>
          </a:prstGeom>
          <a:solidFill>
            <a:srgbClr val="EFED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Rounded Rectangle 14"/>
          <p:cNvSpPr/>
          <p:nvPr/>
        </p:nvSpPr>
        <p:spPr>
          <a:xfrm>
            <a:off x="987551" y="6958583"/>
            <a:ext cx="438912" cy="438912"/>
          </a:xfrm>
          <a:prstGeom prst="roundRect">
            <a:avLst>
              <a:gd name="adj" fmla="val 50000"/>
            </a:avLst>
          </a:prstGeom>
          <a:noFill/>
          <a:ln w="20320">
            <a:solidFill>
              <a:srgbClr val="6B64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Rounded Rectangle 15"/>
          <p:cNvSpPr/>
          <p:nvPr/>
        </p:nvSpPr>
        <p:spPr>
          <a:xfrm>
            <a:off x="1106423" y="7086600"/>
            <a:ext cx="54864" cy="54864"/>
          </a:xfrm>
          <a:prstGeom prst="roundRect">
            <a:avLst>
              <a:gd name="adj" fmla="val 50000"/>
            </a:avLst>
          </a:prstGeom>
          <a:solidFill>
            <a:srgbClr val="6B64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Rounded Rectangle 16"/>
          <p:cNvSpPr/>
          <p:nvPr/>
        </p:nvSpPr>
        <p:spPr>
          <a:xfrm>
            <a:off x="1252728" y="7086600"/>
            <a:ext cx="54864" cy="54864"/>
          </a:xfrm>
          <a:prstGeom prst="roundRect">
            <a:avLst>
              <a:gd name="adj" fmla="val 50000"/>
            </a:avLst>
          </a:prstGeom>
          <a:solidFill>
            <a:srgbClr val="6B64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cxnSp>
        <p:nvCxnSpPr>
          <p:cNvPr id="18" name="Connector 17"/>
          <p:cNvCxnSpPr/>
          <p:nvPr/>
        </p:nvCxnSpPr>
        <p:spPr>
          <a:xfrm>
            <a:off x="1115567" y="7269479"/>
            <a:ext cx="182880" cy="0"/>
          </a:xfrm>
          <a:prstGeom prst="line">
            <a:avLst/>
          </a:prstGeom>
          <a:ln w="19050">
            <a:solidFill>
              <a:srgbClr val="6B64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TextBox 18"/>
          <p:cNvSpPr txBox="1"/>
          <p:nvPr/>
        </p:nvSpPr>
        <p:spPr>
          <a:xfrm>
            <a:off x="1719072" y="6931152"/>
            <a:ext cx="173736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500" b="1" i="0">
                <a:solidFill>
                  <a:srgbClr val="221C36"/>
                </a:solidFill>
                <a:latin typeface="Segoe UI"/>
              </a:rPr>
              <a:t>The face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719072" y="7333488"/>
            <a:ext cx="173736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250" b="0" i="0">
                <a:solidFill>
                  <a:srgbClr val="6B6480"/>
                </a:solidFill>
                <a:latin typeface="Segoe UI"/>
              </a:rPr>
              <a:t>at the camera</a:t>
            </a:r>
          </a:p>
        </p:txBody>
      </p:sp>
      <p:cxnSp>
        <p:nvCxnSpPr>
          <p:cNvPr id="21" name="Connector 20"/>
          <p:cNvCxnSpPr/>
          <p:nvPr/>
        </p:nvCxnSpPr>
        <p:spPr>
          <a:xfrm>
            <a:off x="3611880" y="7333488"/>
            <a:ext cx="868680" cy="0"/>
          </a:xfrm>
          <a:prstGeom prst="line">
            <a:avLst/>
          </a:prstGeom>
          <a:ln w="22860">
            <a:solidFill>
              <a:srgbClr val="6B648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TextBox 21"/>
          <p:cNvSpPr txBox="1"/>
          <p:nvPr/>
        </p:nvSpPr>
        <p:spPr>
          <a:xfrm>
            <a:off x="3429000" y="6876288"/>
            <a:ext cx="12801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30000"/>
              </a:lnSpc>
            </a:pPr>
            <a:r>
              <a:rPr sz="1100" b="0" i="0">
                <a:solidFill>
                  <a:srgbClr val="6B6480"/>
                </a:solidFill>
                <a:latin typeface="Consolas"/>
              </a:rPr>
              <a:t>measures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4572000" y="6492240"/>
            <a:ext cx="4023360" cy="16916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DD8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4" name="TextBox 23"/>
          <p:cNvSpPr txBox="1"/>
          <p:nvPr/>
        </p:nvSpPr>
        <p:spPr>
          <a:xfrm>
            <a:off x="4892040" y="6858000"/>
            <a:ext cx="33832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350" b="0" i="0">
                <a:solidFill>
                  <a:srgbClr val="221C36"/>
                </a:solidFill>
                <a:latin typeface="Consolas"/>
              </a:rPr>
              <a:t>a7f3  c19e  44b2  8d05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892040" y="7168896"/>
            <a:ext cx="33832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350" b="0" i="0">
                <a:solidFill>
                  <a:srgbClr val="221C36"/>
                </a:solidFill>
                <a:latin typeface="Consolas"/>
              </a:rPr>
              <a:t>e6b1  902c  7fd4  …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892040" y="7571231"/>
            <a:ext cx="338328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400" b="1" i="0">
                <a:solidFill>
                  <a:srgbClr val="221C36"/>
                </a:solidFill>
                <a:latin typeface="Segoe UI"/>
              </a:rPr>
              <a:t>Biometric Key Signature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892040" y="7863840"/>
            <a:ext cx="33832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150" b="0" i="0">
                <a:solidFill>
                  <a:srgbClr val="6B6480"/>
                </a:solidFill>
                <a:latin typeface="Segoe UI"/>
              </a:rPr>
              <a:t>encrypted — and never a picture</a:t>
            </a:r>
          </a:p>
        </p:txBody>
      </p:sp>
      <p:cxnSp>
        <p:nvCxnSpPr>
          <p:cNvPr id="28" name="Connector 27"/>
          <p:cNvCxnSpPr/>
          <p:nvPr/>
        </p:nvCxnSpPr>
        <p:spPr>
          <a:xfrm>
            <a:off x="8641080" y="7333488"/>
            <a:ext cx="868680" cy="0"/>
          </a:xfrm>
          <a:prstGeom prst="line">
            <a:avLst/>
          </a:prstGeom>
          <a:ln w="27940">
            <a:solidFill>
              <a:srgbClr val="6D28D9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9" name="TextBox 28"/>
          <p:cNvSpPr txBox="1"/>
          <p:nvPr/>
        </p:nvSpPr>
        <p:spPr>
          <a:xfrm>
            <a:off x="8458200" y="6876288"/>
            <a:ext cx="12801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30000"/>
              </a:lnSpc>
            </a:pPr>
            <a:r>
              <a:rPr sz="1100" b="0" i="0">
                <a:solidFill>
                  <a:srgbClr val="6D28D9"/>
                </a:solidFill>
                <a:latin typeface="Consolas"/>
              </a:rPr>
              <a:t>locked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9601200" y="6492240"/>
            <a:ext cx="3108960" cy="1691640"/>
          </a:xfrm>
          <a:prstGeom prst="roundRect">
            <a:avLst>
              <a:gd name="adj" fmla="val 6000"/>
            </a:avLst>
          </a:prstGeom>
          <a:solidFill>
            <a:srgbClr val="EDE7FB"/>
          </a:solidFill>
          <a:ln w="17780">
            <a:solidFill>
              <a:srgbClr val="6D28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1" name="Rounded Rectangle 30"/>
          <p:cNvSpPr/>
          <p:nvPr/>
        </p:nvSpPr>
        <p:spPr>
          <a:xfrm>
            <a:off x="9893808" y="6812279"/>
            <a:ext cx="731520" cy="731520"/>
          </a:xfrm>
          <a:prstGeom prst="roundRect">
            <a:avLst>
              <a:gd name="adj" fmla="val 22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2" name="Rounded Rectangle 31"/>
          <p:cNvSpPr/>
          <p:nvPr/>
        </p:nvSpPr>
        <p:spPr>
          <a:xfrm>
            <a:off x="10076688" y="7141464"/>
            <a:ext cx="365760" cy="256032"/>
          </a:xfrm>
          <a:prstGeom prst="roundRect">
            <a:avLst>
              <a:gd name="adj" fmla="val 16000"/>
            </a:avLst>
          </a:prstGeom>
          <a:noFill/>
          <a:ln w="20320">
            <a:solidFill>
              <a:srgbClr val="6D28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3" name="Rounded Rectangle 32"/>
          <p:cNvSpPr/>
          <p:nvPr/>
        </p:nvSpPr>
        <p:spPr>
          <a:xfrm>
            <a:off x="10149840" y="6976872"/>
            <a:ext cx="219456" cy="201168"/>
          </a:xfrm>
          <a:prstGeom prst="roundRect">
            <a:avLst>
              <a:gd name="adj" fmla="val 50000"/>
            </a:avLst>
          </a:prstGeom>
          <a:noFill/>
          <a:ln w="20320">
            <a:solidFill>
              <a:srgbClr val="6D28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4" name="TextBox 33"/>
          <p:cNvSpPr txBox="1"/>
          <p:nvPr/>
        </p:nvSpPr>
        <p:spPr>
          <a:xfrm>
            <a:off x="10771632" y="6894576"/>
            <a:ext cx="182880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500" b="1" i="0">
                <a:solidFill>
                  <a:srgbClr val="4C1D95"/>
                </a:solidFill>
                <a:latin typeface="Segoe UI"/>
              </a:rPr>
              <a:t>Vaulted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0771632" y="7278624"/>
            <a:ext cx="18288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250" b="0" i="0">
                <a:solidFill>
                  <a:srgbClr val="4C1D95"/>
                </a:solidFill>
                <a:latin typeface="Segoe UI"/>
              </a:rPr>
              <a:t>encrypted,</a:t>
            </a:r>
          </a:p>
          <a:p>
            <a:pPr algn="l">
              <a:lnSpc>
                <a:spcPct val="130000"/>
              </a:lnSpc>
            </a:pPr>
            <a:r>
              <a:rPr sz="1250" b="0" i="0">
                <a:solidFill>
                  <a:srgbClr val="4C1D95"/>
                </a:solidFill>
                <a:latin typeface="Segoe UI"/>
              </a:rPr>
              <a:t>per place</a:t>
            </a:r>
          </a:p>
        </p:txBody>
      </p:sp>
      <p:cxnSp>
        <p:nvCxnSpPr>
          <p:cNvPr id="36" name="Connector 35"/>
          <p:cNvCxnSpPr/>
          <p:nvPr/>
        </p:nvCxnSpPr>
        <p:spPr>
          <a:xfrm>
            <a:off x="13304520" y="6400800"/>
            <a:ext cx="0" cy="1874519"/>
          </a:xfrm>
          <a:prstGeom prst="line">
            <a:avLst/>
          </a:prstGeom>
          <a:ln w="12700">
            <a:solidFill>
              <a:srgbClr val="C4BCD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7" name="TextBox 36"/>
          <p:cNvSpPr txBox="1"/>
          <p:nvPr/>
        </p:nvSpPr>
        <p:spPr>
          <a:xfrm>
            <a:off x="13944600" y="6108192"/>
            <a:ext cx="3749039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100" b="0" i="0" spc="180">
                <a:solidFill>
                  <a:srgbClr val="C8011A"/>
                </a:solidFill>
                <a:latin typeface="Consolas"/>
              </a:rPr>
              <a:t>MEANWHILE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13944600" y="6492240"/>
            <a:ext cx="3794760" cy="1691640"/>
          </a:xfrm>
          <a:prstGeom prst="roundRect">
            <a:avLst>
              <a:gd name="adj" fmla="val 6000"/>
            </a:avLst>
          </a:prstGeom>
          <a:solidFill>
            <a:srgbClr val="FBE7E9"/>
          </a:solidFill>
          <a:ln w="17780">
            <a:solidFill>
              <a:srgbClr val="C801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9" name="TextBox 38"/>
          <p:cNvSpPr txBox="1"/>
          <p:nvPr/>
        </p:nvSpPr>
        <p:spPr>
          <a:xfrm>
            <a:off x="14264640" y="6876288"/>
            <a:ext cx="31546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500" b="1" i="0">
                <a:solidFill>
                  <a:srgbClr val="C8011A"/>
                </a:solidFill>
                <a:latin typeface="Segoe UI"/>
              </a:rPr>
              <a:t>The photograph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4264640" y="7278624"/>
            <a:ext cx="315468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4000"/>
              </a:lnSpc>
            </a:pPr>
            <a:r>
              <a:rPr sz="1250" b="0" i="0">
                <a:solidFill>
                  <a:srgbClr val="C8011A"/>
                </a:solidFill>
                <a:latin typeface="Segoe UI"/>
              </a:rPr>
              <a:t>is deleted at that same moment —</a:t>
            </a:r>
          </a:p>
          <a:p>
            <a:pPr algn="l">
              <a:lnSpc>
                <a:spcPct val="134000"/>
              </a:lnSpc>
            </a:pPr>
            <a:r>
              <a:rPr sz="1250" b="0" i="0">
                <a:solidFill>
                  <a:srgbClr val="C8011A"/>
                </a:solidFill>
                <a:latin typeface="Segoe UI"/>
              </a:rPr>
              <a:t>never saved, never sent.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solidFill>
            <a:srgbClr val="F5F3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48640" y="603504"/>
            <a:ext cx="1225296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150" b="0" i="0" spc="180">
                <a:solidFill>
                  <a:srgbClr val="6B6480"/>
                </a:solidFill>
                <a:latin typeface="Consolas"/>
              </a:rPr>
              <a:t>DELEGATES WILL ASK. HAVE THE ANSWER READY.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2252959" y="603504"/>
            <a:ext cx="548640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30000"/>
              </a:lnSpc>
            </a:pPr>
            <a:r>
              <a:rPr sz="1150" b="0" i="0" spc="180">
                <a:solidFill>
                  <a:srgbClr val="C4BCDD"/>
                </a:solidFill>
                <a:latin typeface="Consolas"/>
              </a:rPr>
              <a:t>09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48640" y="1024128"/>
            <a:ext cx="17190720" cy="0"/>
          </a:xfrm>
          <a:prstGeom prst="line">
            <a:avLst/>
          </a:prstGeom>
          <a:ln w="12700">
            <a:solidFill>
              <a:srgbClr val="DDD8E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" name="Connector 5"/>
          <p:cNvCxnSpPr/>
          <p:nvPr/>
        </p:nvCxnSpPr>
        <p:spPr>
          <a:xfrm>
            <a:off x="548640" y="9400032"/>
            <a:ext cx="17190720" cy="0"/>
          </a:xfrm>
          <a:prstGeom prst="line">
            <a:avLst/>
          </a:prstGeom>
          <a:ln w="12700">
            <a:solidFill>
              <a:srgbClr val="DDD8E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548640" y="9546336"/>
            <a:ext cx="548640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050" b="0" i="0" spc="180">
                <a:solidFill>
                  <a:srgbClr val="6B6480"/>
                </a:solidFill>
                <a:latin typeface="Consolas"/>
              </a:rPr>
              <a:t>BIOCORE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509759" y="9546336"/>
            <a:ext cx="822960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30000"/>
              </a:lnSpc>
            </a:pPr>
            <a:r>
              <a:rPr sz="1050" b="0" i="0" spc="140">
                <a:solidFill>
                  <a:srgbClr val="C4BCDD"/>
                </a:solidFill>
                <a:latin typeface="Consolas"/>
              </a:rPr>
              <a:t>Event companies &amp; venues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2103120"/>
            <a:ext cx="14173200" cy="23774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</a:pPr>
            <a:r>
              <a:rPr sz="4200" b="0" i="0">
                <a:solidFill>
                  <a:srgbClr val="221C36"/>
                </a:solidFill>
                <a:latin typeface="Segoe UI Light"/>
              </a:rPr>
              <a:t>“What happens to my face after the event?”</a:t>
            </a:r>
          </a:p>
        </p:txBody>
      </p:sp>
      <p:sp>
        <p:nvSpPr>
          <p:cNvPr id="10" name="Rectangle 9"/>
          <p:cNvSpPr/>
          <p:nvPr/>
        </p:nvSpPr>
        <p:spPr>
          <a:xfrm>
            <a:off x="548640" y="4069080"/>
            <a:ext cx="2194560" cy="50292"/>
          </a:xfrm>
          <a:prstGeom prst="rect">
            <a:avLst/>
          </a:prstGeom>
          <a:solidFill>
            <a:srgbClr val="6D28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548640" y="4480560"/>
            <a:ext cx="14813280" cy="1463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6000"/>
              </a:lnSpc>
            </a:pPr>
            <a:r>
              <a:rPr sz="1650" b="0" i="0">
                <a:solidFill>
                  <a:srgbClr val="4A4265"/>
                </a:solidFill>
                <a:latin typeface="Segoe UI"/>
              </a:rPr>
              <a:t>A conference audience is more privacy-literate than most. Being able to answer this cleanly is a selling point, not a liability.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48640" y="5989320"/>
            <a:ext cx="5516880" cy="288036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DDD8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Rounded Rectangle 12"/>
          <p:cNvSpPr/>
          <p:nvPr/>
        </p:nvSpPr>
        <p:spPr>
          <a:xfrm>
            <a:off x="932688" y="6373368"/>
            <a:ext cx="749808" cy="749808"/>
          </a:xfrm>
          <a:prstGeom prst="roundRect">
            <a:avLst>
              <a:gd name="adj" fmla="val 22000"/>
            </a:avLst>
          </a:prstGeom>
          <a:solidFill>
            <a:srgbClr val="EDE7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Rounded Rectangle 13"/>
          <p:cNvSpPr/>
          <p:nvPr/>
        </p:nvSpPr>
        <p:spPr>
          <a:xfrm>
            <a:off x="1106424" y="6547104"/>
            <a:ext cx="402336" cy="402336"/>
          </a:xfrm>
          <a:prstGeom prst="roundRect">
            <a:avLst>
              <a:gd name="adj" fmla="val 50000"/>
            </a:avLst>
          </a:prstGeom>
          <a:noFill/>
          <a:ln w="20320">
            <a:solidFill>
              <a:srgbClr val="6D28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cxnSp>
        <p:nvCxnSpPr>
          <p:cNvPr id="15" name="Connector 14"/>
          <p:cNvCxnSpPr/>
          <p:nvPr/>
        </p:nvCxnSpPr>
        <p:spPr>
          <a:xfrm>
            <a:off x="1216151" y="6766559"/>
            <a:ext cx="182880" cy="0"/>
          </a:xfrm>
          <a:prstGeom prst="line">
            <a:avLst/>
          </a:prstGeom>
          <a:ln w="25400">
            <a:solidFill>
              <a:srgbClr val="6D28D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TextBox 15"/>
          <p:cNvSpPr txBox="1"/>
          <p:nvPr/>
        </p:nvSpPr>
        <p:spPr>
          <a:xfrm>
            <a:off x="932688" y="7306056"/>
            <a:ext cx="4748784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4000"/>
              </a:lnSpc>
            </a:pPr>
            <a:r>
              <a:rPr sz="1700" b="1" i="0">
                <a:solidFill>
                  <a:srgbClr val="221C36"/>
                </a:solidFill>
                <a:latin typeface="Segoe UI"/>
              </a:rPr>
              <a:t>Consent at registration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32688" y="7836408"/>
            <a:ext cx="4748784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6000"/>
              </a:lnSpc>
            </a:pPr>
            <a:r>
              <a:rPr sz="1300" b="0" i="0">
                <a:solidFill>
                  <a:srgbClr val="6B6480"/>
                </a:solidFill>
                <a:latin typeface="Segoe UI"/>
              </a:rPr>
              <a:t>They agree when they upload the photo — explicitly, in plain words, and they can decline and still attend.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385560" y="5989320"/>
            <a:ext cx="5516880" cy="288036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DDD8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Rounded Rectangle 18"/>
          <p:cNvSpPr/>
          <p:nvPr/>
        </p:nvSpPr>
        <p:spPr>
          <a:xfrm>
            <a:off x="6769608" y="6373368"/>
            <a:ext cx="749808" cy="749808"/>
          </a:xfrm>
          <a:prstGeom prst="roundRect">
            <a:avLst>
              <a:gd name="adj" fmla="val 22000"/>
            </a:avLst>
          </a:prstGeom>
          <a:solidFill>
            <a:srgbClr val="EDE7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" name="Rounded Rectangle 19"/>
          <p:cNvSpPr/>
          <p:nvPr/>
        </p:nvSpPr>
        <p:spPr>
          <a:xfrm>
            <a:off x="6925056" y="6528816"/>
            <a:ext cx="438912" cy="438912"/>
          </a:xfrm>
          <a:prstGeom prst="roundRect">
            <a:avLst>
              <a:gd name="adj" fmla="val 50000"/>
            </a:avLst>
          </a:prstGeom>
          <a:noFill/>
          <a:ln w="20320">
            <a:solidFill>
              <a:srgbClr val="6D28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Rectangle 20"/>
          <p:cNvSpPr/>
          <p:nvPr/>
        </p:nvSpPr>
        <p:spPr>
          <a:xfrm>
            <a:off x="7130796" y="6601968"/>
            <a:ext cx="27432" cy="164592"/>
          </a:xfrm>
          <a:prstGeom prst="rect">
            <a:avLst/>
          </a:prstGeom>
          <a:solidFill>
            <a:srgbClr val="6D28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cxnSp>
        <p:nvCxnSpPr>
          <p:cNvPr id="22" name="Connector 21"/>
          <p:cNvCxnSpPr/>
          <p:nvPr/>
        </p:nvCxnSpPr>
        <p:spPr>
          <a:xfrm>
            <a:off x="7144512" y="6757416"/>
            <a:ext cx="128016" cy="0"/>
          </a:xfrm>
          <a:prstGeom prst="line">
            <a:avLst/>
          </a:prstGeom>
          <a:ln w="22860">
            <a:solidFill>
              <a:srgbClr val="6D28D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TextBox 22"/>
          <p:cNvSpPr txBox="1"/>
          <p:nvPr/>
        </p:nvSpPr>
        <p:spPr>
          <a:xfrm>
            <a:off x="6769608" y="7306056"/>
            <a:ext cx="4748784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4000"/>
              </a:lnSpc>
            </a:pPr>
            <a:r>
              <a:rPr sz="1700" b="1" i="0">
                <a:solidFill>
                  <a:srgbClr val="221C36"/>
                </a:solidFill>
                <a:latin typeface="Segoe UI"/>
              </a:rPr>
              <a:t>It expires by itself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769608" y="7836408"/>
            <a:ext cx="4748784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6000"/>
              </a:lnSpc>
            </a:pPr>
            <a:r>
              <a:rPr sz="1300" b="0" i="0">
                <a:solidFill>
                  <a:srgbClr val="6B6480"/>
                </a:solidFill>
                <a:latin typeface="Segoe UI"/>
              </a:rPr>
              <a:t>Event access can be set to end when the event does. No manual clean-up, no forgotten database.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12222480" y="5989320"/>
            <a:ext cx="5516880" cy="288036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DDD8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6" name="Rounded Rectangle 25"/>
          <p:cNvSpPr/>
          <p:nvPr/>
        </p:nvSpPr>
        <p:spPr>
          <a:xfrm>
            <a:off x="12606528" y="6373368"/>
            <a:ext cx="749808" cy="749808"/>
          </a:xfrm>
          <a:prstGeom prst="roundRect">
            <a:avLst>
              <a:gd name="adj" fmla="val 22000"/>
            </a:avLst>
          </a:prstGeom>
          <a:solidFill>
            <a:srgbClr val="EDE7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7" name="Rounded Rectangle 26"/>
          <p:cNvSpPr/>
          <p:nvPr/>
        </p:nvSpPr>
        <p:spPr>
          <a:xfrm>
            <a:off x="12798552" y="6711696"/>
            <a:ext cx="365760" cy="256032"/>
          </a:xfrm>
          <a:prstGeom prst="roundRect">
            <a:avLst>
              <a:gd name="adj" fmla="val 16000"/>
            </a:avLst>
          </a:prstGeom>
          <a:noFill/>
          <a:ln w="20320">
            <a:solidFill>
              <a:srgbClr val="6D28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8" name="Rounded Rectangle 27"/>
          <p:cNvSpPr/>
          <p:nvPr/>
        </p:nvSpPr>
        <p:spPr>
          <a:xfrm>
            <a:off x="12871704" y="6547104"/>
            <a:ext cx="219456" cy="201168"/>
          </a:xfrm>
          <a:prstGeom prst="roundRect">
            <a:avLst>
              <a:gd name="adj" fmla="val 50000"/>
            </a:avLst>
          </a:prstGeom>
          <a:noFill/>
          <a:ln w="20320">
            <a:solidFill>
              <a:srgbClr val="6D28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9" name="TextBox 28"/>
          <p:cNvSpPr txBox="1"/>
          <p:nvPr/>
        </p:nvSpPr>
        <p:spPr>
          <a:xfrm>
            <a:off x="12606528" y="7306056"/>
            <a:ext cx="4748784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4000"/>
              </a:lnSpc>
            </a:pPr>
            <a:r>
              <a:rPr sz="1700" b="1" i="0">
                <a:solidFill>
                  <a:srgbClr val="221C36"/>
                </a:solidFill>
                <a:latin typeface="Segoe UI"/>
              </a:rPr>
              <a:t>They can erase it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2606528" y="7836408"/>
            <a:ext cx="4748784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6000"/>
              </a:lnSpc>
            </a:pPr>
            <a:r>
              <a:rPr sz="1300" b="0" i="0">
                <a:solidFill>
                  <a:srgbClr val="6B6480"/>
                </a:solidFill>
                <a:latin typeface="Segoe UI"/>
              </a:rPr>
              <a:t>A delegate can withdraw their face from your event at any time, themselves, without emailing anybody.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solidFill>
            <a:srgbClr val="F5F3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48640" y="603504"/>
            <a:ext cx="1225296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150" b="0" i="0" spc="180">
                <a:solidFill>
                  <a:srgbClr val="6B6480"/>
                </a:solidFill>
                <a:latin typeface="Consolas"/>
              </a:rPr>
              <a:t>WHAT EACH SIDE GETS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2252959" y="603504"/>
            <a:ext cx="548640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30000"/>
              </a:lnSpc>
            </a:pPr>
            <a:r>
              <a:rPr sz="1150" b="0" i="0" spc="180">
                <a:solidFill>
                  <a:srgbClr val="C4BCDD"/>
                </a:solidFill>
                <a:latin typeface="Consolas"/>
              </a:rPr>
              <a:t>10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48640" y="1024128"/>
            <a:ext cx="17190720" cy="0"/>
          </a:xfrm>
          <a:prstGeom prst="line">
            <a:avLst/>
          </a:prstGeom>
          <a:ln w="12700">
            <a:solidFill>
              <a:srgbClr val="DDD8E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" name="Connector 5"/>
          <p:cNvCxnSpPr/>
          <p:nvPr/>
        </p:nvCxnSpPr>
        <p:spPr>
          <a:xfrm>
            <a:off x="548640" y="9400032"/>
            <a:ext cx="17190720" cy="0"/>
          </a:xfrm>
          <a:prstGeom prst="line">
            <a:avLst/>
          </a:prstGeom>
          <a:ln w="12700">
            <a:solidFill>
              <a:srgbClr val="DDD8E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548640" y="9546336"/>
            <a:ext cx="548640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050" b="0" i="0" spc="180">
                <a:solidFill>
                  <a:srgbClr val="6B6480"/>
                </a:solidFill>
                <a:latin typeface="Consolas"/>
              </a:rPr>
              <a:t>BIOCORE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509759" y="9546336"/>
            <a:ext cx="822960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30000"/>
              </a:lnSpc>
            </a:pPr>
            <a:r>
              <a:rPr sz="1050" b="0" i="0" spc="140">
                <a:solidFill>
                  <a:srgbClr val="C4BCDD"/>
                </a:solidFill>
                <a:latin typeface="Consolas"/>
              </a:rPr>
              <a:t>Event companies &amp; venues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2148840"/>
            <a:ext cx="14173200" cy="23774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</a:pPr>
            <a:r>
              <a:rPr sz="4400" b="0" i="0">
                <a:solidFill>
                  <a:srgbClr val="221C36"/>
                </a:solidFill>
                <a:latin typeface="Segoe UI Light"/>
              </a:rPr>
              <a:t>One camera, three different wins</a:t>
            </a:r>
          </a:p>
        </p:txBody>
      </p:sp>
      <p:sp>
        <p:nvSpPr>
          <p:cNvPr id="10" name="Rectangle 9"/>
          <p:cNvSpPr/>
          <p:nvPr/>
        </p:nvSpPr>
        <p:spPr>
          <a:xfrm>
            <a:off x="548640" y="3794760"/>
            <a:ext cx="2194560" cy="50292"/>
          </a:xfrm>
          <a:prstGeom prst="rect">
            <a:avLst/>
          </a:prstGeom>
          <a:solidFill>
            <a:srgbClr val="6D28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Rounded Rectangle 10"/>
          <p:cNvSpPr/>
          <p:nvPr/>
        </p:nvSpPr>
        <p:spPr>
          <a:xfrm>
            <a:off x="548640" y="4297680"/>
            <a:ext cx="5486400" cy="475488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DDD8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TextBox 11"/>
          <p:cNvSpPr txBox="1"/>
          <p:nvPr/>
        </p:nvSpPr>
        <p:spPr>
          <a:xfrm>
            <a:off x="960120" y="4709160"/>
            <a:ext cx="466344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150" b="0" i="0" spc="140">
                <a:solidFill>
                  <a:srgbClr val="6D28D9"/>
                </a:solidFill>
                <a:latin typeface="Consolas"/>
              </a:rPr>
              <a:t>FOR THE DELEGATE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60120" y="5120640"/>
            <a:ext cx="46634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2500" b="1" i="0">
                <a:solidFill>
                  <a:srgbClr val="221C36"/>
                </a:solidFill>
                <a:latin typeface="Segoe UI"/>
              </a:rPr>
              <a:t>Ananya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960120" y="5806440"/>
            <a:ext cx="4663439" cy="0"/>
          </a:xfrm>
          <a:prstGeom prst="line">
            <a:avLst/>
          </a:prstGeom>
          <a:ln w="12700">
            <a:solidFill>
              <a:srgbClr val="DDD8E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Rounded Rectangle 14"/>
          <p:cNvSpPr/>
          <p:nvPr/>
        </p:nvSpPr>
        <p:spPr>
          <a:xfrm>
            <a:off x="960120" y="6117336"/>
            <a:ext cx="146304" cy="146304"/>
          </a:xfrm>
          <a:prstGeom prst="roundRect">
            <a:avLst>
              <a:gd name="adj" fmla="val 50000"/>
            </a:avLst>
          </a:prstGeom>
          <a:solidFill>
            <a:srgbClr val="6D28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TextBox 15"/>
          <p:cNvSpPr txBox="1"/>
          <p:nvPr/>
        </p:nvSpPr>
        <p:spPr>
          <a:xfrm>
            <a:off x="1325880" y="6035040"/>
            <a:ext cx="4297680" cy="6583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350" b="0" i="0">
                <a:solidFill>
                  <a:srgbClr val="6B6480"/>
                </a:solidFill>
                <a:latin typeface="Segoe UI"/>
              </a:rPr>
              <a:t>Walks in, no queue, nothing to collect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960120" y="6867144"/>
            <a:ext cx="146304" cy="146304"/>
          </a:xfrm>
          <a:prstGeom prst="roundRect">
            <a:avLst>
              <a:gd name="adj" fmla="val 50000"/>
            </a:avLst>
          </a:prstGeom>
          <a:solidFill>
            <a:srgbClr val="6D28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1325880" y="6784848"/>
            <a:ext cx="4297680" cy="6583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350" b="0" i="0">
                <a:solidFill>
                  <a:srgbClr val="6B6480"/>
                </a:solidFill>
                <a:latin typeface="Segoe UI"/>
              </a:rPr>
              <a:t>Nothing to lose or leave in the hotel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960120" y="7616952"/>
            <a:ext cx="146304" cy="146304"/>
          </a:xfrm>
          <a:prstGeom prst="roundRect">
            <a:avLst>
              <a:gd name="adj" fmla="val 50000"/>
            </a:avLst>
          </a:prstGeom>
          <a:solidFill>
            <a:srgbClr val="6D28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" name="TextBox 19"/>
          <p:cNvSpPr txBox="1"/>
          <p:nvPr/>
        </p:nvSpPr>
        <p:spPr>
          <a:xfrm>
            <a:off x="1325880" y="7534656"/>
            <a:ext cx="4297680" cy="6583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350" b="0" i="0">
                <a:solidFill>
                  <a:srgbClr val="6B6480"/>
                </a:solidFill>
                <a:latin typeface="Segoe UI"/>
              </a:rPr>
              <a:t>Re-entry after lunch is instant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960120" y="8366759"/>
            <a:ext cx="146304" cy="146304"/>
          </a:xfrm>
          <a:prstGeom prst="roundRect">
            <a:avLst>
              <a:gd name="adj" fmla="val 50000"/>
            </a:avLst>
          </a:prstGeom>
          <a:solidFill>
            <a:srgbClr val="6D28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1325880" y="8284463"/>
            <a:ext cx="4297680" cy="6583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350" b="0" i="0">
                <a:solidFill>
                  <a:srgbClr val="6B6480"/>
                </a:solidFill>
                <a:latin typeface="Segoe UI"/>
              </a:rPr>
              <a:t>Can erase her face after the event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355079" y="4297680"/>
            <a:ext cx="5486400" cy="475488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DDD8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4" name="TextBox 23"/>
          <p:cNvSpPr txBox="1"/>
          <p:nvPr/>
        </p:nvSpPr>
        <p:spPr>
          <a:xfrm>
            <a:off x="6766559" y="4709160"/>
            <a:ext cx="466344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150" b="0" i="0" spc="140">
                <a:solidFill>
                  <a:srgbClr val="6D28D9"/>
                </a:solidFill>
                <a:latin typeface="Consolas"/>
              </a:rPr>
              <a:t>FOR YOUR OPS TEAM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766559" y="5120640"/>
            <a:ext cx="46634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2500" b="1" i="0">
                <a:solidFill>
                  <a:srgbClr val="221C36"/>
                </a:solidFill>
                <a:latin typeface="Segoe UI"/>
              </a:rPr>
              <a:t>The floor manager</a:t>
            </a:r>
          </a:p>
        </p:txBody>
      </p:sp>
      <p:cxnSp>
        <p:nvCxnSpPr>
          <p:cNvPr id="26" name="Connector 25"/>
          <p:cNvCxnSpPr/>
          <p:nvPr/>
        </p:nvCxnSpPr>
        <p:spPr>
          <a:xfrm>
            <a:off x="6766559" y="5806440"/>
            <a:ext cx="4663441" cy="0"/>
          </a:xfrm>
          <a:prstGeom prst="line">
            <a:avLst/>
          </a:prstGeom>
          <a:ln w="12700">
            <a:solidFill>
              <a:srgbClr val="DDD8E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Rounded Rectangle 26"/>
          <p:cNvSpPr/>
          <p:nvPr/>
        </p:nvSpPr>
        <p:spPr>
          <a:xfrm>
            <a:off x="6766559" y="6117336"/>
            <a:ext cx="146304" cy="146304"/>
          </a:xfrm>
          <a:prstGeom prst="roundRect">
            <a:avLst>
              <a:gd name="adj" fmla="val 50000"/>
            </a:avLst>
          </a:prstGeom>
          <a:solidFill>
            <a:srgbClr val="6D28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8" name="TextBox 27"/>
          <p:cNvSpPr txBox="1"/>
          <p:nvPr/>
        </p:nvSpPr>
        <p:spPr>
          <a:xfrm>
            <a:off x="7132319" y="6035040"/>
            <a:ext cx="4297680" cy="6583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350" b="0" i="0">
                <a:solidFill>
                  <a:srgbClr val="6B6480"/>
                </a:solidFill>
                <a:latin typeface="Segoe UI"/>
              </a:rPr>
              <a:t>No badge printing or stock to manage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6766559" y="6867144"/>
            <a:ext cx="146304" cy="146304"/>
          </a:xfrm>
          <a:prstGeom prst="roundRect">
            <a:avLst>
              <a:gd name="adj" fmla="val 50000"/>
            </a:avLst>
          </a:prstGeom>
          <a:solidFill>
            <a:srgbClr val="6D28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0" name="TextBox 29"/>
          <p:cNvSpPr txBox="1"/>
          <p:nvPr/>
        </p:nvSpPr>
        <p:spPr>
          <a:xfrm>
            <a:off x="7132319" y="6784848"/>
            <a:ext cx="4297680" cy="6583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350" b="0" i="0">
                <a:solidFill>
                  <a:srgbClr val="6B6480"/>
                </a:solidFill>
                <a:latin typeface="Segoe UI"/>
              </a:rPr>
              <a:t>Six stands instead of eight counters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6766559" y="7616952"/>
            <a:ext cx="146304" cy="146304"/>
          </a:xfrm>
          <a:prstGeom prst="roundRect">
            <a:avLst>
              <a:gd name="adj" fmla="val 50000"/>
            </a:avLst>
          </a:prstGeom>
          <a:solidFill>
            <a:srgbClr val="6D28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2" name="TextBox 31"/>
          <p:cNvSpPr txBox="1"/>
          <p:nvPr/>
        </p:nvSpPr>
        <p:spPr>
          <a:xfrm>
            <a:off x="7132319" y="7534656"/>
            <a:ext cx="4297680" cy="6583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350" b="0" i="0">
                <a:solidFill>
                  <a:srgbClr val="6B6480"/>
                </a:solidFill>
                <a:latin typeface="Segoe UI"/>
              </a:rPr>
              <a:t>Sees hall occupancy live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6766559" y="8366759"/>
            <a:ext cx="146304" cy="146304"/>
          </a:xfrm>
          <a:prstGeom prst="roundRect">
            <a:avLst>
              <a:gd name="adj" fmla="val 50000"/>
            </a:avLst>
          </a:prstGeom>
          <a:solidFill>
            <a:srgbClr val="6D28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4" name="TextBox 33"/>
          <p:cNvSpPr txBox="1"/>
          <p:nvPr/>
        </p:nvSpPr>
        <p:spPr>
          <a:xfrm>
            <a:off x="7132319" y="8284463"/>
            <a:ext cx="4297680" cy="6583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350" b="0" i="0">
                <a:solidFill>
                  <a:srgbClr val="6B6480"/>
                </a:solidFill>
                <a:latin typeface="Segoe UI"/>
              </a:rPr>
              <a:t>Fewer staff on the door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12161519" y="4297680"/>
            <a:ext cx="5486400" cy="475488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DDD8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6" name="TextBox 35"/>
          <p:cNvSpPr txBox="1"/>
          <p:nvPr/>
        </p:nvSpPr>
        <p:spPr>
          <a:xfrm>
            <a:off x="12572999" y="4709160"/>
            <a:ext cx="466344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150" b="0" i="0" spc="140">
                <a:solidFill>
                  <a:srgbClr val="6D28D9"/>
                </a:solidFill>
                <a:latin typeface="Consolas"/>
              </a:rPr>
              <a:t>FOR THE SPONSOR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2572999" y="5120640"/>
            <a:ext cx="46634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2500" b="1" i="0">
                <a:solidFill>
                  <a:srgbClr val="221C36"/>
                </a:solidFill>
                <a:latin typeface="Segoe UI"/>
              </a:rPr>
              <a:t>The brand</a:t>
            </a:r>
          </a:p>
        </p:txBody>
      </p:sp>
      <p:cxnSp>
        <p:nvCxnSpPr>
          <p:cNvPr id="38" name="Connector 37"/>
          <p:cNvCxnSpPr/>
          <p:nvPr/>
        </p:nvCxnSpPr>
        <p:spPr>
          <a:xfrm>
            <a:off x="12572999" y="5806440"/>
            <a:ext cx="4663440" cy="0"/>
          </a:xfrm>
          <a:prstGeom prst="line">
            <a:avLst/>
          </a:prstGeom>
          <a:ln w="12700">
            <a:solidFill>
              <a:srgbClr val="DDD8E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9" name="Rounded Rectangle 38"/>
          <p:cNvSpPr/>
          <p:nvPr/>
        </p:nvSpPr>
        <p:spPr>
          <a:xfrm>
            <a:off x="12572999" y="6117336"/>
            <a:ext cx="146304" cy="146304"/>
          </a:xfrm>
          <a:prstGeom prst="roundRect">
            <a:avLst>
              <a:gd name="adj" fmla="val 50000"/>
            </a:avLst>
          </a:prstGeom>
          <a:solidFill>
            <a:srgbClr val="6D28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0" name="TextBox 39"/>
          <p:cNvSpPr txBox="1"/>
          <p:nvPr/>
        </p:nvSpPr>
        <p:spPr>
          <a:xfrm>
            <a:off x="12938759" y="6035040"/>
            <a:ext cx="4297680" cy="6583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350" b="0" i="0">
                <a:solidFill>
                  <a:srgbClr val="6B6480"/>
                </a:solidFill>
                <a:latin typeface="Segoe UI"/>
              </a:rPr>
              <a:t>Real attendance, not an estimate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12572999" y="6867144"/>
            <a:ext cx="146304" cy="146304"/>
          </a:xfrm>
          <a:prstGeom prst="roundRect">
            <a:avLst>
              <a:gd name="adj" fmla="val 50000"/>
            </a:avLst>
          </a:prstGeom>
          <a:solidFill>
            <a:srgbClr val="6D28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2" name="TextBox 41"/>
          <p:cNvSpPr txBox="1"/>
          <p:nvPr/>
        </p:nvSpPr>
        <p:spPr>
          <a:xfrm>
            <a:off x="12938759" y="6784848"/>
            <a:ext cx="4297680" cy="6583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350" b="0" i="0">
                <a:solidFill>
                  <a:srgbClr val="6B6480"/>
                </a:solidFill>
                <a:latin typeface="Segoe UI"/>
              </a:rPr>
              <a:t>Footfall per hall and per session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12572999" y="7616952"/>
            <a:ext cx="146304" cy="146304"/>
          </a:xfrm>
          <a:prstGeom prst="roundRect">
            <a:avLst>
              <a:gd name="adj" fmla="val 50000"/>
            </a:avLst>
          </a:prstGeom>
          <a:solidFill>
            <a:srgbClr val="6D28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4" name="TextBox 43"/>
          <p:cNvSpPr txBox="1"/>
          <p:nvPr/>
        </p:nvSpPr>
        <p:spPr>
          <a:xfrm>
            <a:off x="12938759" y="7534656"/>
            <a:ext cx="4297680" cy="6583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350" b="0" i="0">
                <a:solidFill>
                  <a:srgbClr val="6B6480"/>
                </a:solidFill>
                <a:latin typeface="Segoe UI"/>
              </a:rPr>
              <a:t>Proof of who reached their stand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12572999" y="8366759"/>
            <a:ext cx="146304" cy="146304"/>
          </a:xfrm>
          <a:prstGeom prst="roundRect">
            <a:avLst>
              <a:gd name="adj" fmla="val 50000"/>
            </a:avLst>
          </a:prstGeom>
          <a:solidFill>
            <a:srgbClr val="6D28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6" name="TextBox 45"/>
          <p:cNvSpPr txBox="1"/>
          <p:nvPr/>
        </p:nvSpPr>
        <p:spPr>
          <a:xfrm>
            <a:off x="12938759" y="8284463"/>
            <a:ext cx="4297680" cy="6583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350" b="0" i="0">
                <a:solidFill>
                  <a:srgbClr val="6B6480"/>
                </a:solidFill>
                <a:latin typeface="Segoe UI"/>
              </a:rPr>
              <a:t>A reason to renew next year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solidFill>
            <a:srgbClr val="F5F3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48640" y="603504"/>
            <a:ext cx="1225296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150" b="0" i="0" spc="180">
                <a:solidFill>
                  <a:srgbClr val="6B6480"/>
                </a:solidFill>
                <a:latin typeface="Consolas"/>
              </a:rPr>
              <a:t>GETTING STARTED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2252959" y="603504"/>
            <a:ext cx="548640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30000"/>
              </a:lnSpc>
            </a:pPr>
            <a:r>
              <a:rPr sz="1150" b="0" i="0" spc="180">
                <a:solidFill>
                  <a:srgbClr val="C4BCDD"/>
                </a:solidFill>
                <a:latin typeface="Consolas"/>
              </a:rPr>
              <a:t>11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48640" y="1024128"/>
            <a:ext cx="17190720" cy="0"/>
          </a:xfrm>
          <a:prstGeom prst="line">
            <a:avLst/>
          </a:prstGeom>
          <a:ln w="12700">
            <a:solidFill>
              <a:srgbClr val="DDD8E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" name="Connector 5"/>
          <p:cNvCxnSpPr/>
          <p:nvPr/>
        </p:nvCxnSpPr>
        <p:spPr>
          <a:xfrm>
            <a:off x="548640" y="9400032"/>
            <a:ext cx="17190720" cy="0"/>
          </a:xfrm>
          <a:prstGeom prst="line">
            <a:avLst/>
          </a:prstGeom>
          <a:ln w="12700">
            <a:solidFill>
              <a:srgbClr val="DDD8E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548640" y="9546336"/>
            <a:ext cx="548640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050" b="0" i="0" spc="180">
                <a:solidFill>
                  <a:srgbClr val="6B6480"/>
                </a:solidFill>
                <a:latin typeface="Consolas"/>
              </a:rPr>
              <a:t>BIOCORE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509759" y="9546336"/>
            <a:ext cx="822960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30000"/>
              </a:lnSpc>
            </a:pPr>
            <a:r>
              <a:rPr sz="1050" b="0" i="0" spc="140">
                <a:solidFill>
                  <a:srgbClr val="C4BCDD"/>
                </a:solidFill>
                <a:latin typeface="Consolas"/>
              </a:rPr>
              <a:t>Event companies &amp; venues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2103120"/>
            <a:ext cx="14173200" cy="23774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</a:pPr>
            <a:r>
              <a:rPr sz="4400" b="0" i="0">
                <a:solidFill>
                  <a:srgbClr val="221C36"/>
                </a:solidFill>
                <a:latin typeface="Segoe UI Light"/>
              </a:rPr>
              <a:t>One door, two weeks, then decide</a:t>
            </a:r>
          </a:p>
        </p:txBody>
      </p:sp>
      <p:sp>
        <p:nvSpPr>
          <p:cNvPr id="10" name="Rectangle 9"/>
          <p:cNvSpPr/>
          <p:nvPr/>
        </p:nvSpPr>
        <p:spPr>
          <a:xfrm>
            <a:off x="548640" y="4069080"/>
            <a:ext cx="2194560" cy="50292"/>
          </a:xfrm>
          <a:prstGeom prst="rect">
            <a:avLst/>
          </a:prstGeom>
          <a:solidFill>
            <a:srgbClr val="6D28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548640" y="4480560"/>
            <a:ext cx="14813280" cy="1463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6000"/>
              </a:lnSpc>
            </a:pPr>
            <a:r>
              <a:rPr sz="1650" b="0" i="0">
                <a:solidFill>
                  <a:srgbClr val="4A4265"/>
                </a:solidFill>
                <a:latin typeface="Segoe UI"/>
              </a:rPr>
              <a:t>Nobody should buy this for a whole campus on day one. Prove it on a single entrance first.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48640" y="5989320"/>
            <a:ext cx="4057650" cy="265176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DDD8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Rounded Rectangle 12"/>
          <p:cNvSpPr/>
          <p:nvPr/>
        </p:nvSpPr>
        <p:spPr>
          <a:xfrm>
            <a:off x="932688" y="6355080"/>
            <a:ext cx="566928" cy="566928"/>
          </a:xfrm>
          <a:prstGeom prst="roundRect">
            <a:avLst>
              <a:gd name="adj" fmla="val 22000"/>
            </a:avLst>
          </a:prstGeom>
          <a:solidFill>
            <a:srgbClr val="EDE7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932688" y="6501384"/>
            <a:ext cx="566928" cy="32918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30000"/>
              </a:lnSpc>
            </a:pPr>
            <a:r>
              <a:rPr sz="1300" b="1" i="0">
                <a:solidFill>
                  <a:srgbClr val="6D28D9"/>
                </a:solidFill>
                <a:latin typeface="Consolas"/>
              </a:rPr>
              <a:t>01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32688" y="7132320"/>
            <a:ext cx="3289554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4000"/>
              </a:lnSpc>
            </a:pPr>
            <a:r>
              <a:rPr sz="1700" b="1" i="0">
                <a:solidFill>
                  <a:srgbClr val="221C36"/>
                </a:solidFill>
                <a:latin typeface="Segoe UI"/>
              </a:rPr>
              <a:t>One entrance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32688" y="7635240"/>
            <a:ext cx="3289554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6000"/>
              </a:lnSpc>
            </a:pPr>
            <a:r>
              <a:rPr sz="1300" b="0" i="0">
                <a:solidFill>
                  <a:srgbClr val="6B6480"/>
                </a:solidFill>
                <a:latin typeface="Segoe UI"/>
              </a:rPr>
              <a:t>Run it on a single door at your next event, with the desk still open beside it.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926329" y="5989320"/>
            <a:ext cx="4057650" cy="265176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DDD8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Rounded Rectangle 17"/>
          <p:cNvSpPr/>
          <p:nvPr/>
        </p:nvSpPr>
        <p:spPr>
          <a:xfrm>
            <a:off x="5310377" y="6355080"/>
            <a:ext cx="566928" cy="566928"/>
          </a:xfrm>
          <a:prstGeom prst="roundRect">
            <a:avLst>
              <a:gd name="adj" fmla="val 22000"/>
            </a:avLst>
          </a:prstGeom>
          <a:solidFill>
            <a:srgbClr val="EDE7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TextBox 18"/>
          <p:cNvSpPr txBox="1"/>
          <p:nvPr/>
        </p:nvSpPr>
        <p:spPr>
          <a:xfrm>
            <a:off x="5310377" y="6501384"/>
            <a:ext cx="566928" cy="32918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30000"/>
              </a:lnSpc>
            </a:pPr>
            <a:r>
              <a:rPr sz="1300" b="1" i="0">
                <a:solidFill>
                  <a:srgbClr val="6D28D9"/>
                </a:solidFill>
                <a:latin typeface="Consolas"/>
              </a:rPr>
              <a:t>02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310377" y="7132320"/>
            <a:ext cx="3289554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4000"/>
              </a:lnSpc>
            </a:pPr>
            <a:r>
              <a:rPr sz="1700" b="1" i="0">
                <a:solidFill>
                  <a:srgbClr val="221C36"/>
                </a:solidFill>
                <a:latin typeface="Segoe UI"/>
              </a:rPr>
              <a:t>Opt-in only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310377" y="7635240"/>
            <a:ext cx="3289554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6000"/>
              </a:lnSpc>
            </a:pPr>
            <a:r>
              <a:rPr sz="1300" b="0" i="0">
                <a:solidFill>
                  <a:srgbClr val="6B6480"/>
                </a:solidFill>
                <a:latin typeface="Segoe UI"/>
              </a:rPr>
              <a:t>Offer it to delegates who want it. Everyone else uses the badge as usual.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9304019" y="5989320"/>
            <a:ext cx="4057650" cy="265176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DDD8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3" name="Rounded Rectangle 22"/>
          <p:cNvSpPr/>
          <p:nvPr/>
        </p:nvSpPr>
        <p:spPr>
          <a:xfrm>
            <a:off x="9688067" y="6355080"/>
            <a:ext cx="566928" cy="566928"/>
          </a:xfrm>
          <a:prstGeom prst="roundRect">
            <a:avLst>
              <a:gd name="adj" fmla="val 22000"/>
            </a:avLst>
          </a:prstGeom>
          <a:solidFill>
            <a:srgbClr val="EDE7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4" name="TextBox 23"/>
          <p:cNvSpPr txBox="1"/>
          <p:nvPr/>
        </p:nvSpPr>
        <p:spPr>
          <a:xfrm>
            <a:off x="9688067" y="6501384"/>
            <a:ext cx="566928" cy="32918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30000"/>
              </a:lnSpc>
            </a:pPr>
            <a:r>
              <a:rPr sz="1300" b="1" i="0">
                <a:solidFill>
                  <a:srgbClr val="6D28D9"/>
                </a:solidFill>
                <a:latin typeface="Consolas"/>
              </a:rPr>
              <a:t>03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688067" y="7132320"/>
            <a:ext cx="3289554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4000"/>
              </a:lnSpc>
            </a:pPr>
            <a:r>
              <a:rPr sz="1700" b="1" i="0">
                <a:solidFill>
                  <a:srgbClr val="221C36"/>
                </a:solidFill>
                <a:latin typeface="Segoe UI"/>
              </a:rPr>
              <a:t>Compare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688067" y="7635240"/>
            <a:ext cx="3289554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6000"/>
              </a:lnSpc>
            </a:pPr>
            <a:r>
              <a:rPr sz="1300" b="0" i="0">
                <a:solidFill>
                  <a:srgbClr val="6B6480"/>
                </a:solidFill>
                <a:latin typeface="Segoe UI"/>
              </a:rPr>
              <a:t>Time the two lanes. Count them. The difference is the whole business case.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13681709" y="5989320"/>
            <a:ext cx="4057650" cy="265176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DDD8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8" name="Rounded Rectangle 27"/>
          <p:cNvSpPr/>
          <p:nvPr/>
        </p:nvSpPr>
        <p:spPr>
          <a:xfrm>
            <a:off x="14065757" y="6355080"/>
            <a:ext cx="566928" cy="566928"/>
          </a:xfrm>
          <a:prstGeom prst="roundRect">
            <a:avLst>
              <a:gd name="adj" fmla="val 22000"/>
            </a:avLst>
          </a:prstGeom>
          <a:solidFill>
            <a:srgbClr val="EDE7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9" name="TextBox 28"/>
          <p:cNvSpPr txBox="1"/>
          <p:nvPr/>
        </p:nvSpPr>
        <p:spPr>
          <a:xfrm>
            <a:off x="14065757" y="6501384"/>
            <a:ext cx="566928" cy="32918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30000"/>
              </a:lnSpc>
            </a:pPr>
            <a:r>
              <a:rPr sz="1300" b="1" i="0">
                <a:solidFill>
                  <a:srgbClr val="6D28D9"/>
                </a:solidFill>
                <a:latin typeface="Consolas"/>
              </a:rPr>
              <a:t>04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4065757" y="7132320"/>
            <a:ext cx="3289554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4000"/>
              </a:lnSpc>
            </a:pPr>
            <a:r>
              <a:rPr sz="1700" b="1" i="0">
                <a:solidFill>
                  <a:srgbClr val="221C36"/>
                </a:solidFill>
                <a:latin typeface="Segoe UI"/>
              </a:rPr>
              <a:t>Then scale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4065757" y="7635240"/>
            <a:ext cx="3289554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6000"/>
              </a:lnSpc>
            </a:pPr>
            <a:r>
              <a:rPr sz="1300" b="0" i="0">
                <a:solidFill>
                  <a:srgbClr val="6B6480"/>
                </a:solidFill>
                <a:latin typeface="Segoe UI"/>
              </a:rPr>
              <a:t>If it holds at one door, it holds at six. The hardware is just more tablets.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48640" y="8915400"/>
            <a:ext cx="171907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350" b="0" i="1">
                <a:solidFill>
                  <a:srgbClr val="6D28D9"/>
                </a:solidFill>
                <a:latin typeface="Segoe UI"/>
              </a:rPr>
              <a:t>Run it alongside badges for one event. You will know within the first hour.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solidFill>
            <a:srgbClr val="F5F3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48640" y="603504"/>
            <a:ext cx="1225296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150" b="0" i="0" spc="180">
                <a:solidFill>
                  <a:srgbClr val="6B6480"/>
                </a:solidFill>
                <a:latin typeface="Consolas"/>
              </a:rPr>
              <a:t>IN ONE BREATH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2252959" y="603504"/>
            <a:ext cx="548640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30000"/>
              </a:lnSpc>
            </a:pPr>
            <a:r>
              <a:rPr sz="1150" b="0" i="0" spc="180">
                <a:solidFill>
                  <a:srgbClr val="C4BCDD"/>
                </a:solidFill>
                <a:latin typeface="Consolas"/>
              </a:rPr>
              <a:t>12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48640" y="1024128"/>
            <a:ext cx="17190720" cy="0"/>
          </a:xfrm>
          <a:prstGeom prst="line">
            <a:avLst/>
          </a:prstGeom>
          <a:ln w="12700">
            <a:solidFill>
              <a:srgbClr val="DDD8E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" name="Connector 5"/>
          <p:cNvCxnSpPr/>
          <p:nvPr/>
        </p:nvCxnSpPr>
        <p:spPr>
          <a:xfrm>
            <a:off x="548640" y="9400032"/>
            <a:ext cx="17190720" cy="0"/>
          </a:xfrm>
          <a:prstGeom prst="line">
            <a:avLst/>
          </a:prstGeom>
          <a:ln w="12700">
            <a:solidFill>
              <a:srgbClr val="DDD8E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548640" y="9546336"/>
            <a:ext cx="548640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050" b="0" i="0" spc="180">
                <a:solidFill>
                  <a:srgbClr val="6B6480"/>
                </a:solidFill>
                <a:latin typeface="Consolas"/>
              </a:rPr>
              <a:t>BIOCORE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509759" y="9546336"/>
            <a:ext cx="822960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30000"/>
              </a:lnSpc>
            </a:pPr>
            <a:r>
              <a:rPr sz="1050" b="0" i="0" spc="140">
                <a:solidFill>
                  <a:srgbClr val="C4BCDD"/>
                </a:solidFill>
                <a:latin typeface="Consolas"/>
              </a:rPr>
              <a:t>Event companies &amp; venues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48640" y="2103120"/>
            <a:ext cx="17190720" cy="4114800"/>
          </a:xfrm>
          <a:prstGeom prst="roundRect">
            <a:avLst>
              <a:gd name="adj" fmla="val 3500"/>
            </a:avLst>
          </a:prstGeom>
          <a:solidFill>
            <a:srgbClr val="EDE7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1371600" y="2743200"/>
            <a:ext cx="15544800" cy="23774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0000"/>
              </a:lnSpc>
            </a:pPr>
            <a:r>
              <a:rPr sz="4800" b="0" i="0">
                <a:solidFill>
                  <a:srgbClr val="4C1D95"/>
                </a:solidFill>
                <a:latin typeface="Segoe UI Light"/>
              </a:rPr>
              <a:t>The badge was never</a:t>
            </a:r>
          </a:p>
          <a:p>
            <a:pPr algn="ctr">
              <a:lnSpc>
                <a:spcPct val="110000"/>
              </a:lnSpc>
            </a:pPr>
            <a:r>
              <a:rPr sz="4800" b="0" i="0">
                <a:solidFill>
                  <a:srgbClr val="4C1D95"/>
                </a:solidFill>
                <a:latin typeface="Segoe UI Light"/>
              </a:rPr>
              <a:t>proving anything.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743200" y="5120640"/>
            <a:ext cx="1280160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40000"/>
              </a:lnSpc>
            </a:pPr>
            <a:r>
              <a:rPr sz="1700" b="0" i="0">
                <a:solidFill>
                  <a:srgbClr val="4C1D95"/>
                </a:solidFill>
                <a:latin typeface="Segoe UI"/>
              </a:rPr>
              <a:t>Walk-through entry, zones that actually hold, and sponsor numbers you can stand behind.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48640" y="6537960"/>
            <a:ext cx="5486400" cy="25146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DDD8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960120" y="6949440"/>
            <a:ext cx="46634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800" b="1" i="0">
                <a:solidFill>
                  <a:srgbClr val="221C36"/>
                </a:solidFill>
                <a:latin typeface="Segoe UI"/>
              </a:rPr>
              <a:t>What it fixes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60120" y="7498079"/>
            <a:ext cx="466344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6000"/>
              </a:lnSpc>
            </a:pPr>
            <a:r>
              <a:rPr sz="1300" b="0" i="0">
                <a:solidFill>
                  <a:srgbClr val="6B6480"/>
                </a:solidFill>
                <a:latin typeface="Segoe UI"/>
              </a:rPr>
              <a:t>The forty-minute registration queue, badge printing and stock, and attendance figures that are currently estimates.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355079" y="6537960"/>
            <a:ext cx="5486400" cy="25146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DDD8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TextBox 15"/>
          <p:cNvSpPr txBox="1"/>
          <p:nvPr/>
        </p:nvSpPr>
        <p:spPr>
          <a:xfrm>
            <a:off x="6766559" y="6949440"/>
            <a:ext cx="46634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800" b="1" i="0">
                <a:solidFill>
                  <a:srgbClr val="221C36"/>
                </a:solidFill>
                <a:latin typeface="Segoe UI"/>
              </a:rPr>
              <a:t>What it does not do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766559" y="7498079"/>
            <a:ext cx="466344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6000"/>
              </a:lnSpc>
            </a:pPr>
            <a:r>
              <a:rPr sz="1300" b="0" i="0">
                <a:solidFill>
                  <a:srgbClr val="6B6480"/>
                </a:solidFill>
                <a:latin typeface="Segoe UI"/>
              </a:rPr>
              <a:t>It does not lock open halls, and it keeps no photograph of any delegate after the event.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12161519" y="6537960"/>
            <a:ext cx="5486400" cy="25146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DDD8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TextBox 18"/>
          <p:cNvSpPr txBox="1"/>
          <p:nvPr/>
        </p:nvSpPr>
        <p:spPr>
          <a:xfrm>
            <a:off x="12572999" y="6949440"/>
            <a:ext cx="46634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800" b="1" i="0">
                <a:solidFill>
                  <a:srgbClr val="221C36"/>
                </a:solidFill>
                <a:latin typeface="Segoe UI"/>
              </a:rPr>
              <a:t>How to start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2572999" y="7498079"/>
            <a:ext cx="466344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6000"/>
              </a:lnSpc>
            </a:pPr>
            <a:r>
              <a:rPr sz="1300" b="0" i="0">
                <a:solidFill>
                  <a:srgbClr val="6B6480"/>
                </a:solidFill>
                <a:latin typeface="Segoe UI"/>
              </a:rPr>
              <a:t>One lane at your next event, running beside the normal desk, opt-in for delegates who want it.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