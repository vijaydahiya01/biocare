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PLAIN-ENGLISH GUIDE   |   BIOCORE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400" b="0" i="0">
                <a:solidFill>
                  <a:srgbClr val="221C36"/>
                </a:solidFill>
                <a:latin typeface="Segoe UI Light"/>
              </a:rPr>
              <a:t>You look at a camera.</a:t>
            </a:r>
          </a:p>
          <a:p>
            <a:pPr algn="l">
              <a:lnSpc>
                <a:spcPct val="106000"/>
              </a:lnSpc>
            </a:pPr>
            <a:r>
              <a:rPr sz="5400" b="0" i="0">
                <a:solidFill>
                  <a:srgbClr val="221C36"/>
                </a:solidFill>
                <a:latin typeface="Segoe UI Light"/>
              </a:rPr>
              <a:t>The door knows who you 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9436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No card to carry. No PIN to remember. No fingerprint pad to touch.</a:t>
            </a:r>
          </a:p>
          <a:p>
            <a:pPr algn="l">
              <a:lnSpc>
                <a:spcPct val="134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And — this is the part that matters — no photograph of your face is ever kept.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19456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2271248" y="25786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426696" y="273405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2545568" y="28620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2691872" y="28620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12554712" y="3044952"/>
            <a:ext cx="182880" cy="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304520" y="2615184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The 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04520" y="3054096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 employee, a student,</a:t>
            </a:r>
          </a:p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visitor at the gate.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0" y="4224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C4BCDD"/>
                </a:solidFill>
                <a:latin typeface="Segoe U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0" y="4526279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2271248" y="4910327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2518136" y="5065775"/>
            <a:ext cx="256032" cy="438912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12600432" y="5422392"/>
            <a:ext cx="91440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304520" y="4946903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The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04520" y="5385815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cheap camera and a screen.</a:t>
            </a:r>
          </a:p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 special hardware.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0" y="65562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C4BCDD"/>
                </a:solidFill>
                <a:latin typeface="Segoe UI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0" y="685800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27124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2444984" y="7415783"/>
            <a:ext cx="402336" cy="402336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1" name="Connector 30"/>
          <p:cNvCxnSpPr/>
          <p:nvPr/>
        </p:nvCxnSpPr>
        <p:spPr>
          <a:xfrm>
            <a:off x="12536424" y="7543800"/>
            <a:ext cx="219456" cy="0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536424" y="7635240"/>
            <a:ext cx="219456" cy="0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3304520" y="7278624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The organisation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04520" y="7717536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Sees who is inside,</a:t>
            </a:r>
          </a:p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live, and can prove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80"/>
            <a:ext cx="1463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0" i="0" spc="180">
                <a:solidFill>
                  <a:srgbClr val="6D28D9"/>
                </a:solidFill>
                <a:latin typeface="Consolas"/>
              </a:rPr>
              <a:t>IF YOU REMEMBER ONE 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26080"/>
            <a:ext cx="1536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Your face becomes your badge — and you</a:t>
            </a:r>
          </a:p>
          <a:p>
            <a:pPr algn="ctr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decide which doors it works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598932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005840" y="6492240"/>
            <a:ext cx="51206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389888" y="687628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563624" y="705002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673351" y="726947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89888" y="7808975"/>
            <a:ext cx="4352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Prove it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8211311"/>
            <a:ext cx="435254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You verify yourself a single time —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 again at every new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6492240"/>
            <a:ext cx="51206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830568" y="687628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077456" y="7031736"/>
            <a:ext cx="256032" cy="438912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7159752" y="7388352"/>
            <a:ext cx="91440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30568" y="7808975"/>
            <a:ext cx="4352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Reuse by permission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8211311"/>
            <a:ext cx="435254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Joining your next office or gym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is one tap. No second scan.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0" y="6492240"/>
            <a:ext cx="51206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271248" y="687628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463272" y="721461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536424" y="705002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271248" y="7808975"/>
            <a:ext cx="4352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Switch it off any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71248" y="8211311"/>
            <a:ext cx="435254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Withdraw one place, or erase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everything, whenever you want.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FIRST, ONE PIECE OF JARGON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719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What people mean by “biometric”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4A4265"/>
                </a:solidFill>
                <a:latin typeface="Segoe UI"/>
              </a:rPr>
              <a:t>It only means: using a part of your body to prove who you are, instead of</a:t>
            </a:r>
          </a:p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4A4265"/>
                </a:solidFill>
                <a:latin typeface="Segoe UI"/>
              </a:rPr>
              <a:t>something you carry or memorise.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5216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2362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69848" y="6455664"/>
            <a:ext cx="475488" cy="310896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069848" y="6574536"/>
            <a:ext cx="475488" cy="0"/>
          </a:xfrm>
          <a:prstGeom prst="line">
            <a:avLst/>
          </a:prstGeom>
          <a:ln w="2032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16889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Something you carry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571231"/>
            <a:ext cx="4718304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An ID card, a key, a fob.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Can be lent, lost or copied.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585216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39127" y="62362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31151" y="639165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7004303" y="653796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04303" y="662940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04303" y="6720840"/>
            <a:ext cx="12801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39127" y="716889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Something you remember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7" y="7571231"/>
            <a:ext cx="4718304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PIN or a password.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Can be told to someone else.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61519" y="585216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545567" y="62362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01015" y="639165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819888" y="65196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2966192" y="65196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1" name="Connector 30"/>
          <p:cNvCxnSpPr/>
          <p:nvPr/>
        </p:nvCxnSpPr>
        <p:spPr>
          <a:xfrm>
            <a:off x="12829032" y="6702552"/>
            <a:ext cx="182879" cy="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545567" y="716889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Something you 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45567" y="7571231"/>
            <a:ext cx="4718304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Your face. Cannot be handed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to a colleague at the gate.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AN EVERYDAY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You already use this every morning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4A4265"/>
                </a:solidFill>
                <a:latin typeface="Segoe UI"/>
              </a:rPr>
              <a:t>Your phone unlocks when it sees your face. It does not store a photo album of you —</a:t>
            </a:r>
          </a:p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4A4265"/>
                </a:solidFill>
                <a:latin typeface="Segoe UI"/>
              </a:rPr>
              <a:t>it stores a mathematical key, and checks the next face against that.</a:t>
            </a:r>
          </a:p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4A4265"/>
                </a:solidFill>
                <a:latin typeface="Segoe UI"/>
              </a:rPr>
              <a:t/>
            </a:r>
          </a:p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4A4265"/>
                </a:solidFill>
                <a:latin typeface="Segoe UI"/>
              </a:rPr>
              <a:t>BioCore is that same idea, moved from your pocket to a doorway — and shared,</a:t>
            </a:r>
          </a:p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4A4265"/>
                </a:solidFill>
                <a:latin typeface="Segoe UI"/>
              </a:rPr>
              <a:t>with your permission, across the places you belong 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2194560"/>
            <a:ext cx="6217920" cy="6766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978640" y="26517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 spc="180">
                <a:solidFill>
                  <a:srgbClr val="6B6480"/>
                </a:solidFill>
                <a:latin typeface="Consolas"/>
              </a:rPr>
              <a:t>THE DIFFERENCE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0" y="3291840"/>
            <a:ext cx="5303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Your 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0" y="3712464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One person. One device.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Works only for you, only there.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0" y="4892040"/>
            <a:ext cx="5303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BioCore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0" y="5312664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Many people, many doors.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You choose which ones.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978640" y="6446520"/>
            <a:ext cx="53035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978640" y="6720840"/>
            <a:ext cx="5303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6D28D9"/>
                </a:solidFill>
                <a:latin typeface="Segoe UI"/>
              </a:rPr>
              <a:t>What stays the same is the important bit:</a:t>
            </a:r>
          </a:p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6D28D9"/>
                </a:solidFill>
                <a:latin typeface="Segoe UI"/>
              </a:rPr>
              <a:t>in both cases the picture is thrown away</a:t>
            </a:r>
          </a:p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6D28D9"/>
                </a:solidFill>
                <a:latin typeface="Segoe UI"/>
              </a:rPr>
              <a:t>and only a mathematical key is kept.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WHO IS INVOLVED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719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Three people in this 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70916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175004" y="4924044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93875" y="505206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440180" y="505206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303019" y="5234940"/>
            <a:ext cx="182880" cy="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0120" y="58521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 i="0">
                <a:solidFill>
                  <a:srgbClr val="221C36"/>
                </a:solidFill>
                <a:latin typeface="Segoe UI"/>
              </a:rPr>
              <a:t>Priya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35508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THE PERSON WALKING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690372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Wants to get to her desk without hunting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for a card. Also wants to know exactly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what is held about her — and be able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to delete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766559" y="470916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999731" y="4960620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219187" y="4960620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6981443" y="5271516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66559" y="58521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 i="0">
                <a:solidFill>
                  <a:srgbClr val="221C36"/>
                </a:solidFill>
                <a:latin typeface="Segoe UI"/>
              </a:rPr>
              <a:t>Ramesh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635508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THE GUARD AT THE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690372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Needs to know in one second whether to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let someone through, and needs a reason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on screen when the answer is no.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16151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572999" y="470916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2806171" y="4942332"/>
            <a:ext cx="402336" cy="402336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1" name="Connector 30"/>
          <p:cNvCxnSpPr/>
          <p:nvPr/>
        </p:nvCxnSpPr>
        <p:spPr>
          <a:xfrm>
            <a:off x="12897611" y="5070348"/>
            <a:ext cx="219456" cy="0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897611" y="5161788"/>
            <a:ext cx="219456" cy="0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572999" y="58521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 i="0">
                <a:solidFill>
                  <a:srgbClr val="221C36"/>
                </a:solidFill>
                <a:latin typeface="Segoe UI"/>
              </a:rPr>
              <a:t>Anita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72999" y="635508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THE MANAGER UPSTAIRS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72999" y="690372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Needs attendance she does not have to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chase, a live headcount in an emergency,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and a clean answer for an auditor.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PROBLEM 1  —  THE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card proves nothing about who is holding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508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Cards get lent, lost, cloned and shared. A friend swipes you in while you are still at home —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and the register says you were at work. Nobody can prove otherwise, because the card was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never you in the first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69848" y="6729984"/>
            <a:ext cx="475488" cy="310896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069848" y="6848856"/>
            <a:ext cx="475488" cy="0"/>
          </a:xfrm>
          <a:prstGeom prst="line">
            <a:avLst/>
          </a:prstGeom>
          <a:ln w="2032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Buddy-punching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One person carries three cards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and clocks in three colleagues.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39127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12864" y="670255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132319" y="670255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6894575" y="7013448"/>
            <a:ext cx="438913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39127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Tailgating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One badge opens the door,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four people walk through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161519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545567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37592" y="666597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10744" y="681228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810744" y="690372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810744" y="6995160"/>
            <a:ext cx="12801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545567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 proof either 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45567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When it is disputed, there is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nothing to check it against.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PROBLEM 2  —  THE FINGERPRINT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Fingerprint readers fail exactly when you need 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508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They were the fix for shared cards. But they create a queue at 9am, they refuse wet, dry,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cut or worn fingers, and every person touches the same pad — which nobody has been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comfortable with since 2020.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666597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93876" y="6739128"/>
            <a:ext cx="27432" cy="1645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307592" y="6894576"/>
            <a:ext cx="128015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queue at the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One at a time, two to five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seconds each, in a rush.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39127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40295" y="6665976"/>
            <a:ext cx="34747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031736" y="6766560"/>
            <a:ext cx="164592" cy="274320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39127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Fails on real hands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Monsoon, kitchen work, labour,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age — all break the read.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161519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545567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819888" y="678484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545567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Everyone touches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45567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The same surface, hundreds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of fingers, every morning.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PROBLEM 3  —  THE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paper register cannot answer the only urgent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508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 fire alarm goes. Someone runs out with the visitor book. Now count the people in the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car park and tell me who is still inside the building — from handwriting, in the dark.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24712" y="666597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197864" y="681228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97864" y="690372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97864" y="6995160"/>
            <a:ext cx="12801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2688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Nobody can read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Names scrawled at a gate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are not a searchable record.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739127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894575" y="666597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100316" y="6739128"/>
            <a:ext cx="27432" cy="1645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7114031" y="6894576"/>
            <a:ext cx="128016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39127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It is always out of 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7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It records arrivals. It rarely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records anyone leaving.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161519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545567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755880" y="6684264"/>
            <a:ext cx="329184" cy="310896"/>
          </a:xfrm>
          <a:prstGeom prst="roundRect">
            <a:avLst>
              <a:gd name="adj" fmla="val 4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12701015" y="6995160"/>
            <a:ext cx="438913" cy="0"/>
          </a:xfrm>
          <a:prstGeom prst="line">
            <a:avLst/>
          </a:prstGeom>
          <a:ln w="2032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2874751" y="7031736"/>
            <a:ext cx="91440" cy="73152"/>
          </a:xfrm>
          <a:prstGeom prst="roundRect">
            <a:avLst>
              <a:gd name="adj" fmla="val 40000"/>
            </a:avLst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2545567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It fails under pressure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45567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In an evacuation it is a guess,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 a headcount.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PROBLEM 4  —  THE LAW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And storing faces just became a legal liability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508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India's DPDP Act treats a face as sensitive personal data. It requires consent before capture,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keeping the minimum, deleting on request, and proving all three. Most attendance systems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store the actual photograph — so they can meet none of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68426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6903720"/>
            <a:ext cx="182880" cy="0"/>
          </a:xfrm>
          <a:prstGeom prst="line">
            <a:avLst/>
          </a:prstGeom>
          <a:ln w="2540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Consent must be recorded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 a signboard at the gate.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recorded, provable agreement.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39127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31151" y="684885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04303" y="668426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39127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Deletion must be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7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“We removed the row” is not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the same as erased.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61519" y="61264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545567" y="65105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6" name="Connector 25"/>
          <p:cNvCxnSpPr/>
          <p:nvPr/>
        </p:nvCxnSpPr>
        <p:spPr>
          <a:xfrm>
            <a:off x="12701015" y="6757416"/>
            <a:ext cx="438913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2902184" y="6757416"/>
            <a:ext cx="36576" cy="365760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774167" y="7123176"/>
            <a:ext cx="292609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545567" y="744321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You must be able to prove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45567" y="7845552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To a regulator, later,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from records nobody can edit.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800" b="0" i="0">
                <a:solidFill>
                  <a:srgbClr val="221C36"/>
                </a:solidFill>
                <a:latin typeface="Segoe UI Light"/>
              </a:rPr>
              <a:t>Put the identity in the person,</a:t>
            </a:r>
          </a:p>
          <a:p>
            <a:pPr algn="l">
              <a:lnSpc>
                <a:spcPct val="106000"/>
              </a:lnSpc>
            </a:pPr>
            <a:r>
              <a:rPr sz="4800" b="0" i="0">
                <a:solidFill>
                  <a:srgbClr val="221C36"/>
                </a:solidFill>
                <a:latin typeface="Segoe UI Light"/>
              </a:rPr>
              <a:t>not in the 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864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One verified identity that belongs to the person. Each place they join holds only a</a:t>
            </a:r>
          </a:p>
          <a:p>
            <a:pPr algn="l">
              <a:lnSpc>
                <a:spcPct val="134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permission to use it — never a copy of their 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2148840"/>
            <a:ext cx="6217920" cy="685800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024360" y="2651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 spc="180">
                <a:solidFill>
                  <a:srgbClr val="4C1D95"/>
                </a:solidFill>
                <a:latin typeface="Consolas"/>
              </a:rPr>
              <a:t>WHAT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24360" y="3291840"/>
            <a:ext cx="5212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50" b="1" i="0">
                <a:solidFill>
                  <a:srgbClr val="4C1D95"/>
                </a:solidFill>
                <a:latin typeface="Segoe UI"/>
              </a:rPr>
              <a:t>Under 2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24360" y="3694176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4A4265"/>
                </a:solidFill>
                <a:latin typeface="Segoe UI"/>
              </a:rPr>
              <a:t>Walk up, look, keep walking.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024360" y="4224528"/>
            <a:ext cx="5212080" cy="0"/>
          </a:xfrm>
          <a:prstGeom prst="line">
            <a:avLst/>
          </a:prstGeom>
          <a:ln w="12700">
            <a:solidFill>
              <a:srgbClr val="D8C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024360" y="4407408"/>
            <a:ext cx="5212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50" b="1" i="0">
                <a:solidFill>
                  <a:srgbClr val="4C1D95"/>
                </a:solidFill>
                <a:latin typeface="Segoe UI"/>
              </a:rPr>
              <a:t>Nothing to carry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24360" y="4809744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4A4265"/>
                </a:solidFill>
                <a:latin typeface="Segoe UI"/>
              </a:rPr>
              <a:t>Nothing to lose or lend.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024360" y="5340096"/>
            <a:ext cx="5212080" cy="0"/>
          </a:xfrm>
          <a:prstGeom prst="line">
            <a:avLst/>
          </a:prstGeom>
          <a:ln w="12700">
            <a:solidFill>
              <a:srgbClr val="D8C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024360" y="5522976"/>
            <a:ext cx="5212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50" b="1" i="0">
                <a:solidFill>
                  <a:srgbClr val="4C1D95"/>
                </a:solidFill>
                <a:latin typeface="Segoe UI"/>
              </a:rPr>
              <a:t>Nothing to touch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24360" y="592531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4A4265"/>
                </a:solidFill>
                <a:latin typeface="Segoe UI"/>
              </a:rPr>
              <a:t>A camera, at a distance.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024360" y="6455664"/>
            <a:ext cx="5212080" cy="0"/>
          </a:xfrm>
          <a:prstGeom prst="line">
            <a:avLst/>
          </a:prstGeom>
          <a:ln w="12700">
            <a:solidFill>
              <a:srgbClr val="D8C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024360" y="6638544"/>
            <a:ext cx="5212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50" b="1" i="0">
                <a:solidFill>
                  <a:srgbClr val="4C1D95"/>
                </a:solidFill>
                <a:latin typeface="Segoe UI"/>
              </a:rPr>
              <a:t>One tap to join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24360" y="70408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4A4265"/>
                </a:solidFill>
                <a:latin typeface="Segoe UI"/>
              </a:rPr>
              <a:t>Your next place needs no new scan.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024360" y="7571231"/>
            <a:ext cx="5212080" cy="0"/>
          </a:xfrm>
          <a:prstGeom prst="line">
            <a:avLst/>
          </a:prstGeom>
          <a:ln w="12700">
            <a:solidFill>
              <a:srgbClr val="D8C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024360" y="7754112"/>
            <a:ext cx="5212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50" b="1" i="0">
                <a:solidFill>
                  <a:srgbClr val="4C1D95"/>
                </a:solidFill>
                <a:latin typeface="Segoe UI"/>
              </a:rPr>
              <a:t>No photo stored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24360" y="815644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4A4265"/>
                </a:solidFill>
                <a:latin typeface="Segoe UI"/>
              </a:rPr>
              <a:t>Only an encrypted Biometric Key.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3716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Four steps — and the first one</a:t>
            </a:r>
          </a:p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happens only once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371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Steps 3 and 4 are the everyday ones. Together they take about two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40233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14476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6286500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691286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Agree, then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34656"/>
            <a:ext cx="32552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You tick four plain-language boxes: what it is for, that it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is sensitive, what your rights are, and that nobody forced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you. Then the camera captures your face —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5760720"/>
            <a:ext cx="40233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276088" y="614476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76088" y="6286500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691286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Join a 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7534656"/>
            <a:ext cx="32552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Your office invites you. You tap allow. No second scan —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the identity you already have is reused for that one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place, with your permission.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5760720"/>
            <a:ext cx="40233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619488" y="614476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19488" y="6286500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691286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Walk up and look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7534656"/>
            <a:ext cx="32552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At the gate the camera sees you and matches you.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The screen says Welcome — or explains, in words,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exactly why not.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578840" y="5760720"/>
            <a:ext cx="40233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3962888" y="614476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3962888" y="6286500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62888" y="691286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organisation sees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62888" y="7534656"/>
            <a:ext cx="32552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Who is inside right now, who arrived late, who was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refused and for what reason — updating live, with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nothing typed in by hand.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7086600"/>
            <a:ext cx="329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0" i="0">
                <a:solidFill>
                  <a:srgbClr val="C4BCDD"/>
                </a:solidFill>
                <a:latin typeface="Segoe U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33688" y="7086600"/>
            <a:ext cx="329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0" i="0">
                <a:solidFill>
                  <a:srgbClr val="C4BCDD"/>
                </a:solidFill>
                <a:latin typeface="Segoe U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77088" y="7086600"/>
            <a:ext cx="329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0" i="0">
                <a:solidFill>
                  <a:srgbClr val="C4BCDD"/>
                </a:solidFill>
                <a:latin typeface="Segoe UI"/>
              </a:rPr>
              <a:t>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7190720" cy="4709160"/>
          </a:xfrm>
          <a:prstGeom prst="roundRect">
            <a:avLst>
              <a:gd name="adj" fmla="val 35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1554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 spc="200">
                <a:solidFill>
                  <a:srgbClr val="9C93BA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71800"/>
            <a:ext cx="1554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5800" b="0" i="0">
                <a:solidFill>
                  <a:srgbClr val="FFFFFF"/>
                </a:solidFill>
                <a:latin typeface="Segoe UI Light"/>
              </a:rPr>
              <a:t>We never keep your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074920"/>
            <a:ext cx="1280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C6BEE2"/>
                </a:solidFill>
                <a:latin typeface="Segoe UI"/>
              </a:rPr>
              <a:t>The camera measures your face, turns those measurements into an encrypted Biometric Key,</a:t>
            </a:r>
          </a:p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C6BEE2"/>
                </a:solidFill>
                <a:latin typeface="Segoe UI"/>
              </a:rPr>
              <a:t>and destroys the picture. Only that Key is kept.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7086600"/>
            <a:ext cx="30175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41247" y="74066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87551" y="7552944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B6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106423" y="768096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252728" y="768096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1115567" y="7863840"/>
            <a:ext cx="182880" cy="0"/>
          </a:xfrm>
          <a:prstGeom prst="line">
            <a:avLst/>
          </a:prstGeom>
          <a:ln w="19050">
            <a:solidFill>
              <a:srgbClr val="6B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19072" y="7525512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 i="0">
                <a:solidFill>
                  <a:srgbClr val="221C36"/>
                </a:solidFill>
                <a:latin typeface="Segoe UI"/>
              </a:rPr>
              <a:t>Your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792784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6B6480"/>
                </a:solidFill>
                <a:latin typeface="Segoe UI"/>
              </a:rPr>
              <a:t>at the camera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7927848"/>
            <a:ext cx="868680" cy="0"/>
          </a:xfrm>
          <a:prstGeom prst="line">
            <a:avLst/>
          </a:prstGeom>
          <a:ln w="22860">
            <a:solidFill>
              <a:srgbClr val="6B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29000" y="747064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6B6480"/>
                </a:solidFill>
                <a:latin typeface="Consolas"/>
              </a:rPr>
              <a:t>measures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7086600"/>
            <a:ext cx="4023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92040" y="74523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a7f3  c19e  44b2  8d05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776325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e6b1  902c  7fd4 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8165592"/>
            <a:ext cx="3383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Biometric Key Signature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84582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6B6480"/>
                </a:solidFill>
                <a:latin typeface="Segoe UI"/>
              </a:rPr>
              <a:t>encrypted — and never a picture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80" y="7927848"/>
            <a:ext cx="868680" cy="0"/>
          </a:xfrm>
          <a:prstGeom prst="line">
            <a:avLst/>
          </a:prstGeom>
          <a:ln w="2794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200" y="747064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 i="0">
                <a:solidFill>
                  <a:srgbClr val="6D28D9"/>
                </a:solidFill>
                <a:latin typeface="Consolas"/>
              </a:rPr>
              <a:t>locked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7086600"/>
            <a:ext cx="3108960" cy="169164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893808" y="74066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0076688" y="7735824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0149840" y="7571231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771632" y="748893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 i="0">
                <a:solidFill>
                  <a:srgbClr val="4C1D95"/>
                </a:solidFill>
                <a:latin typeface="Segoe UI"/>
              </a:rPr>
              <a:t>Vaulted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7872983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encrypted,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per place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304520" y="6995160"/>
            <a:ext cx="0" cy="1874520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944600" y="670255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80">
                <a:solidFill>
                  <a:srgbClr val="C8011A"/>
                </a:solidFill>
                <a:latin typeface="Consolas"/>
              </a:rPr>
              <a:t>MEANWHILE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708660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 w="1778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4264640" y="74706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 i="0">
                <a:solidFill>
                  <a:srgbClr val="C8011A"/>
                </a:solidFill>
                <a:latin typeface="Segoe UI"/>
              </a:rPr>
              <a:t>The photograph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0" y="7872983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is deleted at that same moment —</a:t>
            </a:r>
          </a:p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never saved, never sent.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QUESTION EVERYONE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“Can anyone rebuild my face</a:t>
            </a:r>
          </a:p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from the Biometric Key?”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No. A Biometric Key only travels one way.</a:t>
            </a:r>
          </a:p>
          <a:p>
            <a:pPr algn="l">
              <a:lnSpc>
                <a:spcPct val="134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/>
            </a:r>
          </a:p>
          <a:p>
            <a:pPr algn="l">
              <a:lnSpc>
                <a:spcPct val="134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Think of grinding wheat into flour. You can tell one flour from another, but you</a:t>
            </a:r>
          </a:p>
          <a:p>
            <a:pPr algn="l">
              <a:lnSpc>
                <a:spcPct val="134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cannot put the grain back together again. A Biometric Key is the same — it is</a:t>
            </a:r>
          </a:p>
          <a:p>
            <a:pPr algn="l">
              <a:lnSpc>
                <a:spcPct val="134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enough to say “this is the same person”, and nowhere near enough to draw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2148840"/>
            <a:ext cx="6217920" cy="685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024360" y="2651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 spc="180">
                <a:solidFill>
                  <a:srgbClr val="6B6480"/>
                </a:solidFill>
                <a:latin typeface="Consolas"/>
              </a:rPr>
              <a:t>WHY THIS MATTERS TO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24360" y="33832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50" b="1" i="0">
                <a:solidFill>
                  <a:srgbClr val="221C36"/>
                </a:solidFill>
                <a:latin typeface="Segoe UI"/>
              </a:rPr>
              <a:t>If the vault is ever stolen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24360" y="3858768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thief gets Biometric Keys —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 a folder of photographs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of your staff and students.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024360" y="4956048"/>
            <a:ext cx="521208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024360" y="52578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50" b="1" i="0">
                <a:solidFill>
                  <a:srgbClr val="221C36"/>
                </a:solidFill>
                <a:latin typeface="Segoe UI"/>
              </a:rPr>
              <a:t>Nobody can browse 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24360" y="5733288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There is no album for an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administrator to scroll through.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024360" y="6830568"/>
            <a:ext cx="521208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024360" y="71323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50" b="1" i="0">
                <a:solidFill>
                  <a:srgbClr val="221C36"/>
                </a:solidFill>
                <a:latin typeface="Segoe UI"/>
              </a:rPr>
              <a:t>It cannot be reused elsewhere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24360" y="7607808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Key issued here means nothing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any other company's 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SCAN ONCE, THEN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Each place holds a permission —</a:t>
            </a:r>
          </a:p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not a copy of your 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417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That is why the third one can be switched off without touching the first two, and why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joining a new place never needs a second scan.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03504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783080" y="63550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975104" y="6547104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093976" y="66751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240280" y="66751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2103120" y="6858000"/>
            <a:ext cx="182880" cy="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7360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One 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777240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scanned a single time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977639" y="6492240"/>
            <a:ext cx="1051561" cy="1051560"/>
          </a:xfrm>
          <a:prstGeom prst="line">
            <a:avLst/>
          </a:prstGeom>
          <a:ln w="2032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20640" y="6035040"/>
            <a:ext cx="58521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0" y="62910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Your office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6272783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0213848" y="63276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201400" y="630935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on — your face opens this door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77639" y="7543800"/>
            <a:ext cx="1051561" cy="0"/>
          </a:xfrm>
          <a:prstGeom prst="line">
            <a:avLst/>
          </a:prstGeom>
          <a:ln w="2032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20640" y="7086600"/>
            <a:ext cx="58521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86400" y="7342631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Your child's school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732434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0213848" y="73792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201400" y="73609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on — your face opens this door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77639" y="7543800"/>
            <a:ext cx="1051561" cy="1051559"/>
          </a:xfrm>
          <a:prstGeom prst="line">
            <a:avLst/>
          </a:prstGeom>
          <a:ln w="20320">
            <a:prstDash val="dash"/>
            <a:solidFill>
              <a:srgbClr val="C4BC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20640" y="8138159"/>
            <a:ext cx="58521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0" y="8394191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Your old gym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8375903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9701784" y="843076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201400" y="8412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1" i="0">
                <a:solidFill>
                  <a:srgbClr val="C8011A"/>
                </a:solidFill>
                <a:latin typeface="Segoe UI"/>
              </a:rPr>
              <a:t>off — you withdrew it; the others are unaffected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WHERE CAN WE USE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Anywhere a door, a register or a</a:t>
            </a:r>
          </a:p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headcount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371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 same system underneath. Only the rules on top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59536" y="598017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34440" y="59161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Offices &amp; floors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566928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202936" y="598017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577840" y="59161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Schools &amp; colleges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566928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546336" y="598017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21240" y="59161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Exam halls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578840" y="566928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3889736" y="598017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4264640" y="59161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Hostels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62940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59536" y="69402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34440" y="687628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School bus boarding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2040" y="662940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5202936" y="69402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577840" y="687628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Factories &amp; warehouses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662940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546336" y="69402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921240" y="687628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Hazardous zones (PPE)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578840" y="662940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13889736" y="69402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4264640" y="687628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Hospitals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758952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59536" y="790041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234440" y="78364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Banks &amp; vaults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2040" y="758952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202936" y="790041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577840" y="78364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Gated societies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758952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9546336" y="790041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921240" y="78364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Gyms &amp; clubs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578840" y="758952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13889736" y="790041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4264640" y="78364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Events &amp; VIP zones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854964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859536" y="886053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234440" y="87965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Hotels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92040" y="854964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5202936" y="886053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577840" y="87965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Government offices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35440" y="854964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9546336" y="886053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921240" y="87965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Construction sites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578840" y="8549640"/>
            <a:ext cx="40233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13889736" y="886053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4264640" y="87965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Temples &amp; trusts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YOU CHOOSE HOW STRICT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It does not have to stop anybody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463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Most people assume a face system exists to refuse people. It does not have to. The same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cameras run in either mode — and you can run one gate open and another controlled.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 spc="160">
                <a:solidFill>
                  <a:srgbClr val="4C1D95"/>
                </a:solidFill>
                <a:latin typeface="Consolas"/>
              </a:rPr>
              <a:t>OPEN MODE  —  NOBODY IS STOPPED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1" i="0">
                <a:solidFill>
                  <a:srgbClr val="4C1D95"/>
                </a:solidFill>
                <a:latin typeface="Segoe UI"/>
              </a:rPr>
              <a:t>The door never says 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7086600"/>
            <a:ext cx="7498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4C1D95"/>
                </a:solidFill>
                <a:latin typeface="Segoe UI"/>
              </a:rPr>
              <a:t>People walk in freely. The camera simply records who arrived, so you have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4C1D95"/>
                </a:solidFill>
                <a:latin typeface="Segoe UI"/>
              </a:rPr>
              <a:t>attendance and a live headcount — without gating anyone.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80650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25880" y="8001000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Everyone walks through, always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84033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25880" y="8339327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You still get attendance and a headcount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87416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25880" y="8677656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Alerts only for a named watchlist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8408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 spc="160">
                <a:solidFill>
                  <a:srgbClr val="6B6480"/>
                </a:solidFill>
                <a:latin typeface="Consolas"/>
              </a:rPr>
              <a:t>CONTROLLED MODE  —  THE DOOR DECIDES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1" i="0">
                <a:solidFill>
                  <a:srgbClr val="221C36"/>
                </a:solidFill>
                <a:latin typeface="Segoe UI"/>
              </a:rPr>
              <a:t>Only the right people pass.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7086600"/>
            <a:ext cx="7498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For the places that genuinely need a gate — a lab, a vault, a hostel at night,</a:t>
            </a:r>
          </a:p>
          <a:p>
            <a:pPr algn="l">
              <a:lnSpc>
                <a:spcPct val="136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hazardous zone. A refusal always comes with a written reason.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80650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104120" y="8001000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Entry is allowed or refused, with a reason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84033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04120" y="8339327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Rules by zone, by role and by time of day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87416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04120" y="8677656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guard can always override by hand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WHERE IT FITS  —  SCHOOLS &amp; COLLEGES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school morning, without the 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Arrival is the hardest moment in a school: eight hundred children in fifteen minutes. Run the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gate open — nobody is stopped, everyone is simply marked present as they walk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07:40  —  THE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Children walk straight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 queue, no cards, no teacher with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register. Attendance is taken as they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08:30  —  THE 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Parents hear who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child marked absent triggers a message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home before the first lesson starts.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15:20  —  PICKUP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right adult collects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screen shows the guard who is authorised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to collect that child — the real safety win.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ANY TIME  —  A DRILL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live headcount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 an evacuation, who is still inside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building — as a list, not a guess.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942832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For a school this is attendance and safeguarding, not security — the gate itself stays open.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WHERE IT FITS  —  OFFICES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One camera replaces the card, the register and the timesheet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Staff at the main gate, contractors on the floors, visitors at reception — different rules for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each, all running on the same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THE MAIN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Staff walk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Check-in and check-out recorded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automatically. No buddy-punching, because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there is no card to hand 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THE LIFT LOBBY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Floors by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Finance on the 4th, engineering on the 7th.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same face, different answers at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different doors.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RECEPTION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Visitors in seconds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visitor is enrolled on the spot, given access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for today only, and it expires by itself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this evening.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PAYROLL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Hours nobody typed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Actual time on site, exported — instead of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spreadsheet everybody argues about.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WHERE IT FITS  —  EVENTS &amp; VENUES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Thousands of people, one entrance, no printed passes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Registration already collected a photo. Attendees walk in on their face — no lanyard to lose,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no queue at a scanning desk, no badge to hand to a friend.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 badge, no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Registered attendees walk straight through.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Nothing to print, nothing to leave behind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at the hotel.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THE VIP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Only the right guests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Speakers and sponsors get one zone, general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attendance another — same face, different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permission.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RE-ENTRY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Step out and 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Leaving for lunch and returning is instant,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which is exactly where paper passes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fall apart.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AFTER THE 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Everything expires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Event access can be set to end by itself, and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attendee can withdraw it too.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WHERE IT FITS  —  OPEN BUILDINGS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Where you must not turn anybody away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A hospital, a temple, a government office, a mall, a public library. People have every right to</a:t>
            </a:r>
          </a:p>
          <a:p>
            <a:pPr algn="l">
              <a:lnSpc>
                <a:spcPct val="134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walk in. You still want to know how many are inside, and to be warned about the few who matter.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ANYONE AT THE DOOR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Nobody is refused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Entry is never blocked. The system observes;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does not gate. This is open mode.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BEHIND THE COUNTER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Staff areas stay controlled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Wards, strongrooms, back offices and record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rooms can be gated even while the front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door stays open.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A NAMED WATCHLIST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only alert that fires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barred individual, a court order, someone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previously removed — a short, specific list,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not everyone unknown.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AN EMERGENCY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Count the building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Fire, earthquake, evacuation — a live number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and a live list, in seconds.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942832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Alerting on every unknown face in a public building creates hundreds of useless alarms a day. Alert on a named list instead.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EACH SIDE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719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camera, three different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PERSON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1" i="0">
                <a:solidFill>
                  <a:srgbClr val="221C36"/>
                </a:solidFill>
                <a:latin typeface="Segoe UI"/>
              </a:rPr>
              <a:t>Priya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5806440"/>
            <a:ext cx="4663439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Walks in without hunting for a 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Joins her next place in one tap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Can see exactly what is held about 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25880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Can delete it — one place, or all of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6655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1" i="0">
                <a:solidFill>
                  <a:srgbClr val="221C36"/>
                </a:solidFill>
                <a:latin typeface="Segoe UI"/>
              </a:rPr>
              <a:t>Ramesh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66559" y="5806440"/>
            <a:ext cx="4663441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6655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1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clear yes or no in about a second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5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1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written reason when it is 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5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1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Can enrol a walk-in visitor on the spot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5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3231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live list of who is inside the building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6151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57299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ORGANISATION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299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1" i="0">
                <a:solidFill>
                  <a:srgbClr val="221C36"/>
                </a:solidFill>
                <a:latin typeface="Segoe UI"/>
              </a:rPr>
              <a:t>Anita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572999" y="5806440"/>
            <a:ext cx="46634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257299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93875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Attendance nobody has to type 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7299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93875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real headcount during an evacuation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7299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93875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An alert when something is actually wrong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57299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93875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Records an auditor will accept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88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9" y="9546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One face. Every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7190720" cy="4114800"/>
          </a:xfrm>
          <a:prstGeom prst="roundRect">
            <a:avLst>
              <a:gd name="adj" fmla="val 35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1554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000" b="0" i="0">
                <a:solidFill>
                  <a:srgbClr val="4C1D95"/>
                </a:solidFill>
                <a:latin typeface="Segoe UI Light"/>
              </a:rPr>
              <a:t>Prove who you are once.</a:t>
            </a:r>
          </a:p>
          <a:p>
            <a:pPr algn="ctr">
              <a:lnSpc>
                <a:spcPct val="110000"/>
              </a:lnSpc>
            </a:pPr>
            <a:r>
              <a:rPr sz="5000" b="0" i="0">
                <a:solidFill>
                  <a:srgbClr val="4C1D95"/>
                </a:solidFill>
                <a:latin typeface="Segoe UI Light"/>
              </a:rPr>
              <a:t>Use it everywhere you are allowed.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12064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4C1D95"/>
                </a:solidFill>
                <a:latin typeface="Segoe UI"/>
              </a:rPr>
              <a:t>Faster than a card. Cleaner than a fingerprint. And the only one of the three</a:t>
            </a:r>
          </a:p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4C1D95"/>
                </a:solidFill>
                <a:latin typeface="Segoe UI"/>
              </a:rPr>
              <a:t>that can survive a privacy audit.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9220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69848" y="7141464"/>
            <a:ext cx="475488" cy="310896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069848" y="7260336"/>
            <a:ext cx="475488" cy="0"/>
          </a:xfrm>
          <a:prstGeom prst="line">
            <a:avLst/>
          </a:prstGeom>
          <a:ln w="2032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85469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8257031"/>
            <a:ext cx="471830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Cards get shared, fingerprints queue and fail, paper cannot do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headcount — and keeping photographs is now a legal liability.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39127" y="69220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894575" y="707745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13447" y="72054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159751" y="72054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7022592" y="7388352"/>
            <a:ext cx="182880" cy="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39127" y="785469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we 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7" y="8257031"/>
            <a:ext cx="471830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Face check-in in under two seconds, one identity reused only by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permission, and the photograph never stored at all.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6151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545567" y="69220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19303" y="7095744"/>
            <a:ext cx="402336" cy="402336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6B6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12810744" y="7223760"/>
            <a:ext cx="219456" cy="0"/>
          </a:xfrm>
          <a:prstGeom prst="line">
            <a:avLst/>
          </a:prstGeom>
          <a:ln w="16510">
            <a:solidFill>
              <a:srgbClr val="6B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810744" y="7315200"/>
            <a:ext cx="219456" cy="0"/>
          </a:xfrm>
          <a:prstGeom prst="line">
            <a:avLst/>
          </a:prstGeom>
          <a:ln w="16510">
            <a:solidFill>
              <a:srgbClr val="6B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545567" y="7854696"/>
            <a:ext cx="47183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Where it 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45567" y="8257031"/>
            <a:ext cx="471830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Offices, schools, factories, hospitals, events, societies — anywhere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door or a register matters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