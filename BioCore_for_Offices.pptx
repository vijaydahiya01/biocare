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PLAIN-ENGLISH GUIDE  |  FOR OFFICES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Offices &amp; workplaces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600" b="0" i="0">
                <a:solidFill>
                  <a:srgbClr val="221C36"/>
                </a:solidFill>
                <a:latin typeface="Segoe UI Light"/>
              </a:rPr>
              <a:t>One camera replaces</a:t>
            </a:r>
          </a:p>
          <a:p>
            <a:pPr algn="l">
              <a:lnSpc>
                <a:spcPct val="106000"/>
              </a:lnSpc>
            </a:pPr>
            <a:r>
              <a:rPr sz="4600" b="0" i="0">
                <a:solidFill>
                  <a:srgbClr val="221C36"/>
                </a:solidFill>
                <a:latin typeface="Segoe UI Light"/>
              </a:rPr>
              <a:t>the card, the register</a:t>
            </a:r>
          </a:p>
          <a:p>
            <a:pPr algn="l">
              <a:lnSpc>
                <a:spcPct val="106000"/>
              </a:lnSpc>
            </a:pPr>
            <a:r>
              <a:rPr sz="4600" b="0" i="0">
                <a:solidFill>
                  <a:srgbClr val="221C36"/>
                </a:solidFill>
                <a:latin typeface="Segoe UI Light"/>
              </a:rPr>
              <a:t>and the timesheet.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093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676656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Staff at the gate, contractors on the floors, visitors at reception — different rules for each, one system underneath.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0" y="2194560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2271248" y="25786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2426696" y="273405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632436" y="2807208"/>
            <a:ext cx="27432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2646152" y="2962656"/>
            <a:ext cx="128016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304520" y="2651760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Staff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04520" y="309067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In and out, recorded automatically.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0" y="4526279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2271248" y="4910327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12463272" y="5248655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12536424" y="508406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304520" y="4983479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Floors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04520" y="542239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Access by role, not by trust.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0" y="6858000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271248" y="72420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444984" y="74340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664440" y="74340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9" name="Connector 28"/>
          <p:cNvCxnSpPr/>
          <p:nvPr/>
        </p:nvCxnSpPr>
        <p:spPr>
          <a:xfrm>
            <a:off x="12426696" y="7744968"/>
            <a:ext cx="438912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304520" y="7315200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Visitors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04520" y="775411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Enrolled in seconds, expire tonight.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THE ACCESS CARD IS ACTUALLY COSTING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Offices &amp; workplaces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The card proves nothing about who is holding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Every office has the same three leaks, and everyone in the building already knows about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69848" y="6592824"/>
            <a:ext cx="475488" cy="310896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069848" y="6711696"/>
            <a:ext cx="475488" cy="0"/>
          </a:xfrm>
          <a:prstGeom prst="line">
            <a:avLst/>
          </a:prstGeom>
          <a:ln w="2032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Buddy-punching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One person carries three cards and swipes in three colleagues who are still at home. Payroll pays for hours nobody worked.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43344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162800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6925056" y="6876288"/>
            <a:ext cx="438911" cy="0"/>
          </a:xfrm>
          <a:prstGeom prst="line">
            <a:avLst/>
          </a:prstGeom>
          <a:ln w="2286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Tailgating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One badge opens the door and four people walk through it. Your access control log shows one entry.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798552" y="6528816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871704" y="6675120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871704" y="6766559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visitor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name scrawled at reception, a paper badge, and no idea who is still in the building when the alarm goes.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Offices &amp; workplaces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The credential becomes the person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Nothing to issue, nothing to deactivate when someone leaves, and nothing that can be handed to a colleague in the car park.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88136" y="652881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93876" y="6601968"/>
            <a:ext cx="27432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307592" y="6757416"/>
            <a:ext cx="128015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Attendance is a by-product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Actual time on site, recorded at the door, exported to payroll. Nobody types a timesheet.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961632" y="671169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034784" y="654710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Access follows the 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Finance on the 4th, engineering on the 7th, the server room for four people. Changed centrally in seconds.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780264" y="654710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889992" y="6766559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Leavers close instantly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 forgotten card in a drawer that still opens the side door six months after someone resigned.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YOU INSTALL AT THE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Offices &amp; workplaces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A tablet, your existing gate, or a turnstile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Offices are the one case where a turnstile usually earns its cost — it is the only thing that physically stops tailgating. Start with a tablet at reception and add the barrier later.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61288" y="6528816"/>
            <a:ext cx="292608" cy="43891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52728" y="6885432"/>
            <a:ext cx="109727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tablet on a 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36408"/>
            <a:ext cx="4748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cheapest way to start. An ordinary tablet on a floor stand or wall mount, facing the door. No civil work, no wiring, nothing drilled. Move it whenever you like.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/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Best for: reception, a side door, a small gate.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989320"/>
            <a:ext cx="55168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25056" y="6620256"/>
            <a:ext cx="365760" cy="274320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089648" y="67025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camera at the gate you have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9608" y="7836408"/>
            <a:ext cx="4748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Keep the boom barrier, sliding gate or door you already own. Add a camera and a small screen; the software opens what is already there.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/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Best for: a gate that already works, and you only want it to become smarter.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22480" y="5989320"/>
            <a:ext cx="55168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780264" y="6547104"/>
            <a:ext cx="73152" cy="402336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3109448" y="6547104"/>
            <a:ext cx="73152" cy="402336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889992" y="6748272"/>
            <a:ext cx="182880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turnstile or flap barrier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836408"/>
            <a:ext cx="4748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One person per pass, physically. This is the only option that actually stops two people walking through on one face.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/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Best for: offices, factories, anywhere tailgating genuinely matters.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91440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Existing CCTV cameras can often be reused. Start with a tablet, prove it on one door, then decide.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REAL WORKING DAY  —  YOUR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Offices &amp; workplaces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09:00 rush, and everything after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A 300-person office over three floors, one main entrance and a service lift.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09:02  —  MAIN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Staff walk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Check-in recorded without anyone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touching anything. No card left at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home, no temporary pass issued.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09:20  —  LIFT LOBBY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Floors by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same face opens the 4th floor for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finance and does not open it for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everyone else.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14:00  —  SERVER ROOM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Four people, not four hundred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rooms that matter get a real gate,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while the office floor stays open.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19:40  —  LAST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Who is still 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live list for the security supervisor,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and a clean record of actual hours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for payroll.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REAL WORKING DAY  —  EVERYONE 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Offices &amp; workplaces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Visitors, contractors and the fire drill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The people who are not on your payroll are the ones your current system handles worst.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BEFORE ARRIVAL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visitor pre-registers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link in the meeting invite. They enrol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from their phone, so reception is not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bottleneck at 10:55.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ON ARRIVAL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Straight through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Access for today only, for the meeting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room floor only — and it expires this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evening on its own.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CONTRACTORS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Time-boxed by default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An AMC engineer gets the plant room for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week, not the building forever.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THE FIRE DRILL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real muster 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Staff, visitors and contractors in one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live count at the assembly point —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including the people you forget.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YOU CHOOSE HOW STRICT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Offices &amp; workplaces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It does not have to stop anybody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463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Most people assume a face system exists to refuse people. It does not have to.</a:t>
            </a:r>
          </a:p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The same cameras run either way — and one door can be open while another is controlled.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23560"/>
            <a:ext cx="8412480" cy="342900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603504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spc="160">
                <a:solidFill>
                  <a:srgbClr val="4C1D95"/>
                </a:solidFill>
                <a:latin typeface="Consolas"/>
              </a:rPr>
              <a:t>OPEN MODE  —  NOBODY IS STOPPED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49224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4C1D95"/>
                </a:solidFill>
                <a:latin typeface="Segoe UI"/>
              </a:rPr>
              <a:t>The office floor stays open.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734263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25880" y="7269480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Open-plan floors, canteen, reception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7726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7653528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Attendance without a barrier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81107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25880" y="8037576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Alerts only for a named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5623560"/>
            <a:ext cx="841248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784080" y="603504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spc="160">
                <a:solidFill>
                  <a:srgbClr val="6B6480"/>
                </a:solidFill>
                <a:latin typeface="Consolas"/>
              </a:rPr>
              <a:t>CONTROLLED MODE  —  THE DOOR DECIDES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649224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221C36"/>
                </a:solidFill>
                <a:latin typeface="Segoe UI"/>
              </a:rPr>
              <a:t>The rooms that matter do not.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734263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04120" y="7269480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Server rooms, finance, labs, stores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7726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104120" y="7653528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Access by role, floor and 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81107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104120" y="8037576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Security can always override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ONE RULE THAT GOVERNS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Offices &amp; workplaces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7190720" cy="4206240"/>
          </a:xfrm>
          <a:prstGeom prst="roundRect">
            <a:avLst>
              <a:gd name="adj" fmla="val 3500"/>
            </a:avLst>
          </a:prstGeom>
          <a:solidFill>
            <a:srgbClr val="22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1554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 spc="200">
                <a:solidFill>
                  <a:srgbClr val="9C93BA"/>
                </a:solidFill>
                <a:latin typeface="Consolas"/>
              </a:rPr>
              <a:t>THE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1554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5400" b="0" i="0">
                <a:solidFill>
                  <a:srgbClr val="FFFFFF"/>
                </a:solidFill>
                <a:latin typeface="Segoe UI Light"/>
              </a:rPr>
              <a:t>We never keep the photograph.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800600"/>
            <a:ext cx="12801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650" b="0" i="0">
                <a:solidFill>
                  <a:srgbClr val="C6BEE2"/>
                </a:solidFill>
                <a:latin typeface="Segoe UI"/>
              </a:rPr>
              <a:t>The camera measures the face, turns those measurements into an encrypted</a:t>
            </a:r>
          </a:p>
          <a:p>
            <a:pPr algn="ctr">
              <a:lnSpc>
                <a:spcPct val="140000"/>
              </a:lnSpc>
            </a:pPr>
            <a:r>
              <a:rPr sz="1650" b="0" i="0">
                <a:solidFill>
                  <a:srgbClr val="C6BEE2"/>
                </a:solidFill>
                <a:latin typeface="Segoe UI"/>
              </a:rPr>
              <a:t>Biometric Key Signature, and destroys the picture. Only that Key is kept.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492240"/>
            <a:ext cx="30175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41247" y="6812279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F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87551" y="6958583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B6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106423" y="70866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252728" y="70866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1115567" y="7269479"/>
            <a:ext cx="182880" cy="0"/>
          </a:xfrm>
          <a:prstGeom prst="line">
            <a:avLst/>
          </a:prstGeom>
          <a:ln w="19050">
            <a:solidFill>
              <a:srgbClr val="6B6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19072" y="6931152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21C36"/>
                </a:solidFill>
                <a:latin typeface="Segoe UI"/>
              </a:rPr>
              <a:t>The 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733348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6480"/>
                </a:solidFill>
                <a:latin typeface="Segoe UI"/>
              </a:rPr>
              <a:t>at the camera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11880" y="7333488"/>
            <a:ext cx="868680" cy="0"/>
          </a:xfrm>
          <a:prstGeom prst="line">
            <a:avLst/>
          </a:prstGeom>
          <a:ln w="22860">
            <a:solidFill>
              <a:srgbClr val="6B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29000" y="68762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B6480"/>
                </a:solidFill>
                <a:latin typeface="Consolas"/>
              </a:rPr>
              <a:t>measures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6492240"/>
            <a:ext cx="40233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92040" y="68580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Consolas"/>
              </a:rPr>
              <a:t>a7f3  c19e  44b2  8d05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71688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Consolas"/>
              </a:rPr>
              <a:t>e6b1  902c  7fd4 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7571231"/>
            <a:ext cx="3383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Biometric Key Signature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78638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480"/>
                </a:solidFill>
                <a:latin typeface="Segoe UI"/>
              </a:rPr>
              <a:t>encrypted — and never a picture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41080" y="7333488"/>
            <a:ext cx="868680" cy="0"/>
          </a:xfrm>
          <a:prstGeom prst="line">
            <a:avLst/>
          </a:prstGeom>
          <a:ln w="2794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58200" y="68762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D28D9"/>
                </a:solidFill>
                <a:latin typeface="Consolas"/>
              </a:rPr>
              <a:t>locked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6492240"/>
            <a:ext cx="3108960" cy="1691640"/>
          </a:xfrm>
          <a:prstGeom prst="roundRect">
            <a:avLst>
              <a:gd name="adj" fmla="val 6000"/>
            </a:avLst>
          </a:prstGeom>
          <a:solidFill>
            <a:srgbClr val="EDE7FB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9893808" y="6812279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0076688" y="7141464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0149840" y="6976872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771632" y="689457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4C1D95"/>
                </a:solidFill>
                <a:latin typeface="Segoe UI"/>
              </a:rPr>
              <a:t>Vaulted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71632" y="7278624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1D95"/>
                </a:solidFill>
                <a:latin typeface="Segoe UI"/>
              </a:rPr>
              <a:t>encrypted,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1D95"/>
                </a:solidFill>
                <a:latin typeface="Segoe UI"/>
              </a:rPr>
              <a:t>per place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304520" y="6400800"/>
            <a:ext cx="0" cy="1874519"/>
          </a:xfrm>
          <a:prstGeom prst="line">
            <a:avLst/>
          </a:prstGeom>
          <a:ln w="12700">
            <a:solidFill>
              <a:srgbClr val="C4BC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944600" y="610819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80">
                <a:solidFill>
                  <a:srgbClr val="C8011A"/>
                </a:solidFill>
                <a:latin typeface="Consolas"/>
              </a:rPr>
              <a:t>MEANWHILE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44600" y="6492240"/>
            <a:ext cx="3794760" cy="1691640"/>
          </a:xfrm>
          <a:prstGeom prst="roundRect">
            <a:avLst>
              <a:gd name="adj" fmla="val 6000"/>
            </a:avLst>
          </a:prstGeom>
          <a:solidFill>
            <a:srgbClr val="FBE7E9"/>
          </a:solidFill>
          <a:ln w="1778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4264640" y="687628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8011A"/>
                </a:solidFill>
                <a:latin typeface="Segoe UI"/>
              </a:rPr>
              <a:t>The photograph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64640" y="7278624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C8011A"/>
                </a:solidFill>
                <a:latin typeface="Segoe UI"/>
              </a:rPr>
              <a:t>is deleted at that same moment —</a:t>
            </a:r>
          </a:p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C8011A"/>
                </a:solidFill>
                <a:latin typeface="Segoe UI"/>
              </a:rPr>
              <a:t>never saved, never sent.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YOUR STAFF WILL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Offices &amp; workplaces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“Is my employer now tracking my face?”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This question decides whether the rollout succeeds. Answer it before somebody asks it in a group chat.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24712" y="671169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197864" y="654710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 photograph is stored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picture is destroyed at capture. What remains is an encrypted Biometric Key Signature that cannot be turned back into a face.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43344" y="654710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7053072" y="6766559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Doors, not desks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It records entries and exits at doors — the same events the access card already recorded. No movement tracking, no stored video.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780264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999720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761976" y="6876288"/>
            <a:ext cx="438912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They can withdraw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An employee can withdraw their face and use a card instead. If that option does not exist, consent is not real consent.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EACH SIDE 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Offices &amp; workplaces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One camera, three different wins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EMPLOYEE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Rahul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5806440"/>
            <a:ext cx="4663439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25880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 card to carry or lose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 queue behind a fingerprint pad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25880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Hours recorded accurately, not guessed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25880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Can withdraw and use a card instead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766559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FACILITIES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The supervisor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66559" y="5806440"/>
            <a:ext cx="4663441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66559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19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Nothing to issue, print or deactivate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59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32319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Access changed centrally in seconds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59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19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real muster list during a drill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59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32319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Tailgating finally visible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16151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572999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HR &amp; FINANCE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7299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The manager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572999" y="5806440"/>
            <a:ext cx="466344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2572999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938759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Timesheets nobody has to chase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572999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2938759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Buddy-punching structurally impossible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572999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938759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Contractor hours actually verified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572999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2938759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Records an auditor will accept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Offices &amp; workplaces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One door, two weeks, then decide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Nobody should buy this for a whole campus on day one. Prove it on a single entrance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Reception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One tablet at the visitor desk. It touches nobody's payroll and proves the technology.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632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31037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1037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037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Then one floor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037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Add a single controlled floor. Staff keep their cards throughout.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0401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68806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8806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Run both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806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Cards and faces work in parallel for a month. Compare the logs.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8170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406575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406575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6575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Then decide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6575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Extend, or stop. You have spent one tablet and a month.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89154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Never remove the cards on day one. Run both until the face logs and the card logs agree.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IN ONE BREATH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Offices &amp; workplaces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7190720" cy="4114800"/>
          </a:xfrm>
          <a:prstGeom prst="roundRect">
            <a:avLst>
              <a:gd name="adj" fmla="val 35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1554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 i="0">
                <a:solidFill>
                  <a:srgbClr val="4C1D95"/>
                </a:solidFill>
                <a:latin typeface="Segoe UI Light"/>
              </a:rPr>
              <a:t>Nothing to issue.</a:t>
            </a:r>
          </a:p>
          <a:p>
            <a:pPr algn="ctr">
              <a:lnSpc>
                <a:spcPct val="110000"/>
              </a:lnSpc>
            </a:pPr>
            <a:r>
              <a:rPr sz="4800" b="0" i="0">
                <a:solidFill>
                  <a:srgbClr val="4C1D95"/>
                </a:solidFill>
                <a:latin typeface="Segoe UI Light"/>
              </a:rPr>
              <a:t>Nothing to lend.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120640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 i="0">
                <a:solidFill>
                  <a:srgbClr val="4C1D95"/>
                </a:solidFill>
                <a:latin typeface="Segoe UI"/>
              </a:rPr>
              <a:t>Attendance as a by-product, access that follows the role, and a muster list that includes visitors.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What it fixes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Buddy-punching, tailgating, forgotten cards that still open doors, and a visitor book that fails in an evacuation.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66559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What it does not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It does not track people at their desks, and it stores no photograph of any employee.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61519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572999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How to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2999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One tablet at reception, cards still running, for one month.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