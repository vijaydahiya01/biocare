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" y="64008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C801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713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F5F2FB"/>
                </a:solidFill>
                <a:latin typeface="Segoe UI"/>
              </a:rPr>
              <a:t>Bio</a:t>
            </a:r>
            <a:r>
              <a:rPr sz="2000" b="1">
                <a:solidFill>
                  <a:srgbClr val="FF6675"/>
                </a:solidFill>
                <a:latin typeface="Segoe UI"/>
              </a:rPr>
              <a:t>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60">
                <a:solidFill>
                  <a:srgbClr val="C4AEFF"/>
                </a:solidFill>
                <a:latin typeface="Consolas"/>
              </a:rPr>
              <a:t>VERIFIED IDENTITY  ·  PRIVACY-FIRST FACE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5F2FB"/>
                </a:solidFill>
                <a:latin typeface="Segoe UI"/>
              </a:rPr>
              <a:t>Enter with your face.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F5F2FB"/>
                </a:solidFill>
                <a:latin typeface="Segoe UI"/>
              </a:rPr>
              <a:t>Prove nothing you don't have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61772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79FBC"/>
                </a:solidFill>
                <a:latin typeface="Segoe UI"/>
              </a:rPr>
              <a:t>BioCore verifies who a person really is — once, against a government source — then lets them walk through any gate with just their face. Consent, encryption and erasure are built into the core, not bolted 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98932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40">
                <a:solidFill>
                  <a:srgbClr val="6F667F"/>
                </a:solidFill>
                <a:latin typeface="Consolas"/>
              </a:rPr>
              <a:t>Access control, re-architected for the privacy era      ·      DPDP-ready by design      ·      Multi-tenant · on-prem to SaaS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01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Access control is stuck between insecure and invasive.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9FBC"/>
                </a:solidFill>
                <a:latin typeface="Segoe UI"/>
              </a:rPr>
              <a:t>Every option forces a bad trade — convenience, security, or privacy. You rarely get two, never all three.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514600"/>
            <a:ext cx="3368954" cy="384048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514600"/>
            <a:ext cx="3368954" cy="38100"/>
          </a:xfrm>
          <a:prstGeom prst="rect">
            <a:avLst/>
          </a:prstGeom>
          <a:solidFill>
            <a:srgbClr val="FF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697480"/>
            <a:ext cx="296661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FF6675"/>
                </a:solidFill>
                <a:latin typeface="Consolas"/>
              </a:rPr>
              <a:t>CARDS · PINS · REGISTERS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Easily defeated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Badges get lost, shared and cloned. PINs get passed around. Paper registers are slow and faked. None prove who walked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2514600"/>
            <a:ext cx="3368954" cy="384048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1370" y="2514600"/>
            <a:ext cx="3368954" cy="38100"/>
          </a:xfrm>
          <a:prstGeom prst="rect">
            <a:avLst/>
          </a:prstGeom>
          <a:solidFill>
            <a:srgbClr val="FF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2697480"/>
            <a:ext cx="296661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FF6675"/>
                </a:solidFill>
                <a:latin typeface="Consolas"/>
              </a:rPr>
              <a:t>LEGACY FACE SYSTEMS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A privacy liability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They store raw biometrics, skip consent, can't erase, and mix every org's faces together. Under DPDP / GDPR, a lawsuit waiting.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1492" y="2514600"/>
            <a:ext cx="3368954" cy="384048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81492" y="2514600"/>
            <a:ext cx="3368954" cy="38100"/>
          </a:xfrm>
          <a:prstGeom prst="rect">
            <a:avLst/>
          </a:prstGeom>
          <a:solidFill>
            <a:srgbClr val="FF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2660" y="2697480"/>
            <a:ext cx="296661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FF6675"/>
                </a:solidFill>
                <a:latin typeface="Consolas"/>
              </a:rPr>
              <a:t>ALL OF THE ABOVE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No real identity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Recognising a familiar face isn't knowing WHO someone is. No government-grade proof sits behind the match.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02  / 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The rules just changed — and the tech is finally ready.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3368954" cy="42062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331720"/>
            <a:ext cx="29666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REGULATION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Privacy law has teeth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India's DPDP Act, GDPR and their cousins demand consent, minimisation and real erasure. Most biometric systems physically cannot comply.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1370" y="2148840"/>
            <a:ext cx="3368954" cy="42062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538" y="2331720"/>
            <a:ext cx="29666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DEMAND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Contactless is default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People expect to walk in — not tap, queue, or hand over a card. Events, campuses and workplaces want frictionless entry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2148840"/>
            <a:ext cx="3368954" cy="42062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2660" y="2331720"/>
            <a:ext cx="2966618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CAPABILITY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Recognition matured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Modern embeddings + liveness are accurate and cheap. The bottleneck is no longer the match — it's trust, consent and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03  /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Verify once. Enter anywhere. Stay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507171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Real identity, not just a face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Government-grade KYC proves who the person is before any credential is issued.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Privacy is the architecture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Consent before collection, purpose-bound data, strict retention, verifiable erasure — enforced in code.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A match never opens the gate alone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An authorization plane weighs liveness, consent, validity and policy before anyone is let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103120"/>
            <a:ext cx="5071719" cy="3931920"/>
          </a:xfrm>
          <a:prstGeom prst="roundRect">
            <a:avLst>
              <a:gd name="adj" fmla="val 55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8183" y="2304288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WHAT THE PERSON 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183" y="2761488"/>
            <a:ext cx="463280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One identity, every place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Reuse the same verified identity across workplaces, campuses and events — with per-place consent.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Self-service, on their phone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Consent -&gt; capture -&gt; done, in three taps. No queues, no operator.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Right to be forgotten — for real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One tap withdraws consent and erases the credential, returning a signed proof of deletion.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04  /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From invite to gate — one clean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10509199" cy="786384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218541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121408"/>
            <a:ext cx="6302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Invite &amp; consent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The person is invited, logs in, and gives purpose-specific consent — before anything is collected.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7167" y="2011680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30">
                <a:solidFill>
                  <a:srgbClr val="6F667F"/>
                </a:solidFill>
                <a:latin typeface="Consolas"/>
              </a:rPr>
              <a:t>consent-before-collection · purpose-bound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907792"/>
            <a:ext cx="10509199" cy="786384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30815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3017520"/>
            <a:ext cx="6302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Government verification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Identity is proven against an authorised source. Only minimal verified claims are kept — never the raw record or photo.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7167" y="2907792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30">
                <a:solidFill>
                  <a:srgbClr val="6F667F"/>
                </a:solidFill>
                <a:latin typeface="Consolas"/>
              </a:rPr>
              <a:t>provider-agnostic KYC · data minimisation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803904"/>
            <a:ext cx="10509199" cy="786384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97764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913632"/>
            <a:ext cx="6302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Encrypted face credential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 fresh live capture becomes a template, encrypted with a per-tenant key and bound to that person, purpose and org.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7" y="3803904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30">
                <a:solidFill>
                  <a:srgbClr val="6F667F"/>
                </a:solidFill>
                <a:latin typeface="Consolas"/>
              </a:rPr>
              <a:t>AES-256-GCM · per-tenant KMS keys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700016"/>
            <a:ext cx="10509199" cy="786384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48737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4809744"/>
            <a:ext cx="6302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Walk-up entry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At the gate the person shows their face. BioCore matches, checks liveness and policy, and allows or denies.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7167" y="4700016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30">
                <a:solidFill>
                  <a:srgbClr val="6F667F"/>
                </a:solidFill>
                <a:latin typeface="Consolas"/>
              </a:rPr>
              <a:t>1:1 &amp; 1:N · liveness · authorization plane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5596128"/>
            <a:ext cx="10509199" cy="786384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24128" y="576986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5705856"/>
            <a:ext cx="630295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Lifecycle &amp; erasure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Credentials expire on policy, revoke instantly, and erase on request with a verifiable certificate. Everything is audited.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7167" y="559612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30">
                <a:solidFill>
                  <a:srgbClr val="6F667F"/>
                </a:solidFill>
                <a:latin typeface="Consolas"/>
              </a:rPr>
              <a:t>retention · revocation · proof-of-erasure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05  / 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Nine things competitors can't easily copy.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331720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IDENTITY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Government-verified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Know WHO enters — real KYC behind every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1370" y="2148840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538" y="2331720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PRIVACY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DPDP by design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Consent, minimisation, retention, erasure — enforced in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2148840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2660" y="2331720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CRYPTO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Encrypted templates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Per-tenant keys; each template bound so it can't be copied.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617976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800856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ISOLATION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True multi-tenancy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Row-level security + per-tenant keys — one org invisible to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1370" y="3617976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538" y="3800856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POLICY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Match ≠ access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 policy plane decides entry, so a photo alone never opens a door.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1492" y="3617976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3800856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OPEN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No lock-in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Face engine, KMS, KYC and connectors all swappable by config.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5087112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5269992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RESILIENCE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Works offline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Encrypted device-bound roster keeps gates running with no network.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1370" y="5087112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2538" y="5269992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TRUST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Hardened terminals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Paired, certified, signed &amp; replay-proof, remotely revocable.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1492" y="5087112"/>
            <a:ext cx="3368954" cy="1267968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2660" y="5269992"/>
            <a:ext cx="2966618" cy="902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PEOPLE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Person-centric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Individuals own their identity and control it from their 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06  /  PRIVACY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Built to pass the audit, not just the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502599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Consent before collection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Purpose-specific consent recorded and receipted before any face is taken.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Data minimisation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Government photos used transiently, never stored — only allow-listed claims remain.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C4AEFF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Retention &amp; auto-expiry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Per-category retention drives expiry; lifecycle triggers sweep data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2103120"/>
            <a:ext cx="5025999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Right to erasure — verifiable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Erase zeroises the credential and issues a signed certificate of deletion.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Full audit trail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Every access, decrypt and decision is logged immutably.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100">
                <a:solidFill>
                  <a:srgbClr val="FF6675"/>
                </a:solidFill>
                <a:latin typeface="Segoe UI"/>
              </a:rPr>
              <a:t>●  </a:t>
            </a:r>
            <a:r>
              <a:rPr sz="1450" b="1">
                <a:solidFill>
                  <a:srgbClr val="F5F2FB"/>
                </a:solidFill>
                <a:latin typeface="Segoe UI"/>
              </a:rPr>
              <a:t>Separation of duties</a:t>
            </a: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sz="1150">
                <a:solidFill>
                  <a:srgbClr val="A79FBC"/>
                </a:solidFill>
                <a:latin typeface="Segoe UI"/>
              </a:rPr>
              <a:t>     Roles are split; support staff can never decrypt or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212080"/>
            <a:ext cx="1492288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37D6A0"/>
                </a:solidFill>
                <a:latin typeface="Consolas"/>
              </a:rPr>
              <a:t>DPDP Act (India)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3264" y="5212080"/>
            <a:ext cx="1155792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37D6A0"/>
                </a:solidFill>
                <a:latin typeface="Consolas"/>
              </a:rPr>
              <a:t>GDPR-aligned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8784" y="5212080"/>
            <a:ext cx="1492288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Consent receipts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0800" y="5212080"/>
            <a:ext cx="1492288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Proof-of-erasure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12816" y="5212080"/>
            <a:ext cx="1408164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Immutable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30708" y="5212080"/>
            <a:ext cx="1324040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Data residency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07  / 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Defence in depth, from the template to the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48840"/>
            <a:ext cx="5154015" cy="200253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331720"/>
            <a:ext cx="475167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AT REST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Envelope encryption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AES-256-GCM data keys wrapped by per-tenant KMS/HSM keys. Templates are context-bound — copy one to another tenant and it won't decrypt.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1" y="2148840"/>
            <a:ext cx="5154015" cy="200253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7599" y="2331720"/>
            <a:ext cx="475167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KEY CUSTODY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Only services decrypt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 pluggable KMS holds keys out of the database. Software keys are dev-only and hard-blocked in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352544"/>
            <a:ext cx="5154015" cy="200253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4535424"/>
            <a:ext cx="475167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AT THE EDGE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Trusted terminals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Devices paired, certified, revocable; every gate request signed, timestamped and nonce-protected against replay.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4352544"/>
            <a:ext cx="5154015" cy="200253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7599" y="4535424"/>
            <a:ext cx="4751679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ASSURANCE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Tested like it matters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Spoof programs (print, replay, mask, injection) and a security suite (isolation, template-copy, replay, erasure) run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08  /  WHERE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One platform, every place people gather.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9FBC"/>
                </a:solidFill>
                <a:latin typeface="Segoe UI"/>
              </a:rPr>
              <a:t>The same verified-identity core adapts to each vertical's workflow and compliance shape.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51460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1576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Events &amp; ticketing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Fraud-proof, queue-free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4267" y="251460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7147" y="271576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Schools &amp; colleges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Student entry + guardian pickup.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251460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271576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Workplaces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Attendance &amp; access in one tap.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0307" y="251460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187" y="271576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Factories &amp; sites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Workforce &amp; contractor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84048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4164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Hotels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Contactless guest check-in.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4267" y="384048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7147" y="404164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Gyms &amp; clubs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Membership-linked entry.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84048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404164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Healthcare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Controlled sensitive zones.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307" y="3840480"/>
            <a:ext cx="2490139" cy="11430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187" y="4041648"/>
            <a:ext cx="212437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5F2FB"/>
                </a:solidFill>
                <a:latin typeface="Segoe UI"/>
              </a:rPr>
              <a:t>Communities &amp; gov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79FBC"/>
                </a:solidFill>
                <a:latin typeface="Segoe UI"/>
              </a:rPr>
              <a:t>Gated residences &amp; facilities.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09  / 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Five surfaces, one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2194560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FOR PEOPLE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Person app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Self-service verify, manage consent, see every place you belong to — from your phone.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1370" y="2011680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538" y="2194560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FOR OPERATORS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Enrollment console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Assisted verify: consent -&gt; ID check -&gt; face -&gt; encrypted credential.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81492" y="2011680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2660" y="2194560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FOR GUARDS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Gate terminal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Sign in, pick a gate, check people in and out by face — with a manual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283964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466844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FOR ADMINS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Control portal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People, gates, devices, retention, roles, monitoring and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1370" y="4283964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2538" y="4466844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DEPLOYMENT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Runs where you need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Secure SaaS, your own cloud, on-prem, or a confidential-computing enclave.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1492" y="4283964"/>
            <a:ext cx="3368954" cy="2071116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4466844"/>
            <a:ext cx="2966618" cy="1705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INTEGRATIONS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Fits your stack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Ticketing, SIS/ERP, HRMS, PMS, visitor systems, door controllers,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10  /  BUSINESS &amp;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Recurring revenue that scales with every gate.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011680"/>
          <a:ext cx="1050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937760"/>
                <a:gridCol w="2553920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F667F"/>
                          </a:solidFill>
                          <a:latin typeface="Consolas"/>
                        </a:rPr>
                        <a:t>Model</a:t>
                      </a:r>
                    </a:p>
                  </a:txBody>
                  <a:tcPr marL="128016" marT="73152" marB="73152" anchor="ctr">
                    <a:solidFill>
                      <a:srgbClr val="1F17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F667F"/>
                          </a:solidFill>
                          <a:latin typeface="Consolas"/>
                        </a:rPr>
                        <a:t>How it's priced</a:t>
                      </a:r>
                    </a:p>
                  </a:txBody>
                  <a:tcPr marL="128016" marT="73152" marB="73152" anchor="ctr">
                    <a:solidFill>
                      <a:srgbClr val="1F17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6F667F"/>
                          </a:solidFill>
                          <a:latin typeface="Consolas"/>
                        </a:rPr>
                        <a:t>Best for</a:t>
                      </a:r>
                    </a:p>
                  </a:txBody>
                  <a:tcPr marL="128016" marT="73152" marB="73152" anchor="ctr">
                    <a:solidFill>
                      <a:srgbClr val="1F173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2FB"/>
                          </a:solidFill>
                          <a:latin typeface="Segoe UI"/>
                        </a:rPr>
                        <a:t>SaaS subscription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Per active gate + per verified person / month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Schools, workplaces, gyms, hotels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2FB"/>
                          </a:solidFill>
                          <a:latin typeface="Segoe UI"/>
                        </a:rPr>
                        <a:t>Per-verification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Metered identity checks (KYC pass-through + margin)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Events, high-volume onboarding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5F2FB"/>
                          </a:solidFill>
                          <a:latin typeface="Segoe UI"/>
                        </a:rPr>
                        <a:t>Enterprise licence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On-prem / private-cloud annual licence + support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A79FBC"/>
                          </a:solidFill>
                          <a:latin typeface="Segoe UI"/>
                        </a:rPr>
                        <a:t>Government, factories, regulated sites</a:t>
                      </a:r>
                    </a:p>
                  </a:txBody>
                  <a:tcPr marL="128016" marT="73152" marB="73152" anchor="ctr">
                    <a:solidFill>
                      <a:srgbClr val="18112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" y="4297680"/>
            <a:ext cx="5144871" cy="18288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4480560"/>
            <a:ext cx="47425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LAND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Events &amp; campuses first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Sharp pain (fraud, queues, pickup safety) and fast ROI make these the wedge. India-first, riding the DPDP mandate.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5575" y="4297680"/>
            <a:ext cx="5144871" cy="182880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6743" y="4480560"/>
            <a:ext cx="47425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spc="200">
                <a:solidFill>
                  <a:srgbClr val="C4AEFF"/>
                </a:solidFill>
                <a:latin typeface="Consolas"/>
              </a:rPr>
              <a:t>EXPAND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2FB"/>
                </a:solidFill>
                <a:latin typeface="Segoe UI"/>
              </a:rPr>
              <a:t>Then the workplace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Land one site, expand to attendance and multi-gate, then across the customer's estate — and internationally on the same privacy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11  / 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5F2FB"/>
                </a:solidFill>
                <a:latin typeface="Segoe UI"/>
              </a:rPr>
              <a:t>Built, tested, and proven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A79FBC"/>
                </a:solidFill>
                <a:latin typeface="Segoe UI"/>
              </a:rPr>
              <a:t>Not a concept — the platform runs. Real government KYC verified live; real face matching demonstrated through the full encrypted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34640"/>
            <a:ext cx="2476423" cy="16916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054096"/>
            <a:ext cx="211066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6675"/>
                </a:solidFill>
                <a:latin typeface="Segoe UI"/>
              </a:rPr>
              <a:t>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Product surfaces live — person, operator, guard, admin, kiosk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8839" y="2834640"/>
            <a:ext cx="2476423" cy="16916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1719" y="3054096"/>
            <a:ext cx="211066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C4AEFF"/>
                </a:solidFill>
                <a:latin typeface="Segoe UI"/>
              </a:rPr>
              <a:t>100%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Privacy lifecycle built — consent, retention, erasure certificates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2834640"/>
            <a:ext cx="2476423" cy="16916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9311" y="3054096"/>
            <a:ext cx="211066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6675"/>
                </a:solidFill>
                <a:latin typeface="Segoe UI"/>
              </a:rPr>
              <a:t>Live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Government KYC (PAN) verified against a real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4023" y="2834640"/>
            <a:ext cx="2476423" cy="1691640"/>
          </a:xfrm>
          <a:prstGeom prst="roundRect">
            <a:avLst>
              <a:gd name="adj" fmla="val 5500"/>
            </a:avLst>
          </a:prstGeom>
          <a:solidFill>
            <a:srgbClr val="181123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6903" y="3054096"/>
            <a:ext cx="211066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C4AEFF"/>
                </a:solidFill>
                <a:latin typeface="Segoe UI"/>
              </a:rPr>
              <a:t>Pilot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A79FBC"/>
                </a:solidFill>
                <a:latin typeface="Segoe UI"/>
              </a:rPr>
              <a:t>Ready — deployable to a first customer site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84632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79FBC"/>
                </a:solidFill>
                <a:latin typeface="Segoe UI"/>
              </a:rPr>
              <a:t>What's left before scale is integration, not invention: plug in the production face engine, a managed KMS/HSM, and production KYC — each already behind a config switch, blocked from running on stand-ins in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80">
                <a:solidFill>
                  <a:srgbClr val="FF6675"/>
                </a:solidFill>
                <a:latin typeface="Consolas"/>
              </a:rPr>
              <a:t>12  /  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11680"/>
            <a:ext cx="1050919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5F2FB"/>
                </a:solidFill>
                <a:latin typeface="Segoe UI"/>
              </a:rPr>
              <a:t>The identity layer for the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5F2FB"/>
                </a:solidFill>
                <a:latin typeface="Segoe UI"/>
              </a:rPr>
              <a:t>physical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8167" y="3977639"/>
            <a:ext cx="8595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A79FBC"/>
                </a:solidFill>
                <a:latin typeface="Segoe UI"/>
              </a:rPr>
              <a:t>Every door, gate and turnstile is becoming a place where identity is checked. BioCore makes that check trustworthy for the organisation and respectful of the person — exactly as regulation makes it mandatory. Let's put it on your gates.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69767" y="5349240"/>
            <a:ext cx="1576412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Verified 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55907" y="5349240"/>
            <a:ext cx="1239916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37D6A0"/>
                </a:solidFill>
                <a:latin typeface="Consolas"/>
              </a:rPr>
              <a:t>Privacy-first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5551" y="5349240"/>
            <a:ext cx="987544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Face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2823" y="5349240"/>
            <a:ext cx="1155792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Any vertical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8343" y="5349240"/>
            <a:ext cx="1324040" cy="329184"/>
          </a:xfrm>
          <a:prstGeom prst="roundRect">
            <a:avLst>
              <a:gd name="adj" fmla="val 50000"/>
            </a:avLst>
          </a:prstGeom>
          <a:solidFill>
            <a:srgbClr val="1F1730"/>
          </a:solidFill>
          <a:ln w="12700">
            <a:solidFill>
              <a:srgbClr val="2B2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40">
                <a:solidFill>
                  <a:srgbClr val="C4AEFF"/>
                </a:solidFill>
                <a:latin typeface="Consolas"/>
              </a:rPr>
              <a:t>Any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