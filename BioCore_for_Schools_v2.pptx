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A PLAIN-ENGLISH GUIDE  |  FOR SCHOOLS &amp; COLLEGES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0424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5200" b="0" i="0">
                <a:solidFill>
                  <a:srgbClr val="221C36"/>
                </a:solidFill>
                <a:latin typeface="Segoe UI Light"/>
              </a:rPr>
              <a:t>800 children.</a:t>
            </a:r>
          </a:p>
          <a:p>
            <a:pPr algn="l">
              <a:lnSpc>
                <a:spcPct val="106000"/>
              </a:lnSpc>
            </a:pPr>
            <a:r>
              <a:rPr sz="5200" b="0" i="0">
                <a:solidFill>
                  <a:srgbClr val="221C36"/>
                </a:solidFill>
                <a:latin typeface="Segoe UI Light"/>
              </a:rPr>
              <a:t>Fifteen minutes.</a:t>
            </a:r>
          </a:p>
          <a:p>
            <a:pPr algn="l">
              <a:lnSpc>
                <a:spcPct val="106000"/>
              </a:lnSpc>
            </a:pPr>
            <a:r>
              <a:rPr sz="5200" b="0" i="0">
                <a:solidFill>
                  <a:srgbClr val="221C36"/>
                </a:solidFill>
                <a:latin typeface="Segoe UI Light"/>
              </a:rPr>
              <a:t>No queue.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1264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658368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700" b="0" i="0">
                <a:solidFill>
                  <a:srgbClr val="4A4265"/>
                </a:solidFill>
                <a:latin typeface="Segoe UI"/>
              </a:rPr>
              <a:t>Attendance taken as they walk through the gate. Parents told when a child does not</a:t>
            </a:r>
          </a:p>
          <a:p>
            <a:pPr algn="l">
              <a:lnSpc>
                <a:spcPct val="136000"/>
              </a:lnSpc>
            </a:pPr>
            <a:r>
              <a:rPr sz="1700" b="0" i="0">
                <a:solidFill>
                  <a:srgbClr val="4A4265"/>
                </a:solidFill>
                <a:latin typeface="Segoe UI"/>
              </a:rPr>
              <a:t>arrive. And at 3pm, proof that the right adult collected the right child.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0" y="2194560"/>
            <a:ext cx="5852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12271248" y="257860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2426696" y="2734056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2632436" y="2807208"/>
            <a:ext cx="27432" cy="1645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6" name="Connector 15"/>
          <p:cNvCxnSpPr/>
          <p:nvPr/>
        </p:nvCxnSpPr>
        <p:spPr>
          <a:xfrm>
            <a:off x="12646152" y="2962656"/>
            <a:ext cx="128016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304520" y="2651760"/>
            <a:ext cx="4206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221C36"/>
                </a:solidFill>
                <a:latin typeface="Segoe UI"/>
              </a:rPr>
              <a:t>Arrival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04520" y="3090672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Marked present without stopping.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0" y="4526279"/>
            <a:ext cx="5852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12271248" y="4910327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12481560" y="5084064"/>
            <a:ext cx="329184" cy="310896"/>
          </a:xfrm>
          <a:prstGeom prst="roundRect">
            <a:avLst>
              <a:gd name="adj" fmla="val 4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2" name="Connector 21"/>
          <p:cNvCxnSpPr/>
          <p:nvPr/>
        </p:nvCxnSpPr>
        <p:spPr>
          <a:xfrm>
            <a:off x="12426696" y="5394959"/>
            <a:ext cx="438912" cy="0"/>
          </a:xfrm>
          <a:prstGeom prst="line">
            <a:avLst/>
          </a:prstGeom>
          <a:ln w="2032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304520" y="4983479"/>
            <a:ext cx="4206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221C36"/>
                </a:solidFill>
                <a:latin typeface="Segoe UI"/>
              </a:rPr>
              <a:t>Absence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04520" y="5422392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parent hears before first period.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0" y="6858000"/>
            <a:ext cx="5852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271248" y="724204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444984" y="743407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2664440" y="743407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9" name="Connector 28"/>
          <p:cNvCxnSpPr/>
          <p:nvPr/>
        </p:nvCxnSpPr>
        <p:spPr>
          <a:xfrm>
            <a:off x="12426696" y="7744968"/>
            <a:ext cx="438912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3304520" y="7315200"/>
            <a:ext cx="4206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221C36"/>
                </a:solidFill>
                <a:latin typeface="Segoe UI"/>
              </a:rPr>
              <a:t>Pickup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304520" y="7754112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Only the listed guardian collects.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THE MORNING YOU HAVE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Roll call eats the first lesson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8620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Every class loses eight to ten minutes a day to a register. Across thirty sections that is four hours of teaching, gone, every single day — and the register still cannot tell you who is inside the building right now.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088136" y="6528816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293876" y="6601968"/>
            <a:ext cx="27432" cy="164592"/>
          </a:xfrm>
          <a:prstGeom prst="rect">
            <a:avLst/>
          </a:prstGeom>
          <a:solidFill>
            <a:srgbClr val="C80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6" name="Connector 15"/>
          <p:cNvCxnSpPr/>
          <p:nvPr/>
        </p:nvCxnSpPr>
        <p:spPr>
          <a:xfrm>
            <a:off x="1307592" y="6757416"/>
            <a:ext cx="128015" cy="0"/>
          </a:xfrm>
          <a:prstGeom prst="line">
            <a:avLst/>
          </a:prstGeom>
          <a:ln w="2286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3268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gate crush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Eight hundred children arrive inside a fifteen-minute window. Any system that stops each child individually simply creates a queue down the road.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8556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76960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961632" y="6528816"/>
            <a:ext cx="365760" cy="438912"/>
          </a:xfrm>
          <a:prstGeom prst="roundRect">
            <a:avLst>
              <a:gd name="adj" fmla="val 8000"/>
            </a:avLst>
          </a:prstGeom>
          <a:noFill/>
          <a:ln w="2032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2" name="Connector 21"/>
          <p:cNvCxnSpPr/>
          <p:nvPr/>
        </p:nvCxnSpPr>
        <p:spPr>
          <a:xfrm>
            <a:off x="7034784" y="6675120"/>
            <a:ext cx="219456" cy="0"/>
          </a:xfrm>
          <a:prstGeom prst="line">
            <a:avLst/>
          </a:prstGeom>
          <a:ln w="1778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034784" y="6766559"/>
            <a:ext cx="219456" cy="0"/>
          </a:xfrm>
          <a:prstGeom prst="line">
            <a:avLst/>
          </a:prstGeom>
          <a:ln w="1778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76960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Proxy attendance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960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In colleges especially, a friend answers for an absent student. The register records a lie and nobody can check it afterwards.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22248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60652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2780264" y="656539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12999720" y="656539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0" name="Connector 29"/>
          <p:cNvCxnSpPr/>
          <p:nvPr/>
        </p:nvCxnSpPr>
        <p:spPr>
          <a:xfrm>
            <a:off x="12761976" y="6876288"/>
            <a:ext cx="438912" cy="0"/>
          </a:xfrm>
          <a:prstGeom prst="line">
            <a:avLst/>
          </a:prstGeom>
          <a:ln w="2286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260652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3pm question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60652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stranger says he is the uncle. The guard has a photocopied list and thirty seconds to decide. This is the risk that actually frightens a principal.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WHAT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The gate stays open. The register fills itself.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For a school this is attendance and safeguarding — not security. Nobody is stopped at the gate. The camera simply notices who came 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106424" y="6547104"/>
            <a:ext cx="402336" cy="402336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1216151" y="6766559"/>
            <a:ext cx="182880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268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Nobody is stopped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Children walk through at their own pace, in groups, as they always have. No turnstile, no card, no queue.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556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76960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961632" y="6528816"/>
            <a:ext cx="365760" cy="438912"/>
          </a:xfrm>
          <a:prstGeom prst="roundRect">
            <a:avLst>
              <a:gd name="adj" fmla="val 8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1" name="Connector 20"/>
          <p:cNvCxnSpPr/>
          <p:nvPr/>
        </p:nvCxnSpPr>
        <p:spPr>
          <a:xfrm>
            <a:off x="7034784" y="6675120"/>
            <a:ext cx="219456" cy="0"/>
          </a:xfrm>
          <a:prstGeom prst="line">
            <a:avLst/>
          </a:prstGeom>
          <a:ln w="1778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034784" y="6766559"/>
            <a:ext cx="219456" cy="0"/>
          </a:xfrm>
          <a:prstGeom prst="line">
            <a:avLst/>
          </a:prstGeom>
          <a:ln w="1778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6960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register is done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960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By the time the bell rings, every class list is complete and the teacher has not written a thing.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22248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60652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816840" y="6547104"/>
            <a:ext cx="329184" cy="310896"/>
          </a:xfrm>
          <a:prstGeom prst="roundRect">
            <a:avLst>
              <a:gd name="adj" fmla="val 4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8" name="Connector 27"/>
          <p:cNvCxnSpPr/>
          <p:nvPr/>
        </p:nvCxnSpPr>
        <p:spPr>
          <a:xfrm>
            <a:off x="12761976" y="6858000"/>
            <a:ext cx="438912" cy="0"/>
          </a:xfrm>
          <a:prstGeom prst="line">
            <a:avLst/>
          </a:prstGeom>
          <a:ln w="2032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260652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Absence is noticed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0652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child who has not arrived by the cut-off becomes a message to a parent, automatically.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WHAT YOU INSTALL AT THE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A tablet, a camera you own, or the gate you have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Most schools begin with one tablet at the main gate. Nothing is drilled, and nothing at the gate itself has to change.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669280"/>
            <a:ext cx="551688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05332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161288" y="6208776"/>
            <a:ext cx="292608" cy="43891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1252728" y="6565392"/>
            <a:ext cx="109727" cy="0"/>
          </a:xfrm>
          <a:prstGeom prst="line">
            <a:avLst/>
          </a:prstGeom>
          <a:ln w="2032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2688" y="6922008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 tablet on a stand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7388352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cheapest way to start. An ordinary tablet on a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floor stand or wall mount, facing the door. No civil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work, no wiring, nothing drilled.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5560" y="5669280"/>
            <a:ext cx="551688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769608" y="605332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925056" y="6300216"/>
            <a:ext cx="365760" cy="274320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089648" y="63825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769608" y="6922008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CCTV you already have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9608" y="7388352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Most schools already have cameras covering the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gate. Where the angle and the light are good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enough, we read that feed and add nothing at all.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222480" y="5669280"/>
            <a:ext cx="551688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12606528" y="605332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780264" y="6227064"/>
            <a:ext cx="73152" cy="402336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3109448" y="6227064"/>
            <a:ext cx="73152" cy="402336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8" name="Connector 27"/>
          <p:cNvCxnSpPr/>
          <p:nvPr/>
        </p:nvCxnSpPr>
        <p:spPr>
          <a:xfrm>
            <a:off x="12889992" y="6428232"/>
            <a:ext cx="182880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2606528" y="6922008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gate you already 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06528" y="7388352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Keep the boom barrier, sliding gate or door you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have. Add a camera and a small screen; the software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opens what is already there.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8915400"/>
            <a:ext cx="1719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6D28D9"/>
                </a:solidFill>
                <a:latin typeface="Segoe UI"/>
              </a:rPr>
              <a:t>A turnstile or flap barrier is available for controlled college, hostel and lab areas — at a school gate it only creates the queue you are removing.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8412480"/>
            <a:ext cx="47457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D28D9"/>
                </a:solidFill>
                <a:latin typeface="Segoe UI"/>
              </a:rPr>
              <a:t>Best for: reception, a side door, a small gate.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8412480"/>
            <a:ext cx="47457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D28D9"/>
                </a:solidFill>
                <a:latin typeface="Segoe UI"/>
              </a:rPr>
              <a:t>Best for: a gate that is already covered.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09576" y="8412480"/>
            <a:ext cx="47457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D28D9"/>
                </a:solidFill>
                <a:latin typeface="Segoe UI"/>
              </a:rPr>
              <a:t>Best for: a working gate that should be smarter.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A REAL SCHOOL DAY  —  MORNING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07:30 to 09:00, as it actually happens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A 900-pupil school, one main gate and one bus bay.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07:38  —  BUS BAY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Boarding is logged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Children are marked on and off the bus, so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school knows who actually travelled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and who was dropped.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2632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29209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07:44  —  MAIN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209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They walk straight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209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Groups of friends walk through together.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Nothing stops them. Attendance is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recorded as they pass.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401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6978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08:05  —  CLASSROOM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978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register is already full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978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class teacher sees a completed list and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only has to confirm the two exceptions.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68170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4047469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08:30  —  OFFICE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47469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Parents are told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47469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Aarav has not arrived. His mother gets a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message before the first lesson ends.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8933688"/>
            <a:ext cx="1719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6D28D9"/>
                </a:solidFill>
                <a:latin typeface="Segoe UI"/>
              </a:rPr>
              <a:t>Nobody was refused entry at any point in this sequence.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A REAL SCHOOL DAY  —  AFTERNOON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The part that makes a principal sign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Dismissal is the moment with real consequences — and the moment paper handles worst.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15:20  —  THE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right adult collects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guard's screen shows the child's photo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and who is authorised to collect. An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unlisted adult is held, not turned away.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2632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29209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15:35  —  A CHANGE OF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209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 one-off is authorised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209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office adds an aunt for today only.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guard sees her the moment she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arrives, and nothing is taken on trust.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401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6978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16:00  —  LATE STAY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978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Who is still on campus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978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Clubs, coaching, detention — a live list of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every child still inside after hours.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68170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4047469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ANY TIME  —  A DRILL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47469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 headcount in seconds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47469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Fire or earthquake: who is still in the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building, as a list, not a guess.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BEYOND THE FRONT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The same cameras, four more problems solved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Once identity works at the gate, it works anywhere on campus you point a camera.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EXAM HALLS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right candidate sits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Impersonation in competitive exams is a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real and expensive problem. Verify the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candidate at the hall door.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2632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29209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HOSTELS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209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Night curfew, honestly recorded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209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In and out times that a warden does not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have to write down, and a resident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cannot argue with.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401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6978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LABS &amp; WORKSHOPS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978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Controlled where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978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Chemistry stores, machine rooms and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server rooms can be gated even while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campus stays open.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68170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4047469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STAFF ATTENDANCE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47469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Teachers too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47469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same gate covers teaching and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support staff, and feeds payroll without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separate machine.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YOU CHOOSE HOW STRICT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It does not have to stop anybody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9476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14630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Most people assume a face system exists to refuse people. It does not have to.</a:t>
            </a:r>
          </a:p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The same cameras run either way — and one door can be open while another is controlled.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623560"/>
            <a:ext cx="8412480" cy="3429000"/>
          </a:xfrm>
          <a:prstGeom prst="roundRect">
            <a:avLst>
              <a:gd name="adj" fmla="val 5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05840" y="6035040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spc="160">
                <a:solidFill>
                  <a:srgbClr val="4C1D95"/>
                </a:solidFill>
                <a:latin typeface="Consolas"/>
              </a:rPr>
              <a:t>OPEN MODE  —  NOBODY IS STOPPED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6492240"/>
            <a:ext cx="74980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4C1D95"/>
                </a:solidFill>
                <a:latin typeface="Segoe UI"/>
              </a:rPr>
              <a:t>The gate never says no.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7342631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25880" y="7269480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C1D95"/>
                </a:solidFill>
                <a:latin typeface="Segoe UI"/>
              </a:rPr>
              <a:t>Every child walks through, always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77266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25880" y="7653528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C1D95"/>
                </a:solidFill>
                <a:latin typeface="Segoe UI"/>
              </a:rPr>
              <a:t>Attendance and a live headcount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81107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325880" y="8037576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C1D95"/>
                </a:solidFill>
                <a:latin typeface="Segoe UI"/>
              </a:rPr>
              <a:t>Alerts only where you ask for them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5623560"/>
            <a:ext cx="8412480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784080" y="6035040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spc="160">
                <a:solidFill>
                  <a:srgbClr val="6B6480"/>
                </a:solidFill>
                <a:latin typeface="Consolas"/>
              </a:rPr>
              <a:t>CONTROLLED MODE  —  THE DOOR DECIDES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6492240"/>
            <a:ext cx="74980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221C36"/>
                </a:solidFill>
                <a:latin typeface="Segoe UI"/>
              </a:rPr>
              <a:t>Only the right people pass.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7342631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104120" y="7269480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Hostels, labs, exam halls, stores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77266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104120" y="7653528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Rules by zone, role and time of day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81107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104120" y="8037576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guard can always override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THE ONE RULE THAT GOVERNS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7190720" cy="4206240"/>
          </a:xfrm>
          <a:prstGeom prst="roundRect">
            <a:avLst>
              <a:gd name="adj" fmla="val 3500"/>
            </a:avLst>
          </a:prstGeom>
          <a:solidFill>
            <a:srgbClr val="22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71600" y="2286000"/>
            <a:ext cx="1554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 spc="200">
                <a:solidFill>
                  <a:srgbClr val="9C93BA"/>
                </a:solidFill>
                <a:latin typeface="Consolas"/>
              </a:rPr>
              <a:t>THE PROMISE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834640"/>
            <a:ext cx="15544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5400" b="0" i="0">
                <a:solidFill>
                  <a:srgbClr val="FFFFFF"/>
                </a:solidFill>
                <a:latin typeface="Segoe UI Light"/>
              </a:rPr>
              <a:t>We never keep the photograph.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800600"/>
            <a:ext cx="12801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650" b="0" i="0">
                <a:solidFill>
                  <a:srgbClr val="C6BEE2"/>
                </a:solidFill>
                <a:latin typeface="Segoe UI"/>
              </a:rPr>
              <a:t>The camera measures the face, turns those measurements into an encrypted</a:t>
            </a:r>
          </a:p>
          <a:p>
            <a:pPr algn="ctr">
              <a:lnSpc>
                <a:spcPct val="140000"/>
              </a:lnSpc>
            </a:pPr>
            <a:r>
              <a:rPr sz="1650" b="0" i="0">
                <a:solidFill>
                  <a:srgbClr val="C6BEE2"/>
                </a:solidFill>
                <a:latin typeface="Segoe UI"/>
              </a:rPr>
              <a:t>biometric template, and discards the picture. Only the template is kept.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6492240"/>
            <a:ext cx="301752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41247" y="6812279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EF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987551" y="6958583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B6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1106423" y="7086600"/>
            <a:ext cx="54864" cy="54864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1252728" y="7086600"/>
            <a:ext cx="54864" cy="54864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8" name="Connector 17"/>
          <p:cNvCxnSpPr/>
          <p:nvPr/>
        </p:nvCxnSpPr>
        <p:spPr>
          <a:xfrm>
            <a:off x="1115567" y="7269479"/>
            <a:ext cx="182880" cy="0"/>
          </a:xfrm>
          <a:prstGeom prst="line">
            <a:avLst/>
          </a:prstGeom>
          <a:ln w="19050">
            <a:solidFill>
              <a:srgbClr val="6B6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719072" y="6931152"/>
            <a:ext cx="1737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221C36"/>
                </a:solidFill>
                <a:latin typeface="Segoe UI"/>
              </a:rPr>
              <a:t>The 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19072" y="7333488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B6480"/>
                </a:solidFill>
                <a:latin typeface="Segoe UI"/>
              </a:rPr>
              <a:t>at the camera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11880" y="7333488"/>
            <a:ext cx="868680" cy="0"/>
          </a:xfrm>
          <a:prstGeom prst="line">
            <a:avLst/>
          </a:prstGeom>
          <a:ln w="22860">
            <a:solidFill>
              <a:srgbClr val="6B6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29000" y="68762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B6480"/>
                </a:solidFill>
                <a:latin typeface="Consolas"/>
              </a:rPr>
              <a:t>measures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6492240"/>
            <a:ext cx="40233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892040" y="685800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1C36"/>
                </a:solidFill>
                <a:latin typeface="Consolas"/>
              </a:rPr>
              <a:t>a7f3  c19e  44b2  8d05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716889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1C36"/>
                </a:solidFill>
                <a:latin typeface="Consolas"/>
              </a:rPr>
              <a:t>e6b1  902c  7fd4  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75712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21C36"/>
                </a:solidFill>
                <a:latin typeface="Segoe UI"/>
              </a:rPr>
              <a:t>Encrypted biometric template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78638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6480"/>
                </a:solidFill>
                <a:latin typeface="Segoe UI"/>
              </a:rPr>
              <a:t>encrypted at rest, never an image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641080" y="7333488"/>
            <a:ext cx="868680" cy="0"/>
          </a:xfrm>
          <a:prstGeom prst="line">
            <a:avLst/>
          </a:prstGeom>
          <a:ln w="2794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458200" y="68762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D28D9"/>
                </a:solidFill>
                <a:latin typeface="Consolas"/>
              </a:rPr>
              <a:t>locked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6492240"/>
            <a:ext cx="3108960" cy="1691640"/>
          </a:xfrm>
          <a:prstGeom prst="roundRect">
            <a:avLst>
              <a:gd name="adj" fmla="val 6000"/>
            </a:avLst>
          </a:prstGeom>
          <a:solidFill>
            <a:srgbClr val="EDE7FB"/>
          </a:solidFill>
          <a:ln w="1778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9893808" y="6812279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10076688" y="7141464"/>
            <a:ext cx="365760" cy="25603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10149840" y="6976872"/>
            <a:ext cx="219456" cy="201168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771632" y="6894576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4C1D95"/>
                </a:solidFill>
                <a:latin typeface="Segoe UI"/>
              </a:rPr>
              <a:t>Vaulted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71632" y="7278624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C1D95"/>
                </a:solidFill>
                <a:latin typeface="Segoe UI"/>
              </a:rPr>
              <a:t>encrypted,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C1D95"/>
                </a:solidFill>
                <a:latin typeface="Segoe UI"/>
              </a:rPr>
              <a:t>per place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3304520" y="6400800"/>
            <a:ext cx="0" cy="1874519"/>
          </a:xfrm>
          <a:prstGeom prst="line">
            <a:avLst/>
          </a:prstGeom>
          <a:ln w="12700">
            <a:solidFill>
              <a:srgbClr val="C4BC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3944600" y="6108192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80">
                <a:solidFill>
                  <a:srgbClr val="C8011A"/>
                </a:solidFill>
                <a:latin typeface="Consolas"/>
              </a:rPr>
              <a:t>MEANWHILE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944600" y="6492240"/>
            <a:ext cx="3794760" cy="1691640"/>
          </a:xfrm>
          <a:prstGeom prst="roundRect">
            <a:avLst>
              <a:gd name="adj" fmla="val 6000"/>
            </a:avLst>
          </a:prstGeom>
          <a:solidFill>
            <a:srgbClr val="FBE7E9"/>
          </a:solidFill>
          <a:ln w="1778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4264640" y="687628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C8011A"/>
                </a:solidFill>
                <a:latin typeface="Segoe UI"/>
              </a:rPr>
              <a:t>The photograph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264640" y="7278624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250" b="0" i="0">
                <a:solidFill>
                  <a:srgbClr val="C8011A"/>
                </a:solidFill>
                <a:latin typeface="Segoe UI"/>
              </a:rPr>
              <a:t>of a child is deleted at that</a:t>
            </a:r>
          </a:p>
          <a:p>
            <a:pPr algn="l">
              <a:lnSpc>
                <a:spcPct val="134000"/>
              </a:lnSpc>
            </a:pPr>
            <a:r>
              <a:rPr sz="1250" b="0" i="0">
                <a:solidFill>
                  <a:srgbClr val="C8011A"/>
                </a:solidFill>
                <a:latin typeface="Segoe UI"/>
              </a:rPr>
              <a:t>same moment — never saved.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CHILDREN, CONSENT AND THE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A child's face needs a parent's permission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Designed around the DPDP requirements for children's personal data. The Rules were notified in November 2025 with phased commencement, so treat this as the design we build to — not a claim that one slide makes a deployment compliant.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106424" y="6547104"/>
            <a:ext cx="402336" cy="402336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1216151" y="6766559"/>
            <a:ext cx="182880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268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parent consents, not the child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Enrolment requires a verifiable parental consent,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recorded and timestamped — not a line in a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prospectus nobody read.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556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76960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943344" y="656539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162800" y="656539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2" name="Connector 21"/>
          <p:cNvCxnSpPr/>
          <p:nvPr/>
        </p:nvCxnSpPr>
        <p:spPr>
          <a:xfrm>
            <a:off x="6925056" y="6876288"/>
            <a:ext cx="438911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6960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Consent can be taken 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960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parent withdraws and the template is deleted.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Families who decline are never enrolled, and a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non-biometric register runs alongside.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22248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60652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798552" y="6711696"/>
            <a:ext cx="365760" cy="25603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2871704" y="6547104"/>
            <a:ext cx="219456" cy="201168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260652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No tracking of children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0652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Arrival and departure only — the same events a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paper register holds. No movement history, no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behaviour profile, no stored video.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8942832"/>
            <a:ext cx="171907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spc="60">
                <a:solidFill>
                  <a:srgbClr val="4C1D95"/>
                </a:solidFill>
                <a:latin typeface="Consolas"/>
              </a:rPr>
              <a:t>Verifiable parental consent   ·   Purpose-limited processing   ·   Consent withdrawal   ·   Non-biometric alternative   ·   No behavioural tracking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WHAT EACH SIDE 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One camera, three different wins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9476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48640" y="42976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4709160"/>
            <a:ext cx="4663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40">
                <a:solidFill>
                  <a:srgbClr val="6D28D9"/>
                </a:solidFill>
                <a:latin typeface="Consolas"/>
              </a:rPr>
              <a:t>FOR THE STUDENT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1206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221C36"/>
                </a:solidFill>
                <a:latin typeface="Segoe UI"/>
              </a:rPr>
              <a:t>Priya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0120" y="5806440"/>
            <a:ext cx="4663439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0120" y="61173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25880" y="6035040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Walks in without a card or a queue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686714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25880" y="6784848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Never marked absent by mistake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76169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325880" y="7534656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Nothing to lose, forget or lend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8366759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325880" y="8284463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Her photo is never stored anywhere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79" y="42976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766559" y="4709160"/>
            <a:ext cx="4663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40">
                <a:solidFill>
                  <a:srgbClr val="6D28D9"/>
                </a:solidFill>
                <a:latin typeface="Consolas"/>
              </a:rPr>
              <a:t>FOR THE TEACHER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59" y="51206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221C36"/>
                </a:solidFill>
                <a:latin typeface="Segoe UI"/>
              </a:rPr>
              <a:t>Mr Rao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66559" y="5806440"/>
            <a:ext cx="4663441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766559" y="61173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32319" y="6035040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Gets back ten minutes of every lesson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59" y="686714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132319" y="6784848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A register that is already complete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66559" y="76169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32319" y="7534656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Sees who is genuinely absent, instantly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59" y="8366759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132319" y="8284463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No machine to operate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161519" y="42976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2572999" y="4709160"/>
            <a:ext cx="4663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40">
                <a:solidFill>
                  <a:srgbClr val="6D28D9"/>
                </a:solidFill>
                <a:latin typeface="Consolas"/>
              </a:rPr>
              <a:t>FOR THE PRINCIPAL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572999" y="51206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221C36"/>
                </a:solidFill>
                <a:latin typeface="Segoe UI"/>
              </a:rPr>
              <a:t>Mrs Nair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572999" y="5806440"/>
            <a:ext cx="466344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2572999" y="61173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2938759" y="6035040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Proof of who collected which child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572999" y="686714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2938759" y="6784848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A live headcount in any emergency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572999" y="76169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2938759" y="7534656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Parent messages sent automatically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572999" y="8366759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2938759" y="8284463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A defensible answer on privacy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One door, two weeks, then decide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Nobody should buy this for a whole campus on day one. Prove it on a single entrance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405765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3550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6501384"/>
            <a:ext cx="566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6D28D9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7132320"/>
            <a:ext cx="328955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One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7635240"/>
            <a:ext cx="328955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Start at the main entrance with a single tablet. Nothing is drilled and nothing else changes.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26329" y="5989320"/>
            <a:ext cx="405765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5310377" y="63550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10377" y="6501384"/>
            <a:ext cx="566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6D28D9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0377" y="7132320"/>
            <a:ext cx="328955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One grade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0377" y="7635240"/>
            <a:ext cx="328955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Enrol one year group with parental consent. Roughly two hundred children, one afternoon.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04019" y="5989320"/>
            <a:ext cx="405765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9688067" y="63550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88067" y="6501384"/>
            <a:ext cx="566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6D28D9"/>
                </a:solidFill>
                <a:latin typeface="Consola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8067" y="7132320"/>
            <a:ext cx="328955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Run both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8067" y="7635240"/>
            <a:ext cx="328955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For two weeks the paper register runs alongside. Compare them daily.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681709" y="5989320"/>
            <a:ext cx="405765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4065757" y="63550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4065757" y="6501384"/>
            <a:ext cx="566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6D28D9"/>
                </a:solidFill>
                <a:latin typeface="Consola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065757" y="7132320"/>
            <a:ext cx="328955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Then decide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065757" y="7635240"/>
            <a:ext cx="328955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If the two match, extend. If they do not, you have lost a tablet and a fortnight.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8915400"/>
            <a:ext cx="1719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6D28D9"/>
                </a:solidFill>
                <a:latin typeface="Segoe UI"/>
              </a:rPr>
              <a:t>Ask any vendor to run a fortnight in parallel with your existing register. A confident one will agree.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IN ONE BREATH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17190720" cy="4114800"/>
          </a:xfrm>
          <a:prstGeom prst="roundRect">
            <a:avLst>
              <a:gd name="adj" fmla="val 35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71600" y="2743200"/>
            <a:ext cx="15544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800" b="0" i="0">
                <a:solidFill>
                  <a:srgbClr val="4C1D95"/>
                </a:solidFill>
                <a:latin typeface="Segoe UI Light"/>
              </a:rPr>
              <a:t>The register fills itself.</a:t>
            </a:r>
          </a:p>
          <a:p>
            <a:pPr algn="ctr">
              <a:lnSpc>
                <a:spcPct val="110000"/>
              </a:lnSpc>
            </a:pPr>
            <a:r>
              <a:rPr sz="4800" b="0" i="0">
                <a:solidFill>
                  <a:srgbClr val="4C1D95"/>
                </a:solidFill>
                <a:latin typeface="Segoe UI Light"/>
              </a:rPr>
              <a:t>The gate stays open.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120640"/>
            <a:ext cx="12801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700" b="0" i="0">
                <a:solidFill>
                  <a:srgbClr val="4C1D95"/>
                </a:solidFill>
                <a:latin typeface="Segoe UI"/>
              </a:rPr>
              <a:t>Attendance without the queue, absence alerts to parents, and proof of who collected whom.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537960"/>
            <a:ext cx="54864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60120" y="69494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221C36"/>
                </a:solidFill>
                <a:latin typeface="Segoe UI"/>
              </a:rPr>
              <a:t>What it fixes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7498079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Ten minutes of roll call per class, proxy attendance, and a pickup process that currently relies on a guard recognising faces.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79" y="6537960"/>
            <a:ext cx="54864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766559" y="69494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221C36"/>
                </a:solidFill>
                <a:latin typeface="Segoe UI"/>
              </a:rPr>
              <a:t>What it does not 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7498079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It does not stop children entering, and it does not keep a photograph of anybody's child.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161519" y="6537960"/>
            <a:ext cx="54864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572999" y="69494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221C36"/>
                </a:solidFill>
                <a:latin typeface="Segoe UI"/>
              </a:rPr>
              <a:t>How to 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72999" y="7498079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One tablet, one gate, one year group, two weeks running alongside your existing register.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